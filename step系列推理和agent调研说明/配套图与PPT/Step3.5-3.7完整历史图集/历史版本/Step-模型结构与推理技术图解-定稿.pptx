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2f2babe7f24b21" /><Relationship Type="http://schemas.openxmlformats.org/officeDocument/2006/relationships/extended-properties" Target="/docProps/app.xml" Id="R50d3f02dc1e14813" /><Relationship Type="http://schemas.openxmlformats.org/officeDocument/2006/relationships/officeDocument" Target="/ppt/presentation.xml" Id="R61b0f3bb89dd46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c77cd68b4a48e8"/>
  </p:sldMasterIdLst>
  <p:notesMasterIdLst>
    <p:notesMasterId xmlns:r="http://schemas.openxmlformats.org/officeDocument/2006/relationships" r:id="R3dffd86eafa84e5a"/>
  </p:notesMasterIdLst>
  <p:sldIdLst>
    <p:sldId xmlns:r="http://schemas.openxmlformats.org/officeDocument/2006/relationships" id="256" r:id="Rfca852c843fb4398"/>
    <p:sldId xmlns:r="http://schemas.openxmlformats.org/officeDocument/2006/relationships" id="257" r:id="R2ea32075ea7e4d84"/>
    <p:sldId xmlns:r="http://schemas.openxmlformats.org/officeDocument/2006/relationships" id="258" r:id="R39958f0c451f4aa8"/>
    <p:sldId xmlns:r="http://schemas.openxmlformats.org/officeDocument/2006/relationships" id="259" r:id="Ra0bd10972dd142c9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e271255a9b4a37" /><Relationship Type="http://schemas.openxmlformats.org/officeDocument/2006/relationships/slideMaster" Target="/ppt/slideMasters/slideMaster1.xml" Id="R3ac77cd68b4a48e8" /><Relationship Type="http://schemas.openxmlformats.org/officeDocument/2006/relationships/notesMaster" Target="/ppt/notesMasters/notesMaster1.xml" Id="R3dffd86eafa84e5a" /><Relationship Type="http://schemas.openxmlformats.org/officeDocument/2006/relationships/presProps" Target="/ppt/presProps.xml" Id="R773f61b3ed944d34" /><Relationship Type="http://schemas.openxmlformats.org/officeDocument/2006/relationships/tableStyles" Target="/ppt/tableStyles.xml" Id="R1fc7efc0393b474f" /><Relationship Type="http://schemas.openxmlformats.org/officeDocument/2006/relationships/slide" Target="/ppt/slides/slide1.xml" Id="Rfca852c843fb4398" /><Relationship Type="http://schemas.openxmlformats.org/officeDocument/2006/relationships/slide" Target="/ppt/slides/slide2.xml" Id="R2ea32075ea7e4d84" /><Relationship Type="http://schemas.openxmlformats.org/officeDocument/2006/relationships/slide" Target="/ppt/slides/slide3.xml" Id="R39958f0c451f4aa8" /><Relationship Type="http://schemas.openxmlformats.org/officeDocument/2006/relationships/slide" Target="/ppt/slides/slide4.xml" Id="Ra0bd10972dd142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0e437ce33b4a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669722e9d94d38" /><Relationship Type="http://schemas.openxmlformats.org/officeDocument/2006/relationships/notesMaster" Target="/ppt/notesMasters/notesMaster1.xml" Id="Rdebf6419dfb648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4db3268c1947b0" /><Relationship Type="http://schemas.openxmlformats.org/officeDocument/2006/relationships/notesMaster" Target="/ppt/notesMasters/notesMaster1.xml" Id="R6df0a257b7264b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410b614f2b4991" /><Relationship Type="http://schemas.openxmlformats.org/officeDocument/2006/relationships/notesMaster" Target="/ppt/notesMasters/notesMaster1.xml" Id="Rf64b03099dd147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a695f5cade48e4" /><Relationship Type="http://schemas.openxmlformats.org/officeDocument/2006/relationships/notesMaster" Target="/ppt/notesMasters/notesMaster1.xml" Id="Rbd3c2f15ad634b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资料复核2026-10-12。3.5论文196B/11B主干与含MTP198B/13B口径不同。3.7约198B来自196B语言+1.8B视觉，与3.5含MTP198B不能混用。图示主干层+生成分支简化，不表示所有层MoE或MTP是普通串行主干层。</a:t>
            </a:r>
          </a:p>
          <a:p xmlns:a="http://schemas.openxmlformats.org/drawingml/2006/main">
            <a:r>
              <a:t>https://arxiv.org/html/2602.10604v2</a:t>
            </a:r>
          </a:p>
          <a:p xmlns:a="http://schemas.openxmlformats.org/drawingml/2006/main">
            <a:r>
              <a:t>https://huggingface.co/stepfun-ai/Step-3.7-Flash/blob/main/config.json</a:t>
            </a:r>
          </a:p>
          <a:p xmlns:a="http://schemas.openxmlformats.org/drawingml/2006/main">
            <a:r>
              <a:t>https://huggingface.co/stepfun-ai/Step-3.7-Flash/blob/main/modeling_step3p7.py</a:t>
            </a:r>
          </a:p>
          <a:p xmlns:a="http://schemas.openxmlformats.org/drawingml/2006/main">
            <a:r>
              <a:t>https://platform.stepfun.ai/docs/en/guides/models/step-5-preview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截图来自此前交互可视化，保留query12、window4、gate0.25示意。原HTML不变。head输出门控后o_proj，不是输入或attention score门控。</a:t>
            </a:r>
          </a:p>
          <a:p xmlns:a="http://schemas.openxmlformats.org/drawingml/2006/main">
            <a:r>
              <a:t>https://huggingface.co/stepfun-ai/Step-3.7-Flash/blob/main/config.json</a:t>
            </a:r>
          </a:p>
          <a:p xmlns:a="http://schemas.openxmlformats.org/drawingml/2006/main">
            <a:r>
              <a:t>https://huggingface.co/stepfun-ai/Step-3.7-Flash/blob/main/modeling_step3p7.py#L686</a:t>
            </a:r>
          </a:p>
          <a:p xmlns:a="http://schemas.openxmlformats.org/drawingml/2006/main">
            <a:r>
              <a:t>https://arxiv.org/html/2602.10604v2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图中专家编号和权重是教学示例，不对应业务专家。降低激活计算不等于免除全部权重存储，EP/EPLB需另测负载与通信。</a:t>
            </a:r>
          </a:p>
          <a:p xmlns:a="http://schemas.openxmlformats.org/drawingml/2006/main">
            <a:r>
              <a:t>https://arxiv.org/html/2602.10604v2</a:t>
            </a:r>
          </a:p>
          <a:p xmlns:a="http://schemas.openxmlformats.org/drawingml/2006/main">
            <a:r>
              <a:t>https://huggingface.co/stepfun-ai/Step-3.7-Flash/blob/main/modeling_step3p7.py#L537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PaCoRe采用同一模型权重跨轮推理，多轨迹提取最终结论，丢弃中间推导后作为下一轮输入，最终单轨迹综合。Low[4]，Medium[16]，High[32,4]之后最终单条。outcome reward训练综合、冲突处理与纠错。HMMT数值来自论文，模型训练与推理配置有变化，不归因纯并发。总TTC跨轨迹累计不是单次上下文，不能按节省成本宣传。未证明Step5使用PaCoRe。</a:t>
            </a:r>
          </a:p>
          <a:p xmlns:a="http://schemas.openxmlformats.org/drawingml/2006/main">
            <a:r>
              <a:t>https://arxiv.org/html/2601.05593v1</a:t>
            </a:r>
          </a:p>
          <a:p xmlns:a="http://schemas.openxmlformats.org/drawingml/2006/main">
            <a:r>
              <a:t>https://github.com/stepfun-ai/PaCoRe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e5d55ff06d463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c4e85064ca4b0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57896d89264ae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90323f3e784aa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5c2f3a07e1409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e5c77de0b344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C923036-FDD1-4FAF-BD4C-69DBC0FBC0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EC195A0-0A2A-4DB5-95E2-8E3BE821421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91B96FF-1542-4CA8-9D3C-7547AA8728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1A260B-041F-402D-A559-D0E2BE08C1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718F295-BC28-4608-AFE3-47AC1F0B4F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018AB03-5A53-4FCF-ADAB-E24EBD587D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9AE4D99-053F-4140-8281-D0776AEE3F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2AEFCDF-D377-424A-B465-0FE11ADC636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962CB5-73C4-4417-9782-028F91217B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C5FEB69-39AE-48D5-A6AF-2CF9A6EB6E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9bdcffc92543cd" /><Relationship Type="http://schemas.openxmlformats.org/officeDocument/2006/relationships/slideLayout" Target="/ppt/slideLayouts/slideLayout1.xml" Id="R55c9852318ea46d1" /><Relationship Type="http://schemas.openxmlformats.org/officeDocument/2006/relationships/slideLayout" Target="/ppt/slideLayouts/slideLayout2.xml" Id="Ra0c3b65174a54a50" /><Relationship Type="http://schemas.openxmlformats.org/officeDocument/2006/relationships/slideLayout" Target="/ppt/slideLayouts/slideLayout3.xml" Id="R191bf78071614ab4" /><Relationship Type="http://schemas.openxmlformats.org/officeDocument/2006/relationships/slideLayout" Target="/ppt/slideLayouts/slideLayout4.xml" Id="Rd360818154814257" /><Relationship Type="http://schemas.openxmlformats.org/officeDocument/2006/relationships/slideLayout" Target="/ppt/slideLayouts/slideLayout5.xml" Id="R8e635eec23ee4d3b" /><Relationship Type="http://schemas.openxmlformats.org/officeDocument/2006/relationships/slideLayout" Target="/ppt/slideLayouts/slideLayout6.xml" Id="R395206a81fe642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c9852318ea46d1"/>
    <p:sldLayoutId xmlns:r="http://schemas.openxmlformats.org/officeDocument/2006/relationships" id="2147483650" r:id="Ra0c3b65174a54a50"/>
    <p:sldLayoutId xmlns:r="http://schemas.openxmlformats.org/officeDocument/2006/relationships" id="2147483651" r:id="R191bf78071614ab4"/>
    <p:sldLayoutId xmlns:r="http://schemas.openxmlformats.org/officeDocument/2006/relationships" id="2147483652" r:id="Rd360818154814257"/>
    <p:sldLayoutId xmlns:r="http://schemas.openxmlformats.org/officeDocument/2006/relationships" id="2147483653" r:id="R8e635eec23ee4d3b"/>
    <p:sldLayoutId xmlns:r="http://schemas.openxmlformats.org/officeDocument/2006/relationships" id="2147483654" r:id="R395206a81fe642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1c9e3179ed419d" /><Relationship Type="http://schemas.openxmlformats.org/officeDocument/2006/relationships/notesSlide" Target="/ppt/notesSlides/notesSlide1.xml" Id="Ra6136f528f9449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a4d32ef805481c" /><Relationship Type="http://schemas.openxmlformats.org/officeDocument/2006/relationships/image" Target="/ppt/media/image.png" Id="R25761ced9932410f" /><Relationship Type="http://schemas.openxmlformats.org/officeDocument/2006/relationships/image" Target="/ppt/media/image2.png" Id="R2cb54c20f4c0469b" /><Relationship Type="http://schemas.openxmlformats.org/officeDocument/2006/relationships/notesSlide" Target="/ppt/notesSlides/notesSlide2.xml" Id="Rc4a4ec7e807e44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5d492202a64752" /><Relationship Type="http://schemas.openxmlformats.org/officeDocument/2006/relationships/image" Target="/ppt/media/image3.png" Id="Re547410c96c847f0" /><Relationship Type="http://schemas.openxmlformats.org/officeDocument/2006/relationships/notesSlide" Target="/ppt/notesSlides/notesSlide3.xml" Id="R6d6d636d683d49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42416dfad84b37" /><Relationship Type="http://schemas.openxmlformats.org/officeDocument/2006/relationships/image" Target="/ppt/media/image4.png" Id="R9ff7565dcc6a4c9a" /><Relationship Type="http://schemas.openxmlformats.org/officeDocument/2006/relationships/notesSlide" Target="/ppt/notesSlides/notesSlide4.xml" Id="R4a7f2a2235c042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D90FBC-A110-4F95-99F6-BBD2D36DC406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12020550" y="38100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67A0"/>
            </a:solidFill>
            <a:tail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148EC5-B687-47C6-A66E-92CDC43536D0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067800" y="38100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67A0"/>
            </a:solidFill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91374F-A525-4EB1-9CD2-866CA9A8725B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115050" y="38100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67A0"/>
            </a:solidFill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88683D-1319-4572-AEED-D103DF8DB44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62300" y="38100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67A0"/>
            </a:solidFill>
            <a:tailEnd type="arrow" w="med" len="med"/>
          </a:ln>
        </p:spPr>
      </p:cxnSp>
      <p:sp>
        <p:nvSpPr>
          <p:cNvPr id="29" name="title">
            <a:extLst xmlns:a="http://schemas.openxmlformats.org/drawingml/2006/main">
              <a:ext uri="{FF2B5EF4-FFF2-40B4-BE49-F238E27FC236}">
                <a16:creationId xmlns:a16="http://schemas.microsoft.com/office/drawing/2014/main" id="{52B77B03-CFA6-48DB-85A2-C879F4F4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390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Step 3.5 / 3.7 模型结构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7FE7EE8-6B38-4706-994E-0CAEDCCD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3858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语言主干同源，Step 3.7 增加视觉编码器与 projector。结构参数与统计口径分别说明</a:t>
            </a:r>
          </a:p>
        </p:txBody>
      </p:sp>
      <p:sp>
        <p:nvSpPr>
          <p:cNvPr id="3" name="params">
            <a:extLst xmlns:a="http://schemas.openxmlformats.org/drawingml/2006/main">
              <a:ext uri="{FF2B5EF4-FFF2-40B4-BE49-F238E27FC236}">
                <a16:creationId xmlns:a16="http://schemas.microsoft.com/office/drawing/2014/main" id="{81014541-1EA9-4E5A-8B02-B34F6A20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1381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rPr>
              <a:t>3.5 主干 196B / 11B 激活       3.7 标称约 198B / 约 11B 激活       hidden size 4096</a:t>
            </a:r>
          </a:p>
        </p:txBody>
      </p:sp>
      <p:sp>
        <p:nvSpPr>
          <p:cNvPr id="4" name="input">
            <a:extLst xmlns:a="http://schemas.openxmlformats.org/drawingml/2006/main">
              <a:ext uri="{FF2B5EF4-FFF2-40B4-BE49-F238E27FC236}">
                <a16:creationId xmlns:a16="http://schemas.microsoft.com/office/drawing/2014/main" id="{024C98D4-17D7-4891-8938-05EAD059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267A0"/>
            </a:solidFill>
          </a:ln>
        </p:spPr>
      </p:sp>
      <p:sp>
        <p:nvSpPr>
          <p:cNvPr id="5" name="input-head">
            <a:extLst xmlns:a="http://schemas.openxmlformats.org/drawingml/2006/main">
              <a:ext uri="{FF2B5EF4-FFF2-40B4-BE49-F238E27FC236}">
                <a16:creationId xmlns:a16="http://schemas.microsoft.com/office/drawing/2014/main" id="{1A3F003B-8952-416B-9725-36EA4B8E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385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rPr>
              <a:t>输入与 Embedding</a:t>
            </a:r>
          </a:p>
        </p:txBody>
      </p:sp>
      <p:sp>
        <p:nvSpPr>
          <p:cNvPr id="6" name="input-body">
            <a:extLst xmlns:a="http://schemas.openxmlformats.org/drawingml/2006/main">
              <a:ext uri="{FF2B5EF4-FFF2-40B4-BE49-F238E27FC236}">
                <a16:creationId xmlns:a16="http://schemas.microsoft.com/office/drawing/2014/main" id="{200DECD5-AFE9-436F-903E-0025A9F0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667125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文本 tokens</a:t>
            </a:r>
          </a:p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3.7 可接视觉特征</a:t>
            </a:r>
          </a:p>
        </p:txBody>
      </p:sp>
      <p:sp>
        <p:nvSpPr>
          <p:cNvPr id="7" name="dense">
            <a:extLst xmlns:a="http://schemas.openxmlformats.org/drawingml/2006/main">
              <a:ext uri="{FF2B5EF4-FFF2-40B4-BE49-F238E27FC236}">
                <a16:creationId xmlns:a16="http://schemas.microsoft.com/office/drawing/2014/main" id="{3953F6F8-0EF2-4FA4-A34E-E9E8E5D1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95625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267A0"/>
            </a:solidFill>
          </a:ln>
        </p:spPr>
      </p:sp>
      <p:sp>
        <p:nvSpPr>
          <p:cNvPr id="8" name="dense-head">
            <a:extLst xmlns:a="http://schemas.openxmlformats.org/drawingml/2006/main">
              <a:ext uri="{FF2B5EF4-FFF2-40B4-BE49-F238E27FC236}">
                <a16:creationId xmlns:a16="http://schemas.microsoft.com/office/drawing/2014/main" id="{BD776FB3-14D4-46A9-BD87-C46BD6FA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2385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rPr>
              <a:t>前 3 层</a:t>
            </a:r>
          </a:p>
        </p:txBody>
      </p:sp>
      <p:sp>
        <p:nvSpPr>
          <p:cNvPr id="9" name="dense-body">
            <a:extLst xmlns:a="http://schemas.openxmlformats.org/drawingml/2006/main">
              <a:ext uri="{FF2B5EF4-FFF2-40B4-BE49-F238E27FC236}">
                <a16:creationId xmlns:a16="http://schemas.microsoft.com/office/drawing/2014/main" id="{58A7EC34-5B64-48BB-980A-A4DC4C0D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667125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Attention</a:t>
            </a:r>
          </a:p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Dense FFN</a:t>
            </a:r>
          </a:p>
        </p:txBody>
      </p:sp>
      <p:sp>
        <p:nvSpPr>
          <p:cNvPr id="10" name="moe">
            <a:extLst xmlns:a="http://schemas.openxmlformats.org/drawingml/2006/main">
              <a:ext uri="{FF2B5EF4-FFF2-40B4-BE49-F238E27FC236}">
                <a16:creationId xmlns:a16="http://schemas.microsoft.com/office/drawing/2014/main" id="{337EBAE1-E1E9-45B0-AF91-D788CD45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95625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267A0"/>
            </a:solidFill>
          </a:ln>
        </p:spPr>
      </p:sp>
      <p:sp>
        <p:nvSpPr>
          <p:cNvPr id="11" name="moe-head">
            <a:extLst xmlns:a="http://schemas.openxmlformats.org/drawingml/2006/main">
              <a:ext uri="{FF2B5EF4-FFF2-40B4-BE49-F238E27FC236}">
                <a16:creationId xmlns:a16="http://schemas.microsoft.com/office/drawing/2014/main" id="{FEEE59FD-599F-43A7-9EC5-C0B275EC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2385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rPr>
              <a:t>后 42 层</a:t>
            </a:r>
          </a:p>
        </p:txBody>
      </p:sp>
      <p:sp>
        <p:nvSpPr>
          <p:cNvPr id="12" name="moe-body">
            <a:extLst xmlns:a="http://schemas.openxmlformats.org/drawingml/2006/main">
              <a:ext uri="{FF2B5EF4-FFF2-40B4-BE49-F238E27FC236}">
                <a16:creationId xmlns:a16="http://schemas.microsoft.com/office/drawing/2014/main" id="{980D0C7B-D9BB-429C-AF15-8E51CF89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667125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Attention</a:t>
            </a:r>
          </a:p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稀疏 MoE FFN</a:t>
            </a:r>
          </a:p>
        </p:txBody>
      </p:sp>
      <p:sp>
        <p:nvSpPr>
          <p:cNvPr id="13" name="head">
            <a:extLst xmlns:a="http://schemas.openxmlformats.org/drawingml/2006/main">
              <a:ext uri="{FF2B5EF4-FFF2-40B4-BE49-F238E27FC236}">
                <a16:creationId xmlns:a16="http://schemas.microsoft.com/office/drawing/2014/main" id="{759C3311-A6A9-4F97-80F1-3808B6D5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95625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267A0"/>
            </a:solidFill>
          </a:ln>
        </p:spPr>
      </p:sp>
      <p:sp>
        <p:nvSpPr>
          <p:cNvPr id="14" name="head-head">
            <a:extLst xmlns:a="http://schemas.openxmlformats.org/drawingml/2006/main">
              <a:ext uri="{FF2B5EF4-FFF2-40B4-BE49-F238E27FC236}">
                <a16:creationId xmlns:a16="http://schemas.microsoft.com/office/drawing/2014/main" id="{A5F1BDFC-1ECB-4D81-B631-FA83C67A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2385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rPr>
              <a:t>输出层</a:t>
            </a:r>
          </a:p>
        </p:txBody>
      </p:sp>
      <p:sp>
        <p:nvSpPr>
          <p:cNvPr id="15" name="head-body">
            <a:extLst xmlns:a="http://schemas.openxmlformats.org/drawingml/2006/main">
              <a:ext uri="{FF2B5EF4-FFF2-40B4-BE49-F238E27FC236}">
                <a16:creationId xmlns:a16="http://schemas.microsoft.com/office/drawing/2014/main" id="{038D1911-0BBB-4EF4-8879-483DDAE8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667125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归一化与 LM Head</a:t>
            </a:r>
          </a:p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预测下一 token</a:t>
            </a:r>
          </a:p>
        </p:txBody>
      </p:sp>
      <p:sp>
        <p:nvSpPr>
          <p:cNvPr id="16" name="mtp">
            <a:extLst xmlns:a="http://schemas.openxmlformats.org/drawingml/2006/main">
              <a:ext uri="{FF2B5EF4-FFF2-40B4-BE49-F238E27FC236}">
                <a16:creationId xmlns:a16="http://schemas.microsoft.com/office/drawing/2014/main" id="{0790C00C-8D86-42CE-81AA-C9A33C11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3095625"/>
            <a:ext cx="2143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267A0"/>
            </a:solidFill>
          </a:ln>
        </p:spPr>
      </p:sp>
      <p:sp>
        <p:nvSpPr>
          <p:cNvPr id="17" name="mtp-head">
            <a:extLst xmlns:a="http://schemas.openxmlformats.org/drawingml/2006/main">
              <a:ext uri="{FF2B5EF4-FFF2-40B4-BE49-F238E27FC236}">
                <a16:creationId xmlns:a16="http://schemas.microsoft.com/office/drawing/2014/main" id="{02F3BF74-C115-424B-8CAE-81153879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425" y="3238500"/>
            <a:ext cx="185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rPr>
              <a:t>MTP</a:t>
            </a:r>
          </a:p>
        </p:txBody>
      </p:sp>
      <p:sp>
        <p:nvSpPr>
          <p:cNvPr id="18" name="mtp-body">
            <a:extLst xmlns:a="http://schemas.openxmlformats.org/drawingml/2006/main">
              <a:ext uri="{FF2B5EF4-FFF2-40B4-BE49-F238E27FC236}">
                <a16:creationId xmlns:a16="http://schemas.microsoft.com/office/drawing/2014/main" id="{4276554F-2CA8-47DF-8695-0D94A990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425" y="3667125"/>
            <a:ext cx="1857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3 个预测层</a:t>
            </a:r>
          </a:p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候选与目标验证</a:t>
            </a:r>
          </a:p>
        </p:txBody>
      </p:sp>
      <p:sp>
        <p:nvSpPr>
          <p:cNvPr id="23" name="repetition">
            <a:extLst xmlns:a="http://schemas.openxmlformats.org/drawingml/2006/main">
              <a:ext uri="{FF2B5EF4-FFF2-40B4-BE49-F238E27FC236}">
                <a16:creationId xmlns:a16="http://schemas.microsoft.com/office/drawing/2014/main" id="{89045066-6708-4A6B-BCCB-76105DAF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14875"/>
            <a:ext cx="1381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主干共 45 层。图示省略各层归一化与残差路径，MTP 单列为生成加速分支</a:t>
            </a:r>
          </a:p>
        </p:txBody>
      </p:sp>
      <p:sp>
        <p:nvSpPr>
          <p:cNvPr id="24" name="attention">
            <a:extLst xmlns:a="http://schemas.openxmlformats.org/drawingml/2006/main">
              <a:ext uri="{FF2B5EF4-FFF2-40B4-BE49-F238E27FC236}">
                <a16:creationId xmlns:a16="http://schemas.microsoft.com/office/drawing/2014/main" id="{F2A13614-3F6E-4E04-BDAD-DBC3AC1C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62575"/>
            <a:ext cx="1381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rPr>
              <a:t>Attention：33 SWA + 12 Full，window 512，逐 head 输出门控</a:t>
            </a:r>
          </a:p>
        </p:txBody>
      </p:sp>
      <p:sp>
        <p:nvSpPr>
          <p:cNvPr id="25" name="heads">
            <a:extLst xmlns:a="http://schemas.openxmlformats.org/drawingml/2006/main">
              <a:ext uri="{FF2B5EF4-FFF2-40B4-BE49-F238E27FC236}">
                <a16:creationId xmlns:a16="http://schemas.microsoft.com/office/drawing/2014/main" id="{5C3AA513-3257-4914-AA0F-6365BEF6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381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Query heads：Full 64 / SWA 96，KV heads 8，head dim 128</a:t>
            </a:r>
          </a:p>
        </p:txBody>
      </p:sp>
      <p:sp>
        <p:nvSpPr>
          <p:cNvPr id="26" name="experts">
            <a:extLst xmlns:a="http://schemas.openxmlformats.org/drawingml/2006/main">
              <a:ext uri="{FF2B5EF4-FFF2-40B4-BE49-F238E27FC236}">
                <a16:creationId xmlns:a16="http://schemas.microsoft.com/office/drawing/2014/main" id="{47B64E6E-6421-4FB0-B869-02F2224D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29350"/>
            <a:ext cx="1381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MoE：每层 288 routed，top-8 + 1 shared，expert intermediate size 1280</a:t>
            </a:r>
          </a:p>
        </p:txBody>
      </p:sp>
      <p:sp>
        <p:nvSpPr>
          <p:cNvPr id="27" name="vision">
            <a:extLst xmlns:a="http://schemas.openxmlformats.org/drawingml/2006/main">
              <a:ext uri="{FF2B5EF4-FFF2-40B4-BE49-F238E27FC236}">
                <a16:creationId xmlns:a16="http://schemas.microsoft.com/office/drawing/2014/main" id="{8DDC9BEE-3ADA-41DA-8574-C3B952CD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57975"/>
            <a:ext cx="1381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3.7 视觉：47 层、约 1.8B 的编码器，经 projector 接入语言主干</a:t>
            </a:r>
          </a:p>
        </p:txBody>
      </p:sp>
      <p:sp>
        <p:nvSpPr>
          <p:cNvPr id="28" name="step5">
            <a:extLst xmlns:a="http://schemas.openxmlformats.org/drawingml/2006/main">
              <a:ext uri="{FF2B5EF4-FFF2-40B4-BE49-F238E27FC236}">
                <a16:creationId xmlns:a16="http://schemas.microsoft.com/office/drawing/2014/main" id="{86BC495A-3D41-4CE6-AD5B-154EB818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10450"/>
            <a:ext cx="1381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Step 5：已确认 600B / 27B 稀疏 MoE、1M 上下文、64K 输出。层数、attention、专家数与 MTP 尚未核实</a:t>
            </a:r>
          </a:p>
        </p:txBody>
      </p:sp>
    </p:spTree>
    <p:extLst>
      <p:ext uri="{BB962C8B-B14F-4D97-AF65-F5344CB8AC3E}">
        <p14:creationId xmlns:p14="http://schemas.microsoft.com/office/powerpoint/2010/main" val="12092651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985D8996-98B8-4C7E-8948-1B6D0AB5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390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滑动窗口注意力与 Gated SWA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1873655-DF20-418B-AB75-A69198FA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3858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SWA 控制看哪里，Gate 控制每个 head 读到的信息注入多少</a:t>
            </a:r>
          </a:p>
        </p:txBody>
      </p:sp>
      <p:sp>
        <p:nvSpPr>
          <p:cNvPr id="3" name="swa-label">
            <a:extLst xmlns:a="http://schemas.openxmlformats.org/drawingml/2006/main">
              <a:ext uri="{FF2B5EF4-FFF2-40B4-BE49-F238E27FC236}">
                <a16:creationId xmlns:a16="http://schemas.microsoft.com/office/drawing/2014/main" id="{79C33F80-7ABC-4275-BB90-62B54A5B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771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rPr>
              <a:t>滑动窗口：当前 query 12，示意窗口 4</a:t>
            </a:r>
          </a:p>
        </p:txBody>
      </p:sp>
      <p:sp>
        <p:nvSpPr>
          <p:cNvPr id="4" name="gate-label">
            <a:extLst xmlns:a="http://schemas.openxmlformats.org/drawingml/2006/main">
              <a:ext uri="{FF2B5EF4-FFF2-40B4-BE49-F238E27FC236}">
                <a16:creationId xmlns:a16="http://schemas.microsoft.com/office/drawing/2014/main" id="{334534BD-78A5-4393-92A9-EBE78B96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2405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rPr>
              <a:t>输出门控：示意 gate = 0.25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C3D62-BA48-47DE-B896-1C4DD34024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761ced9932410f"/>
          <a:stretch xmlns:a="http://schemas.openxmlformats.org/drawingml/2006/main"/>
        </p:blipFill>
        <p:spPr>
          <a:xfrm xmlns:a="http://schemas.openxmlformats.org/drawingml/2006/main">
            <a:off x="685800" y="2656731"/>
            <a:ext cx="7524750" cy="4021038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D49D28-EF4B-43AE-BA4D-4C66F25505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b54c20f4c0469b"/>
          <a:stretch xmlns:a="http://schemas.openxmlformats.org/drawingml/2006/main"/>
        </p:blipFill>
        <p:spPr>
          <a:xfrm xmlns:a="http://schemas.openxmlformats.org/drawingml/2006/main">
            <a:off x="8705850" y="3685282"/>
            <a:ext cx="5857875" cy="1830586"/>
          </a:xfrm>
          <a:prstGeom xmlns:a="http://schemas.openxmlformats.org/drawingml/2006/main" prst="rect">
            <a:avLst/>
          </a:prstGeom>
        </p:spPr>
      </p:pic>
      <p:sp>
        <p:nvSpPr>
          <p:cNvPr id="7" name="swa-note">
            <a:extLst xmlns:a="http://schemas.openxmlformats.org/drawingml/2006/main">
              <a:ext uri="{FF2B5EF4-FFF2-40B4-BE49-F238E27FC236}">
                <a16:creationId xmlns:a16="http://schemas.microsoft.com/office/drawing/2014/main" id="{7A89B4FB-52DE-42A4-9E28-BF54E743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981825"/>
            <a:ext cx="762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Full 直接看 1–12，SWA 直接看 9–12</a:t>
            </a:r>
          </a:p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Step 3.5/3.7 混合局部与全局层，保留全局交互路径</a:t>
            </a:r>
          </a:p>
        </p:txBody>
      </p:sp>
      <p:sp>
        <p:nvSpPr>
          <p:cNvPr id="8" name="gate-note">
            <a:extLst xmlns:a="http://schemas.openxmlformats.org/drawingml/2006/main">
              <a:ext uri="{FF2B5EF4-FFF2-40B4-BE49-F238E27FC236}">
                <a16:creationId xmlns:a16="http://schemas.microsoft.com/office/drawing/2014/main" id="{49C356AE-9EE6-47D2-9DCC-425A68DE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981825"/>
            <a:ext cx="581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sigmoid(W_gate × hidden) × head 输出</a:t>
            </a:r>
          </a:p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Gate 不改变窗口，也不自动跳过 attention</a:t>
            </a:r>
          </a:p>
        </p:txBody>
      </p:sp>
      <p:sp>
        <p:nvSpPr>
          <p:cNvPr id="9" name="source-note">
            <a:extLst xmlns:a="http://schemas.openxmlformats.org/drawingml/2006/main">
              <a:ext uri="{FF2B5EF4-FFF2-40B4-BE49-F238E27FC236}">
                <a16:creationId xmlns:a16="http://schemas.microsoft.com/office/drawing/2014/main" id="{936E13F7-64A5-4AD3-9959-1C33CF61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010525"/>
            <a:ext cx="1381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矩阵、gate 与输出幅度为原交互图的静态示意。实际 window=512，33 SWA + 12 Full。复核于 2026-10-12</a:t>
            </a:r>
          </a:p>
        </p:txBody>
      </p:sp>
    </p:spTree>
    <p:extLst>
      <p:ext uri="{BB962C8B-B14F-4D97-AF65-F5344CB8AC3E}">
        <p14:creationId xmlns:p14="http://schemas.microsoft.com/office/powerpoint/2010/main" val="155402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49D8E2B4-71FE-4636-A608-958A6797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390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稀疏 MoE：选择参与计算的 FFN 专家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F7F0B14-7D32-4400-A1ED-AB577400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3858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Router 为每个 token 选择少数专家，加权合并结果。不同 token 与不同层可以使用不同专家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68307-FBB3-46FF-BF16-C705E2B873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47410c96c847f0"/>
          <a:stretch xmlns:a="http://schemas.openxmlformats.org/drawingml/2006/main"/>
        </p:blipFill>
        <p:spPr>
          <a:xfrm xmlns:a="http://schemas.openxmlformats.org/drawingml/2006/main">
            <a:off x="685800" y="2459038"/>
            <a:ext cx="9906000" cy="4911725"/>
          </a:xfrm>
          <a:prstGeom xmlns:a="http://schemas.openxmlformats.org/drawingml/2006/main" prst="rect">
            <a:avLst/>
          </a:prstGeom>
        </p:spPr>
      </p:pic>
      <p:sp>
        <p:nvSpPr>
          <p:cNvPr id="4" name="scope">
            <a:extLst xmlns:a="http://schemas.openxmlformats.org/drawingml/2006/main">
              <a:ext uri="{FF2B5EF4-FFF2-40B4-BE49-F238E27FC236}">
                <a16:creationId xmlns:a16="http://schemas.microsoft.com/office/drawing/2014/main" id="{D5A3D8C0-A8C8-44F8-BF61-BAC91027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33625"/>
            <a:ext cx="3476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rPr>
              <a:t>实际结构</a:t>
            </a:r>
          </a:p>
        </p:txBody>
      </p:sp>
      <p:sp>
        <p:nvSpPr>
          <p:cNvPr id="5" name="actual">
            <a:extLst xmlns:a="http://schemas.openxmlformats.org/drawingml/2006/main">
              <a:ext uri="{FF2B5EF4-FFF2-40B4-BE49-F238E27FC236}">
                <a16:creationId xmlns:a16="http://schemas.microsoft.com/office/drawing/2014/main" id="{1B30DD5C-2195-49F1-ADC7-45F17B4C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05125"/>
            <a:ext cx="34766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288 routed experts</a:t>
            </a:r>
          </a:p>
          <a:p xmlns:a="http://schemas.openxmlformats.org/drawingml/2006/main">
            <a:pPr>
              <a:defRPr sz="21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top-8 + 1 shared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图中缩小为 12 / top-3</a:t>
            </a:r>
          </a:p>
        </p:txBody>
      </p:sp>
      <p:sp>
        <p:nvSpPr>
          <p:cNvPr id="6" name="semantics">
            <a:extLst xmlns:a="http://schemas.openxmlformats.org/drawingml/2006/main">
              <a:ext uri="{FF2B5EF4-FFF2-40B4-BE49-F238E27FC236}">
                <a16:creationId xmlns:a16="http://schemas.microsoft.com/office/drawing/2014/main" id="{1B9D0DD3-DDAF-42A4-91CF-8B1B710E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0537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rPr>
              <a:t>技术边界</a:t>
            </a:r>
          </a:p>
        </p:txBody>
      </p:sp>
      <p:sp>
        <p:nvSpPr>
          <p:cNvPr id="7" name="limits">
            <a:extLst xmlns:a="http://schemas.openxmlformats.org/drawingml/2006/main">
              <a:ext uri="{FF2B5EF4-FFF2-40B4-BE49-F238E27FC236}">
                <a16:creationId xmlns:a16="http://schemas.microsoft.com/office/drawing/2014/main" id="{BAF0C533-2CA7-40DF-936E-8C0FFE83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486400"/>
            <a:ext cx="3476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专家为 FFN 子网络</a:t>
            </a:r>
          </a:p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未激活权重仍需存储</a:t>
            </a:r>
          </a:p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跨卡通信与负载影响速度</a:t>
            </a:r>
          </a:p>
        </p:txBody>
      </p:sp>
      <p:sp>
        <p:nvSpPr>
          <p:cNvPr id="8" name="router-note">
            <a:extLst xmlns:a="http://schemas.openxmlformats.org/drawingml/2006/main">
              <a:ext uri="{FF2B5EF4-FFF2-40B4-BE49-F238E27FC236}">
                <a16:creationId xmlns:a16="http://schemas.microsoft.com/office/drawing/2014/main" id="{0D48C912-6A4E-4F5C-8349-338B3948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48575"/>
            <a:ext cx="13811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接口：hidden 经 router 的 FP32 sigmoid 得分，bias 参与选专家，合并权重取未加 bias 的概率并归一/缩放</a:t>
            </a:r>
          </a:p>
        </p:txBody>
      </p:sp>
    </p:spTree>
    <p:extLst>
      <p:ext uri="{BB962C8B-B14F-4D97-AF65-F5344CB8AC3E}">
        <p14:creationId xmlns:p14="http://schemas.microsoft.com/office/powerpoint/2010/main" val="17714138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F0F7BD84-463E-4313-BC19-952FF373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390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PaCoRe：并行探索与结论综合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096756D-5E6D-4922-96FD-2F3C2779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3858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PaCoRe 增加轨迹级推理预算，与 SWA、Gate、MoE 所处的模型算子层分开理解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4A63B-31AD-4581-B1E5-EBE28E8EDC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f7565dcc6a4c9a"/>
          <a:stretch xmlns:a="http://schemas.openxmlformats.org/drawingml/2006/main"/>
        </p:blipFill>
        <p:spPr>
          <a:xfrm xmlns:a="http://schemas.openxmlformats.org/drawingml/2006/main">
            <a:off x="1557986" y="1809750"/>
            <a:ext cx="7304379" cy="6429375"/>
          </a:xfrm>
          <a:prstGeom xmlns:a="http://schemas.openxmlformats.org/drawingml/2006/main" prst="rect">
            <a:avLst/>
          </a:prstGeom>
        </p:spPr>
      </p:pic>
      <p:sp>
        <p:nvSpPr>
          <p:cNvPr id="4" name="principle">
            <a:extLst xmlns:a="http://schemas.openxmlformats.org/drawingml/2006/main">
              <a:ext uri="{FF2B5EF4-FFF2-40B4-BE49-F238E27FC236}">
                <a16:creationId xmlns:a16="http://schemas.microsoft.com/office/drawing/2014/main" id="{4249854C-E518-454F-9E07-0ACE7E64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13360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67A0"/>
                </a:solidFill>
                <a:latin typeface="Microsoft YaHei"/>
                <a:ea typeface="Microsoft YaHei"/>
                <a:cs typeface="Microsoft YaHei"/>
              </a:rPr>
              <a:t>流程与训练目标</a:t>
            </a:r>
          </a:p>
        </p:txBody>
      </p:sp>
      <p:sp>
        <p:nvSpPr>
          <p:cNvPr id="5" name="steps">
            <a:extLst xmlns:a="http://schemas.openxmlformats.org/drawingml/2006/main">
              <a:ext uri="{FF2B5EF4-FFF2-40B4-BE49-F238E27FC236}">
                <a16:creationId xmlns:a16="http://schemas.microsoft.com/office/drawing/2014/main" id="{95B8C0ED-1B65-48C8-A9EC-886A15EC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733675"/>
            <a:ext cx="4095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同一模型并行生成多条轨迹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提取各条最终结论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综合与交叉检查后继续推理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最后收敛到一条答案</a:t>
            </a:r>
          </a:p>
        </p:txBody>
      </p:sp>
      <p:sp>
        <p:nvSpPr>
          <p:cNvPr id="6" name="budget">
            <a:extLst xmlns:a="http://schemas.openxmlformats.org/drawingml/2006/main">
              <a:ext uri="{FF2B5EF4-FFF2-40B4-BE49-F238E27FC236}">
                <a16:creationId xmlns:a16="http://schemas.microsoft.com/office/drawing/2014/main" id="{0A804A36-4C97-4BE9-A21A-3E5A3451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7625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rPr>
              <a:t>更多计算换困难任务质量</a:t>
            </a:r>
          </a:p>
        </p:txBody>
      </p:sp>
      <p:sp>
        <p:nvSpPr>
          <p:cNvPr id="7" name="numbers">
            <a:extLst xmlns:a="http://schemas.openxmlformats.org/drawingml/2006/main">
              <a:ext uri="{FF2B5EF4-FFF2-40B4-BE49-F238E27FC236}">
                <a16:creationId xmlns:a16="http://schemas.microsoft.com/office/drawing/2014/main" id="{987D0A6C-3958-4B0D-B762-FA3E2F85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353050"/>
            <a:ext cx="4095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HMMT 2025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基础 75.4%，High 94.5%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平均总 tokens 48K 至 1796K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约 37.4 倍</a:t>
            </a:r>
          </a:p>
        </p:txBody>
      </p:sp>
      <p:sp>
        <p:nvSpPr>
          <p:cNvPr id="8" name="caution">
            <a:extLst xmlns:a="http://schemas.openxmlformats.org/drawingml/2006/main">
              <a:ext uri="{FF2B5EF4-FFF2-40B4-BE49-F238E27FC236}">
                <a16:creationId xmlns:a16="http://schemas.microsoft.com/office/drawing/2014/main" id="{48A34E42-7938-421C-B7E5-7EA045C0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124700"/>
            <a:ext cx="409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模型训练与推理配置同时变化</a:t>
            </a:r>
          </a:p>
          <a:p xmlns:a="http://schemas.openxmlformats.org/drawingml/2006/main">
            <a:pPr>
              <a:defRPr sz="17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该差值不是纯并发消融收益</a:t>
            </a:r>
          </a:p>
          <a:p xmlns:a="http://schemas.openxmlformats.org/drawingml/2006/main">
            <a:pPr>
              <a:defRPr sz="17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适合高价值、可验证任务</a:t>
            </a:r>
          </a:p>
        </p:txBody>
      </p:sp>
    </p:spTree>
    <p:extLst>
      <p:ext uri="{BB962C8B-B14F-4D97-AF65-F5344CB8AC3E}">
        <p14:creationId xmlns:p14="http://schemas.microsoft.com/office/powerpoint/2010/main" val="17342704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2026-10-11T16:37:51.2480000Z</dcterms:created>
  <dcterms:modified xsi:type="dcterms:W3CDTF">2026-10-11T16:37:51.2490000Z</dcterms:modified>
</coreProperties>
</file>