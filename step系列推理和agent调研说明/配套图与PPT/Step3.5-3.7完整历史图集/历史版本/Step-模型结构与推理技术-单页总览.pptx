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3f39adad78456f" /><Relationship Type="http://schemas.openxmlformats.org/officeDocument/2006/relationships/extended-properties" Target="/docProps/app.xml" Id="Rdc131e7c334d4adb" /><Relationship Type="http://schemas.openxmlformats.org/officeDocument/2006/relationships/officeDocument" Target="/ppt/presentation.xml" Id="R1fc93a7f4e734a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54abf62ba14493"/>
  </p:sldMasterIdLst>
  <p:notesMasterIdLst>
    <p:notesMasterId xmlns:r="http://schemas.openxmlformats.org/officeDocument/2006/relationships" r:id="R75949e1b88ee49c1"/>
  </p:notesMasterIdLst>
  <p:sldIdLst>
    <p:sldId xmlns:r="http://schemas.openxmlformats.org/officeDocument/2006/relationships" id="256" r:id="R7eb1ba24ed234fa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f2e99b04e0422f" /><Relationship Type="http://schemas.openxmlformats.org/officeDocument/2006/relationships/slideMaster" Target="/ppt/slideMasters/slideMaster1.xml" Id="R3654abf62ba14493" /><Relationship Type="http://schemas.openxmlformats.org/officeDocument/2006/relationships/notesMaster" Target="/ppt/notesMasters/notesMaster1.xml" Id="R75949e1b88ee49c1" /><Relationship Type="http://schemas.openxmlformats.org/officeDocument/2006/relationships/presProps" Target="/ppt/presProps.xml" Id="R893ded277f8c421f" /><Relationship Type="http://schemas.openxmlformats.org/officeDocument/2006/relationships/tableStyles" Target="/ppt/tableStyles.xml" Id="R9e7ca1a10b854e00" /><Relationship Type="http://schemas.openxmlformats.org/officeDocument/2006/relationships/slide" Target="/ppt/slides/slide1.xml" Id="R7eb1ba24ed234f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576351547d48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80fda830fb4427" /><Relationship Type="http://schemas.openxmlformats.org/officeDocument/2006/relationships/notesMaster" Target="/ppt/notesMasters/notesMaster1.xml" Id="R46bc2c93f9074b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单页技术总览，压缩说明。主干示意省略归一化与残差，MTP是生成分支非普通串行主干层。SWA实际33局部+12全局、window512；逐head sigmoid输出门控后o_proj；MoE图12/top3仅示意，实际288/top8+1shared。EP示意4rank共128assignments，不能从最忙rank64变32推导端到端延迟减半。Step3.5训练全局lossfreebias和microbatchrankloss帮助均衡；vLLM EPLB是服务端重排和热点等价副本，不改逻辑topk，代价是显存和搬移。PaCoRe图4轨迹缩小示意，论文High实际[32,4]加最后单条；提取最终结论，综合训练与推理配置共同改变结果，非仅并发消融，不是低成本机制。StepCode组件存在不说明独有或固定省token。</a:t>
            </a:r>
          </a:p>
          <a:p xmlns:a="http://schemas.openxmlformats.org/drawingml/2006/main">
            <a:r>
              <a:t>网络参考：</a:t>
            </a:r>
          </a:p>
          <a:p xmlns:a="http://schemas.openxmlformats.org/drawingml/2006/main">
            <a:r>
              <a:t>https://arxiv.org/html/2602.10604v2</a:t>
            </a:r>
          </a:p>
          <a:p xmlns:a="http://schemas.openxmlformats.org/drawingml/2006/main">
            <a:r>
              <a:t>https://huggingface.co/stepfun-ai/Step-3.7-Flash/blob/main/config.json</a:t>
            </a:r>
          </a:p>
          <a:p xmlns:a="http://schemas.openxmlformats.org/drawingml/2006/main">
            <a:r>
              <a:t>https://huggingface.co/stepfun-ai/Step-3.7-Flash/blob/main/modeling_step3p7.py</a:t>
            </a:r>
          </a:p>
          <a:p xmlns:a="http://schemas.openxmlformats.org/drawingml/2006/main">
            <a:r>
              <a:t>https://docs.vllm.ai/en/latest/serving/expert_parallel_deployment/</a:t>
            </a:r>
          </a:p>
          <a:p xmlns:a="http://schemas.openxmlformats.org/drawingml/2006/main">
            <a:r>
              <a:t>https://docs.vllm.ai/en/latest/api/vllm/distributed/eplb/eplb_state/</a:t>
            </a:r>
          </a:p>
          <a:p xmlns:a="http://schemas.openxmlformats.org/drawingml/2006/main">
            <a:r>
              <a:t>https://arxiv.org/html/2601.05593v1</a:t>
            </a:r>
          </a:p>
          <a:p xmlns:a="http://schemas.openxmlformats.org/drawingml/2006/main">
            <a:r>
              <a:t>https://github.com/stepfun-ai/PaCoRe</a:t>
            </a:r>
          </a:p>
          <a:p xmlns:a="http://schemas.openxmlformats.org/drawingml/2006/main">
            <a:r>
              <a:t>https://github.com/stepfun-ai/Step-Code</a:t>
            </a:r>
          </a:p>
          <a:p xmlns:a="http://schemas.openxmlformats.org/drawingml/2006/main">
            <a:r>
              <a:t>https://github.com/stepfun-ai/Step-Code/blob/main/packages/coding-agent/src/core/skills.ts</a:t>
            </a:r>
          </a:p>
          <a:p xmlns:a="http://schemas.openxmlformats.org/drawingml/2006/main">
            <a:r>
              <a:t>https://github.com/stepfun-ai/Step-Code/blob/main/docs/goal-lifecycle.md</a:t>
            </a:r>
          </a:p>
          <a:p xmlns:a="http://schemas.openxmlformats.org/drawingml/2006/main">
            <a:r>
              <a:t>https://platform.stepfun.ai/docs/en/guides/models/step-5-preview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1de26f9e345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c2bb0e80f43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edf9095084f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47e17032145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ce29344ed4f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60ec809a546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22B963-4904-42EA-B674-889C65EB48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444AFC-E3D7-4CB5-86EF-DBD3FC15B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3DA3BA-9EA6-47F6-A510-003AC72E6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231B97-3F5B-44D0-899A-F2F59CB6E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DFC76E-6949-4740-8844-5F66B1875D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F763D0-BF6F-4CBF-99A1-AA6F13372C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824E6A-6C8D-4C08-B8B9-7D6B3929A4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C6B7DE-98D8-4E5E-AD81-EB0C511B1E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3E85DA-00B1-4D00-BE7B-9E40CDF37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41074C-95E1-4359-938B-A7EDAD820D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8d9b05f6724b79" /><Relationship Type="http://schemas.openxmlformats.org/officeDocument/2006/relationships/slideLayout" Target="/ppt/slideLayouts/slideLayout1.xml" Id="R7590649eed504902" /><Relationship Type="http://schemas.openxmlformats.org/officeDocument/2006/relationships/slideLayout" Target="/ppt/slideLayouts/slideLayout2.xml" Id="R1ef648cb6a894945" /><Relationship Type="http://schemas.openxmlformats.org/officeDocument/2006/relationships/slideLayout" Target="/ppt/slideLayouts/slideLayout3.xml" Id="R79d675345c9141c1" /><Relationship Type="http://schemas.openxmlformats.org/officeDocument/2006/relationships/slideLayout" Target="/ppt/slideLayouts/slideLayout4.xml" Id="R28ca48ab12d74434" /><Relationship Type="http://schemas.openxmlformats.org/officeDocument/2006/relationships/slideLayout" Target="/ppt/slideLayouts/slideLayout5.xml" Id="R904e55e18e1b4cdb" /><Relationship Type="http://schemas.openxmlformats.org/officeDocument/2006/relationships/slideLayout" Target="/ppt/slideLayouts/slideLayout6.xml" Id="Rcfa0925697b64b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90649eed504902"/>
    <p:sldLayoutId xmlns:r="http://schemas.openxmlformats.org/officeDocument/2006/relationships" id="2147483650" r:id="R1ef648cb6a894945"/>
    <p:sldLayoutId xmlns:r="http://schemas.openxmlformats.org/officeDocument/2006/relationships" id="2147483651" r:id="R79d675345c9141c1"/>
    <p:sldLayoutId xmlns:r="http://schemas.openxmlformats.org/officeDocument/2006/relationships" id="2147483652" r:id="R28ca48ab12d74434"/>
    <p:sldLayoutId xmlns:r="http://schemas.openxmlformats.org/officeDocument/2006/relationships" id="2147483653" r:id="R904e55e18e1b4cdb"/>
    <p:sldLayoutId xmlns:r="http://schemas.openxmlformats.org/officeDocument/2006/relationships" id="2147483654" r:id="Rcfa0925697b64b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4bb4c36944155" /><Relationship Type="http://schemas.openxmlformats.org/officeDocument/2006/relationships/notesSlide" Target="/ppt/notesSlides/notesSlide1.xml" Id="Rbc92cacc4fa741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title">
            <a:extLst xmlns:a="http://schemas.openxmlformats.org/drawingml/2006/main">
              <a:ext uri="{FF2B5EF4-FFF2-40B4-BE49-F238E27FC236}">
                <a16:creationId xmlns:a16="http://schemas.microsoft.com/office/drawing/2014/main" id="{9BD8D66B-DA61-439D-AD81-317786AD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390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系列模型结构与推理技术</a:t>
            </a:r>
          </a:p>
        </p:txBody>
      </p:sp>
      <p:sp>
        <p:nvSpPr>
          <p:cNvPr id="2" name="params">
            <a:extLst xmlns:a="http://schemas.openxmlformats.org/drawingml/2006/main">
              <a:ext uri="{FF2B5EF4-FFF2-40B4-BE49-F238E27FC236}">
                <a16:creationId xmlns:a16="http://schemas.microsoft.com/office/drawing/2014/main" id="{AA3FE76A-9A8F-4199-B131-8F8F66B1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381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Step 3.5 / 3.7：45 层主干，hidden 4096，语言主干 196B / 11B 激活；3.7 增加约 1.8B 视觉编码器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AFA7728B-39D8-4EB1-8569-7352E648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047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4288">
            <a:solidFill>
              <a:srgbClr val="2475B5"/>
            </a:solidFill>
          </a:ln>
        </p:spPr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97E9E0C5-D121-4E00-B27B-96BAED90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8954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输入嵌入</a:t>
            </a:r>
          </a:p>
        </p:txBody>
      </p:sp>
      <p:sp>
        <p:nvSpPr>
          <p:cNvPr id="5" name="dense">
            <a:extLst xmlns:a="http://schemas.openxmlformats.org/drawingml/2006/main">
              <a:ext uri="{FF2B5EF4-FFF2-40B4-BE49-F238E27FC236}">
                <a16:creationId xmlns:a16="http://schemas.microsoft.com/office/drawing/2014/main" id="{4B1E1C7B-3254-4CF0-BC7A-4A46561D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57375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4288">
            <a:solidFill>
              <a:srgbClr val="2475B5"/>
            </a:solidFill>
          </a:ln>
        </p:spPr>
      </p:sp>
      <p:sp>
        <p:nvSpPr>
          <p:cNvPr id="6" name="dense-label">
            <a:extLst xmlns:a="http://schemas.openxmlformats.org/drawingml/2006/main">
              <a:ext uri="{FF2B5EF4-FFF2-40B4-BE49-F238E27FC236}">
                <a16:creationId xmlns:a16="http://schemas.microsoft.com/office/drawing/2014/main" id="{BBC432C3-8721-4301-940F-503D4D97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33575"/>
            <a:ext cx="23717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3 层 Attention + Dense</a:t>
            </a:r>
          </a:p>
        </p:txBody>
      </p:sp>
      <p:sp>
        <p:nvSpPr>
          <p:cNvPr id="7" name="moe-core">
            <a:extLst xmlns:a="http://schemas.openxmlformats.org/drawingml/2006/main">
              <a:ext uri="{FF2B5EF4-FFF2-40B4-BE49-F238E27FC236}">
                <a16:creationId xmlns:a16="http://schemas.microsoft.com/office/drawing/2014/main" id="{6A13053D-B758-429F-93A0-29F496FC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7375"/>
            <a:ext cx="2905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F8"/>
          </a:solidFill>
          <a:ln xmlns:a="http://schemas.openxmlformats.org/drawingml/2006/main" w="14288">
            <a:solidFill>
              <a:srgbClr val="7853AC"/>
            </a:solidFill>
          </a:ln>
        </p:spPr>
      </p:sp>
      <p:sp>
        <p:nvSpPr>
          <p:cNvPr id="8" name="moe-core-label">
            <a:extLst xmlns:a="http://schemas.openxmlformats.org/drawingml/2006/main">
              <a:ext uri="{FF2B5EF4-FFF2-40B4-BE49-F238E27FC236}">
                <a16:creationId xmlns:a16="http://schemas.microsoft.com/office/drawing/2014/main" id="{B8EDB590-1146-4AEA-842A-AB87BC95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33575"/>
            <a:ext cx="27527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42 层 Attention + MoE</a:t>
            </a:r>
          </a:p>
        </p:txBody>
      </p:sp>
      <p:sp>
        <p:nvSpPr>
          <p:cNvPr id="9" name="output">
            <a:extLst xmlns:a="http://schemas.openxmlformats.org/drawingml/2006/main">
              <a:ext uri="{FF2B5EF4-FFF2-40B4-BE49-F238E27FC236}">
                <a16:creationId xmlns:a16="http://schemas.microsoft.com/office/drawing/2014/main" id="{9F017825-B8E6-4EEB-9014-12FEB478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857375"/>
            <a:ext cx="2143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4288">
            <a:solidFill>
              <a:srgbClr val="2475B5"/>
            </a:solidFill>
          </a:ln>
        </p:spPr>
      </p:sp>
      <p:sp>
        <p:nvSpPr>
          <p:cNvPr id="10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AD46533B-B1B5-427A-89D3-F4ED9F99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33575"/>
            <a:ext cx="19907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输出预测</a:t>
            </a:r>
          </a:p>
        </p:txBody>
      </p:sp>
      <p:sp>
        <p:nvSpPr>
          <p:cNvPr id="11" name="mtp">
            <a:extLst xmlns:a="http://schemas.openxmlformats.org/drawingml/2006/main">
              <a:ext uri="{FF2B5EF4-FFF2-40B4-BE49-F238E27FC236}">
                <a16:creationId xmlns:a16="http://schemas.microsoft.com/office/drawing/2014/main" id="{BE9F6D11-7CF4-4499-B88D-D1DB692A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1857375"/>
            <a:ext cx="1952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3"/>
          </a:solidFill>
          <a:ln xmlns:a="http://schemas.openxmlformats.org/drawingml/2006/main" w="14288">
            <a:solidFill>
              <a:srgbClr val="C87817"/>
            </a:solidFill>
          </a:ln>
        </p:spPr>
      </p:sp>
      <p:sp>
        <p:nvSpPr>
          <p:cNvPr id="12" name="mtp-label">
            <a:extLst xmlns:a="http://schemas.openxmlformats.org/drawingml/2006/main">
              <a:ext uri="{FF2B5EF4-FFF2-40B4-BE49-F238E27FC236}">
                <a16:creationId xmlns:a16="http://schemas.microsoft.com/office/drawing/2014/main" id="{A5E71379-07AC-4D6F-90EE-311F1A9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933575"/>
            <a:ext cx="1800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rPr>
              <a:t>MTP 分支 × 3</a:t>
            </a:r>
          </a:p>
        </p:txBody>
      </p:sp>
      <p:cxnSp>
        <p:nvCxnSpPr>
          <p:cNvPr id="13" name="model-0">
            <a:extLst xmlns:a="http://schemas.openxmlformats.org/drawingml/2006/main">
              <a:ext uri="{FF2B5EF4-FFF2-40B4-BE49-F238E27FC236}">
                <a16:creationId xmlns:a16="http://schemas.microsoft.com/office/drawing/2014/main" id="{9F892676-46B0-43D3-8AEB-AD747F25072D}"/>
              </a:ext>
            </a:extLst>
          </p:cNvPr>
          <p:cNvCxnSpPr/>
          <p:nvPr/>
        </p:nvCxnSpPr>
        <p:spPr>
          <a:xfrm xmlns:a="http://schemas.openxmlformats.org/drawingml/2006/main">
            <a:off x="2733675" y="2257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cxnSp>
        <p:nvCxnSpPr>
          <p:cNvPr id="14" name="model-1">
            <a:extLst xmlns:a="http://schemas.openxmlformats.org/drawingml/2006/main">
              <a:ext uri="{FF2B5EF4-FFF2-40B4-BE49-F238E27FC236}">
                <a16:creationId xmlns:a16="http://schemas.microsoft.com/office/drawing/2014/main" id="{CCF9A2F8-4A67-472A-AEC4-7338DCCDAF9D}"/>
              </a:ext>
            </a:extLst>
          </p:cNvPr>
          <p:cNvCxnSpPr/>
          <p:nvPr/>
        </p:nvCxnSpPr>
        <p:spPr>
          <a:xfrm xmlns:a="http://schemas.openxmlformats.org/drawingml/2006/main">
            <a:off x="5829300" y="2257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cxnSp>
        <p:nvCxnSpPr>
          <p:cNvPr id="15" name="model-2">
            <a:extLst xmlns:a="http://schemas.openxmlformats.org/drawingml/2006/main">
              <a:ext uri="{FF2B5EF4-FFF2-40B4-BE49-F238E27FC236}">
                <a16:creationId xmlns:a16="http://schemas.microsoft.com/office/drawing/2014/main" id="{AB52A5FF-5214-4A18-9075-BF2BEDE5D178}"/>
              </a:ext>
            </a:extLst>
          </p:cNvPr>
          <p:cNvCxnSpPr/>
          <p:nvPr/>
        </p:nvCxnSpPr>
        <p:spPr>
          <a:xfrm xmlns:a="http://schemas.openxmlformats.org/drawingml/2006/main">
            <a:off x="9305925" y="2257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cxnSp>
        <p:nvCxnSpPr>
          <p:cNvPr id="16" name="model-3">
            <a:extLst xmlns:a="http://schemas.openxmlformats.org/drawingml/2006/main">
              <a:ext uri="{FF2B5EF4-FFF2-40B4-BE49-F238E27FC236}">
                <a16:creationId xmlns:a16="http://schemas.microsoft.com/office/drawing/2014/main" id="{9E00A20A-0221-474D-8ED5-AA1E4423654C}"/>
              </a:ext>
            </a:extLst>
          </p:cNvPr>
          <p:cNvCxnSpPr/>
          <p:nvPr/>
        </p:nvCxnSpPr>
        <p:spPr>
          <a:xfrm xmlns:a="http://schemas.openxmlformats.org/drawingml/2006/main">
            <a:off x="12020550" y="2257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sp>
        <p:nvSpPr>
          <p:cNvPr id="17" name="swa-title">
            <a:extLst xmlns:a="http://schemas.openxmlformats.org/drawingml/2006/main">
              <a:ext uri="{FF2B5EF4-FFF2-40B4-BE49-F238E27FC236}">
                <a16:creationId xmlns:a16="http://schemas.microsoft.com/office/drawing/2014/main" id="{A155DEAD-868B-4ADC-B217-52202EDF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SWA + Gate</a:t>
            </a:r>
          </a:p>
        </p:txBody>
      </p:sp>
      <p:sp>
        <p:nvSpPr>
          <p:cNvPr id="18" name="moe-title">
            <a:extLst xmlns:a="http://schemas.openxmlformats.org/drawingml/2006/main">
              <a:ext uri="{FF2B5EF4-FFF2-40B4-BE49-F238E27FC236}">
                <a16:creationId xmlns:a16="http://schemas.microsoft.com/office/drawing/2014/main" id="{5C5A3C87-7E6D-4D5B-AC5A-85C74371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051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稀疏 MoE</a:t>
            </a:r>
          </a:p>
        </p:txBody>
      </p:sp>
      <p:sp>
        <p:nvSpPr>
          <p:cNvPr id="19" name="ep-title">
            <a:extLst xmlns:a="http://schemas.openxmlformats.org/drawingml/2006/main">
              <a:ext uri="{FF2B5EF4-FFF2-40B4-BE49-F238E27FC236}">
                <a16:creationId xmlns:a16="http://schemas.microsoft.com/office/drawing/2014/main" id="{BD70F3C8-DE43-4FC2-BD4F-E66EBF89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rPr>
              <a:t>EP / EPLB</a:t>
            </a:r>
          </a:p>
        </p:txBody>
      </p:sp>
      <p:sp>
        <p:nvSpPr>
          <p:cNvPr id="20" name="pc-title">
            <a:extLst xmlns:a="http://schemas.openxmlformats.org/drawingml/2006/main">
              <a:ext uri="{FF2B5EF4-FFF2-40B4-BE49-F238E27FC236}">
                <a16:creationId xmlns:a16="http://schemas.microsoft.com/office/drawing/2014/main" id="{9EC73B6D-F91D-46ED-8715-7A74CD59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1051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PaCoRe</a:t>
            </a:r>
          </a:p>
        </p:txBody>
      </p:sp>
      <p:sp>
        <p:nvSpPr>
          <p:cNvPr id="21" name="swa-purpose">
            <a:extLst xmlns:a="http://schemas.openxmlformats.org/drawingml/2006/main">
              <a:ext uri="{FF2B5EF4-FFF2-40B4-BE49-F238E27FC236}">
                <a16:creationId xmlns:a16="http://schemas.microsoft.com/office/drawing/2014/main" id="{6ABC3AA8-D17A-40EC-A6B7-7B4B9B4E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看哪里，注入多少</a:t>
            </a:r>
          </a:p>
        </p:txBody>
      </p:sp>
      <p:sp>
        <p:nvSpPr>
          <p:cNvPr id="22" name="moe-purpose">
            <a:extLst xmlns:a="http://schemas.openxmlformats.org/drawingml/2006/main">
              <a:ext uri="{FF2B5EF4-FFF2-40B4-BE49-F238E27FC236}">
                <a16:creationId xmlns:a16="http://schemas.microsoft.com/office/drawing/2014/main" id="{14FB58C3-62F7-43C1-9817-562A58BA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385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选哪些 FFN 专家</a:t>
            </a:r>
          </a:p>
        </p:txBody>
      </p:sp>
      <p:sp>
        <p:nvSpPr>
          <p:cNvPr id="23" name="ep-purpose">
            <a:extLst xmlns:a="http://schemas.openxmlformats.org/drawingml/2006/main">
              <a:ext uri="{FF2B5EF4-FFF2-40B4-BE49-F238E27FC236}">
                <a16:creationId xmlns:a16="http://schemas.microsoft.com/office/drawing/2014/main" id="{927BC623-6C49-4BCC-A18D-520C780F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分摊热点，减少拖尾</a:t>
            </a:r>
          </a:p>
        </p:txBody>
      </p:sp>
      <p:sp>
        <p:nvSpPr>
          <p:cNvPr id="24" name="pc-purpose">
            <a:extLst xmlns:a="http://schemas.openxmlformats.org/drawingml/2006/main">
              <a:ext uri="{FF2B5EF4-FFF2-40B4-BE49-F238E27FC236}">
                <a16:creationId xmlns:a16="http://schemas.microsoft.com/office/drawing/2014/main" id="{6730B0DC-8706-45BB-AEAC-37F50E09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6385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增加并行与综合预算</a:t>
            </a:r>
          </a:p>
        </p:txBody>
      </p:sp>
      <p:sp>
        <p:nvSpPr>
          <p:cNvPr id="25" name="token-0">
            <a:extLst xmlns:a="http://schemas.openxmlformats.org/drawingml/2006/main">
              <a:ext uri="{FF2B5EF4-FFF2-40B4-BE49-F238E27FC236}">
                <a16:creationId xmlns:a16="http://schemas.microsoft.com/office/drawing/2014/main" id="{3FD578C5-03F8-4C96-8046-335EA0AF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26" name="token-number-0">
            <a:extLst xmlns:a="http://schemas.openxmlformats.org/drawingml/2006/main">
              <a:ext uri="{FF2B5EF4-FFF2-40B4-BE49-F238E27FC236}">
                <a16:creationId xmlns:a16="http://schemas.microsoft.com/office/drawing/2014/main" id="{8FC78B95-2781-4D69-8D35-7538B2E9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oken-1">
            <a:extLst xmlns:a="http://schemas.openxmlformats.org/drawingml/2006/main">
              <a:ext uri="{FF2B5EF4-FFF2-40B4-BE49-F238E27FC236}">
                <a16:creationId xmlns:a16="http://schemas.microsoft.com/office/drawing/2014/main" id="{C98A13C4-6EA9-4499-8C27-C947CBE7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28" name="token-number-1">
            <a:extLst xmlns:a="http://schemas.openxmlformats.org/drawingml/2006/main">
              <a:ext uri="{FF2B5EF4-FFF2-40B4-BE49-F238E27FC236}">
                <a16:creationId xmlns:a16="http://schemas.microsoft.com/office/drawing/2014/main" id="{32E41D54-AF26-42EA-A791-F3A8A681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token-2">
            <a:extLst xmlns:a="http://schemas.openxmlformats.org/drawingml/2006/main">
              <a:ext uri="{FF2B5EF4-FFF2-40B4-BE49-F238E27FC236}">
                <a16:creationId xmlns:a16="http://schemas.microsoft.com/office/drawing/2014/main" id="{109E1F8D-E15B-4853-BC3C-4F5E5D0E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30" name="token-number-2">
            <a:extLst xmlns:a="http://schemas.openxmlformats.org/drawingml/2006/main">
              <a:ext uri="{FF2B5EF4-FFF2-40B4-BE49-F238E27FC236}">
                <a16:creationId xmlns:a16="http://schemas.microsoft.com/office/drawing/2014/main" id="{78194913-5C6F-4938-BF7B-FB53ABE9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token-3">
            <a:extLst xmlns:a="http://schemas.openxmlformats.org/drawingml/2006/main">
              <a:ext uri="{FF2B5EF4-FFF2-40B4-BE49-F238E27FC236}">
                <a16:creationId xmlns:a16="http://schemas.microsoft.com/office/drawing/2014/main" id="{23A00763-3394-44E3-A2C7-FB6C9A81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32" name="token-number-3">
            <a:extLst xmlns:a="http://schemas.openxmlformats.org/drawingml/2006/main">
              <a:ext uri="{FF2B5EF4-FFF2-40B4-BE49-F238E27FC236}">
                <a16:creationId xmlns:a16="http://schemas.microsoft.com/office/drawing/2014/main" id="{6BB65906-C7C4-4C9B-B5DA-52EA6A85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oken-4">
            <a:extLst xmlns:a="http://schemas.openxmlformats.org/drawingml/2006/main">
              <a:ext uri="{FF2B5EF4-FFF2-40B4-BE49-F238E27FC236}">
                <a16:creationId xmlns:a16="http://schemas.microsoft.com/office/drawing/2014/main" id="{BF8287AE-21C5-4B58-B2BE-CAD00E27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34" name="token-number-4">
            <a:extLst xmlns:a="http://schemas.openxmlformats.org/drawingml/2006/main">
              <a:ext uri="{FF2B5EF4-FFF2-40B4-BE49-F238E27FC236}">
                <a16:creationId xmlns:a16="http://schemas.microsoft.com/office/drawing/2014/main" id="{3F7E6DD4-CB15-4D74-8B45-7834B9D5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oken-5">
            <a:extLst xmlns:a="http://schemas.openxmlformats.org/drawingml/2006/main">
              <a:ext uri="{FF2B5EF4-FFF2-40B4-BE49-F238E27FC236}">
                <a16:creationId xmlns:a16="http://schemas.microsoft.com/office/drawing/2014/main" id="{31064296-2C75-4559-8BFD-4AE2FCC7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36" name="token-number-5">
            <a:extLst xmlns:a="http://schemas.openxmlformats.org/drawingml/2006/main">
              <a:ext uri="{FF2B5EF4-FFF2-40B4-BE49-F238E27FC236}">
                <a16:creationId xmlns:a16="http://schemas.microsoft.com/office/drawing/2014/main" id="{E852E340-6C53-421B-A3F0-F509E1C4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7" name="token-6">
            <a:extLst xmlns:a="http://schemas.openxmlformats.org/drawingml/2006/main">
              <a:ext uri="{FF2B5EF4-FFF2-40B4-BE49-F238E27FC236}">
                <a16:creationId xmlns:a16="http://schemas.microsoft.com/office/drawing/2014/main" id="{F89F8AD2-2387-474B-A98A-856EAE67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38" name="token-number-6">
            <a:extLst xmlns:a="http://schemas.openxmlformats.org/drawingml/2006/main">
              <a:ext uri="{FF2B5EF4-FFF2-40B4-BE49-F238E27FC236}">
                <a16:creationId xmlns:a16="http://schemas.microsoft.com/office/drawing/2014/main" id="{AC149C91-CD83-425F-906D-B309C771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token-7">
            <a:extLst xmlns:a="http://schemas.openxmlformats.org/drawingml/2006/main">
              <a:ext uri="{FF2B5EF4-FFF2-40B4-BE49-F238E27FC236}">
                <a16:creationId xmlns:a16="http://schemas.microsoft.com/office/drawing/2014/main" id="{39B35A10-9B98-4420-98DD-BF624067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40" name="token-number-7">
            <a:extLst xmlns:a="http://schemas.openxmlformats.org/drawingml/2006/main">
              <a:ext uri="{FF2B5EF4-FFF2-40B4-BE49-F238E27FC236}">
                <a16:creationId xmlns:a16="http://schemas.microsoft.com/office/drawing/2014/main" id="{63ED4FD9-5B90-46A0-98AC-715B177D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1" name="token-8">
            <a:extLst xmlns:a="http://schemas.openxmlformats.org/drawingml/2006/main">
              <a:ext uri="{FF2B5EF4-FFF2-40B4-BE49-F238E27FC236}">
                <a16:creationId xmlns:a16="http://schemas.microsoft.com/office/drawing/2014/main" id="{24EA50CD-77F1-4B2D-A3C3-6800565C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B5"/>
          </a:solidFill>
          <a:ln xmlns:a="http://schemas.openxmlformats.org/drawingml/2006/main" w="0">
            <a:noFill/>
          </a:ln>
        </p:spPr>
      </p:sp>
      <p:sp>
        <p:nvSpPr>
          <p:cNvPr id="42" name="token-number-8">
            <a:extLst xmlns:a="http://schemas.openxmlformats.org/drawingml/2006/main">
              <a:ext uri="{FF2B5EF4-FFF2-40B4-BE49-F238E27FC236}">
                <a16:creationId xmlns:a16="http://schemas.microsoft.com/office/drawing/2014/main" id="{3C782A0F-C22E-4DCC-BA9A-A26F783F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3" name="token-9">
            <a:extLst xmlns:a="http://schemas.openxmlformats.org/drawingml/2006/main">
              <a:ext uri="{FF2B5EF4-FFF2-40B4-BE49-F238E27FC236}">
                <a16:creationId xmlns:a16="http://schemas.microsoft.com/office/drawing/2014/main" id="{747CA9F2-A3A6-4C73-B582-9245471B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B5"/>
          </a:solidFill>
          <a:ln xmlns:a="http://schemas.openxmlformats.org/drawingml/2006/main" w="0">
            <a:noFill/>
          </a:ln>
        </p:spPr>
      </p:sp>
      <p:sp>
        <p:nvSpPr>
          <p:cNvPr id="44" name="token-number-9">
            <a:extLst xmlns:a="http://schemas.openxmlformats.org/drawingml/2006/main">
              <a:ext uri="{FF2B5EF4-FFF2-40B4-BE49-F238E27FC236}">
                <a16:creationId xmlns:a16="http://schemas.microsoft.com/office/drawing/2014/main" id="{419CDEF5-0433-4A65-AB4D-B8750D35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5" name="token-10">
            <a:extLst xmlns:a="http://schemas.openxmlformats.org/drawingml/2006/main">
              <a:ext uri="{FF2B5EF4-FFF2-40B4-BE49-F238E27FC236}">
                <a16:creationId xmlns:a16="http://schemas.microsoft.com/office/drawing/2014/main" id="{6EB316F2-641A-406A-B4A6-57E5A544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B5"/>
          </a:solidFill>
          <a:ln xmlns:a="http://schemas.openxmlformats.org/drawingml/2006/main" w="0">
            <a:noFill/>
          </a:ln>
        </p:spPr>
      </p:sp>
      <p:sp>
        <p:nvSpPr>
          <p:cNvPr id="46" name="token-number-10">
            <a:extLst xmlns:a="http://schemas.openxmlformats.org/drawingml/2006/main">
              <a:ext uri="{FF2B5EF4-FFF2-40B4-BE49-F238E27FC236}">
                <a16:creationId xmlns:a16="http://schemas.microsoft.com/office/drawing/2014/main" id="{B21A16BC-F76B-49A8-8D9F-89A085E4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7" name="token-11">
            <a:extLst xmlns:a="http://schemas.openxmlformats.org/drawingml/2006/main">
              <a:ext uri="{FF2B5EF4-FFF2-40B4-BE49-F238E27FC236}">
                <a16:creationId xmlns:a16="http://schemas.microsoft.com/office/drawing/2014/main" id="{681575CA-ACFF-4DE0-9E8E-E32D1202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71975"/>
            <a:ext cx="209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B5"/>
          </a:solidFill>
          <a:ln xmlns:a="http://schemas.openxmlformats.org/drawingml/2006/main" w="0">
            <a:noFill/>
          </a:ln>
        </p:spPr>
      </p:sp>
      <p:sp>
        <p:nvSpPr>
          <p:cNvPr id="48" name="token-number-11">
            <a:extLst xmlns:a="http://schemas.openxmlformats.org/drawingml/2006/main">
              <a:ext uri="{FF2B5EF4-FFF2-40B4-BE49-F238E27FC236}">
                <a16:creationId xmlns:a16="http://schemas.microsoft.com/office/drawing/2014/main" id="{96D8B3F2-E5C9-42B2-92A0-16980E8E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148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9" name="window">
            <a:extLst xmlns:a="http://schemas.openxmlformats.org/drawingml/2006/main">
              <a:ext uri="{FF2B5EF4-FFF2-40B4-BE49-F238E27FC236}">
                <a16:creationId xmlns:a16="http://schemas.microsoft.com/office/drawing/2014/main" id="{0EBC5EA9-0E29-488A-9C52-64F27BF3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query 12，窗口 4：直接看 9–12</a:t>
            </a:r>
          </a:p>
        </p:txBody>
      </p:sp>
      <p:sp>
        <p:nvSpPr>
          <p:cNvPr id="50" name="gate-label">
            <a:extLst xmlns:a="http://schemas.openxmlformats.org/drawingml/2006/main">
              <a:ext uri="{FF2B5EF4-FFF2-40B4-BE49-F238E27FC236}">
                <a16:creationId xmlns:a16="http://schemas.microsoft.com/office/drawing/2014/main" id="{324BF66B-4B00-460A-9484-8BE8D40E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head 输出</a:t>
            </a:r>
          </a:p>
        </p:txBody>
      </p:sp>
      <p:sp>
        <p:nvSpPr>
          <p:cNvPr id="51" name="before">
            <a:extLst xmlns:a="http://schemas.openxmlformats.org/drawingml/2006/main">
              <a:ext uri="{FF2B5EF4-FFF2-40B4-BE49-F238E27FC236}">
                <a16:creationId xmlns:a16="http://schemas.microsoft.com/office/drawing/2014/main" id="{0EFC17C9-22D5-4259-8962-AF541A87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0225"/>
            <a:ext cx="1666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DED"/>
          </a:solidFill>
          <a:ln xmlns:a="http://schemas.openxmlformats.org/drawingml/2006/main" w="0">
            <a:noFill/>
          </a:ln>
        </p:spPr>
      </p:sp>
      <p:sp>
        <p:nvSpPr>
          <p:cNvPr id="52" name="gate-after">
            <a:extLst xmlns:a="http://schemas.openxmlformats.org/drawingml/2006/main">
              <a:ext uri="{FF2B5EF4-FFF2-40B4-BE49-F238E27FC236}">
                <a16:creationId xmlns:a16="http://schemas.microsoft.com/office/drawing/2014/main" id="{E8A0A54D-CC2F-4097-9D02-8B586660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gate × 输出</a:t>
            </a:r>
          </a:p>
        </p:txBody>
      </p:sp>
      <p:sp>
        <p:nvSpPr>
          <p:cNvPr id="53" name="after-track">
            <a:extLst xmlns:a="http://schemas.openxmlformats.org/drawingml/2006/main">
              <a:ext uri="{FF2B5EF4-FFF2-40B4-BE49-F238E27FC236}">
                <a16:creationId xmlns:a16="http://schemas.microsoft.com/office/drawing/2014/main" id="{0E2A9178-D74F-4CE2-BC51-8E06E8E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19800"/>
            <a:ext cx="1666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A"/>
          </a:solidFill>
          <a:ln xmlns:a="http://schemas.openxmlformats.org/drawingml/2006/main" w="0">
            <a:noFill/>
          </a:ln>
        </p:spPr>
      </p:sp>
      <p:sp>
        <p:nvSpPr>
          <p:cNvPr id="54" name="after">
            <a:extLst xmlns:a="http://schemas.openxmlformats.org/drawingml/2006/main">
              <a:ext uri="{FF2B5EF4-FFF2-40B4-BE49-F238E27FC236}">
                <a16:creationId xmlns:a16="http://schemas.microsoft.com/office/drawing/2014/main" id="{20D254B2-5686-4184-A4B5-D1F37A8A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19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7"/>
          </a:solidFill>
          <a:ln xmlns:a="http://schemas.openxmlformats.org/drawingml/2006/main" w="0">
            <a:noFill/>
          </a:ln>
        </p:spPr>
      </p:sp>
      <p:sp>
        <p:nvSpPr>
          <p:cNvPr id="55" name="swa-limit">
            <a:extLst xmlns:a="http://schemas.openxmlformats.org/drawingml/2006/main">
              <a:ext uri="{FF2B5EF4-FFF2-40B4-BE49-F238E27FC236}">
                <a16:creationId xmlns:a16="http://schemas.microsoft.com/office/drawing/2014/main" id="{1769721E-952D-45F5-9D8D-FE407CAA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Gate 不改窗口，不跳过计算</a:t>
            </a:r>
          </a:p>
        </p:txBody>
      </p:sp>
      <p:sp>
        <p:nvSpPr>
          <p:cNvPr id="56" name="expert-0">
            <a:extLst xmlns:a="http://schemas.openxmlformats.org/drawingml/2006/main">
              <a:ext uri="{FF2B5EF4-FFF2-40B4-BE49-F238E27FC236}">
                <a16:creationId xmlns:a16="http://schemas.microsoft.com/office/drawing/2014/main" id="{5AA29161-067A-4067-8741-336194BC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624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5B6F83"/>
            </a:solidFill>
          </a:ln>
        </p:spPr>
      </p:sp>
      <p:sp>
        <p:nvSpPr>
          <p:cNvPr id="57" name="expert-0-label">
            <a:extLst xmlns:a="http://schemas.openxmlformats.org/drawingml/2006/main">
              <a:ext uri="{FF2B5EF4-FFF2-40B4-BE49-F238E27FC236}">
                <a16:creationId xmlns:a16="http://schemas.microsoft.com/office/drawing/2014/main" id="{DD9D51DA-263F-436B-B4A5-E029A42B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38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E1</a:t>
            </a:r>
          </a:p>
        </p:txBody>
      </p:sp>
      <p:sp>
        <p:nvSpPr>
          <p:cNvPr id="58" name="expert-1">
            <a:extLst xmlns:a="http://schemas.openxmlformats.org/drawingml/2006/main">
              <a:ext uri="{FF2B5EF4-FFF2-40B4-BE49-F238E27FC236}">
                <a16:creationId xmlns:a16="http://schemas.microsoft.com/office/drawing/2014/main" id="{7274C9F6-1CF4-4A6D-B1E8-4A4A3480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624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F4"/>
          </a:solidFill>
          <a:ln xmlns:a="http://schemas.openxmlformats.org/drawingml/2006/main" w="14288">
            <a:solidFill>
              <a:srgbClr val="7853AC"/>
            </a:solidFill>
          </a:ln>
        </p:spPr>
      </p:sp>
      <p:sp>
        <p:nvSpPr>
          <p:cNvPr id="59" name="expert-1-label">
            <a:extLst xmlns:a="http://schemas.openxmlformats.org/drawingml/2006/main">
              <a:ext uri="{FF2B5EF4-FFF2-40B4-BE49-F238E27FC236}">
                <a16:creationId xmlns:a16="http://schemas.microsoft.com/office/drawing/2014/main" id="{D1240298-4D5C-45C8-9DFA-0BAFBEC9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38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E2</a:t>
            </a:r>
          </a:p>
        </p:txBody>
      </p:sp>
      <p:sp>
        <p:nvSpPr>
          <p:cNvPr id="60" name="expert-2">
            <a:extLst xmlns:a="http://schemas.openxmlformats.org/drawingml/2006/main">
              <a:ext uri="{FF2B5EF4-FFF2-40B4-BE49-F238E27FC236}">
                <a16:creationId xmlns:a16="http://schemas.microsoft.com/office/drawing/2014/main" id="{F021B1DE-B0B6-4C30-91E2-C27A0687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3624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5B6F83"/>
            </a:solidFill>
          </a:ln>
        </p:spPr>
      </p:sp>
      <p:sp>
        <p:nvSpPr>
          <p:cNvPr id="61" name="expert-2-label">
            <a:extLst xmlns:a="http://schemas.openxmlformats.org/drawingml/2006/main">
              <a:ext uri="{FF2B5EF4-FFF2-40B4-BE49-F238E27FC236}">
                <a16:creationId xmlns:a16="http://schemas.microsoft.com/office/drawing/2014/main" id="{A236C352-063E-463E-BE3A-493F9DDE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438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E3</a:t>
            </a:r>
          </a:p>
        </p:txBody>
      </p:sp>
      <p:sp>
        <p:nvSpPr>
          <p:cNvPr id="62" name="expert-3">
            <a:extLst xmlns:a="http://schemas.openxmlformats.org/drawingml/2006/main">
              <a:ext uri="{FF2B5EF4-FFF2-40B4-BE49-F238E27FC236}">
                <a16:creationId xmlns:a16="http://schemas.microsoft.com/office/drawing/2014/main" id="{477ACA7E-8907-4852-98E6-93429636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624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5B6F83"/>
            </a:solidFill>
          </a:ln>
        </p:spPr>
      </p:sp>
      <p:sp>
        <p:nvSpPr>
          <p:cNvPr id="63" name="expert-3-label">
            <a:extLst xmlns:a="http://schemas.openxmlformats.org/drawingml/2006/main">
              <a:ext uri="{FF2B5EF4-FFF2-40B4-BE49-F238E27FC236}">
                <a16:creationId xmlns:a16="http://schemas.microsoft.com/office/drawing/2014/main" id="{E607330C-6189-45E3-8DD5-444DD50B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E4</a:t>
            </a:r>
          </a:p>
        </p:txBody>
      </p:sp>
      <p:sp>
        <p:nvSpPr>
          <p:cNvPr id="64" name="expert-4">
            <a:extLst xmlns:a="http://schemas.openxmlformats.org/drawingml/2006/main">
              <a:ext uri="{FF2B5EF4-FFF2-40B4-BE49-F238E27FC236}">
                <a16:creationId xmlns:a16="http://schemas.microsoft.com/office/drawing/2014/main" id="{D5DD5673-D891-4AA3-BCFC-7A559D94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339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5B6F83"/>
            </a:solidFill>
          </a:ln>
        </p:spPr>
      </p:sp>
      <p:sp>
        <p:nvSpPr>
          <p:cNvPr id="65" name="expert-4-label">
            <a:extLst xmlns:a="http://schemas.openxmlformats.org/drawingml/2006/main">
              <a:ext uri="{FF2B5EF4-FFF2-40B4-BE49-F238E27FC236}">
                <a16:creationId xmlns:a16="http://schemas.microsoft.com/office/drawing/2014/main" id="{45C9011E-2E72-43A4-9D58-C6A2D9CA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10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E5</a:t>
            </a:r>
          </a:p>
        </p:txBody>
      </p:sp>
      <p:sp>
        <p:nvSpPr>
          <p:cNvPr id="66" name="expert-5">
            <a:extLst xmlns:a="http://schemas.openxmlformats.org/drawingml/2006/main">
              <a:ext uri="{FF2B5EF4-FFF2-40B4-BE49-F238E27FC236}">
                <a16:creationId xmlns:a16="http://schemas.microsoft.com/office/drawing/2014/main" id="{CB79A07E-0720-4ADB-920F-9F0F2685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339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F4"/>
          </a:solidFill>
          <a:ln xmlns:a="http://schemas.openxmlformats.org/drawingml/2006/main" w="14288">
            <a:solidFill>
              <a:srgbClr val="7853AC"/>
            </a:solidFill>
          </a:ln>
        </p:spPr>
      </p:sp>
      <p:sp>
        <p:nvSpPr>
          <p:cNvPr id="67" name="expert-5-label">
            <a:extLst xmlns:a="http://schemas.openxmlformats.org/drawingml/2006/main">
              <a:ext uri="{FF2B5EF4-FFF2-40B4-BE49-F238E27FC236}">
                <a16:creationId xmlns:a16="http://schemas.microsoft.com/office/drawing/2014/main" id="{28A0AF6B-A7EF-4B5E-B74A-26981890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10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E6</a:t>
            </a:r>
          </a:p>
        </p:txBody>
      </p:sp>
      <p:sp>
        <p:nvSpPr>
          <p:cNvPr id="68" name="expert-6">
            <a:extLst xmlns:a="http://schemas.openxmlformats.org/drawingml/2006/main">
              <a:ext uri="{FF2B5EF4-FFF2-40B4-BE49-F238E27FC236}">
                <a16:creationId xmlns:a16="http://schemas.microsoft.com/office/drawing/2014/main" id="{1AA60FF8-3869-45E0-BD02-BFF865B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9339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5B6F83"/>
            </a:solidFill>
          </a:ln>
        </p:spPr>
      </p:sp>
      <p:sp>
        <p:nvSpPr>
          <p:cNvPr id="69" name="expert-6-label">
            <a:extLst xmlns:a="http://schemas.openxmlformats.org/drawingml/2006/main">
              <a:ext uri="{FF2B5EF4-FFF2-40B4-BE49-F238E27FC236}">
                <a16:creationId xmlns:a16="http://schemas.microsoft.com/office/drawing/2014/main" id="{2EFCFCC0-4055-4B07-92D8-75735D11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10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E7</a:t>
            </a:r>
          </a:p>
        </p:txBody>
      </p:sp>
      <p:sp>
        <p:nvSpPr>
          <p:cNvPr id="70" name="expert-7">
            <a:extLst xmlns:a="http://schemas.openxmlformats.org/drawingml/2006/main">
              <a:ext uri="{FF2B5EF4-FFF2-40B4-BE49-F238E27FC236}">
                <a16:creationId xmlns:a16="http://schemas.microsoft.com/office/drawing/2014/main" id="{B858CCC9-13E6-4856-892D-9397D33A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339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5B6F83"/>
            </a:solidFill>
          </a:ln>
        </p:spPr>
      </p:sp>
      <p:sp>
        <p:nvSpPr>
          <p:cNvPr id="71" name="expert-7-label">
            <a:extLst xmlns:a="http://schemas.openxmlformats.org/drawingml/2006/main">
              <a:ext uri="{FF2B5EF4-FFF2-40B4-BE49-F238E27FC236}">
                <a16:creationId xmlns:a16="http://schemas.microsoft.com/office/drawing/2014/main" id="{3B68999B-DB4F-47EA-A221-070BBA85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E8</a:t>
            </a:r>
          </a:p>
        </p:txBody>
      </p:sp>
      <p:sp>
        <p:nvSpPr>
          <p:cNvPr id="72" name="expert-8">
            <a:extLst xmlns:a="http://schemas.openxmlformats.org/drawingml/2006/main">
              <a:ext uri="{FF2B5EF4-FFF2-40B4-BE49-F238E27FC236}">
                <a16:creationId xmlns:a16="http://schemas.microsoft.com/office/drawing/2014/main" id="{FD03C121-82B2-46A9-90A7-32B2C979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054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5B6F83"/>
            </a:solidFill>
          </a:ln>
        </p:spPr>
      </p:sp>
      <p:sp>
        <p:nvSpPr>
          <p:cNvPr id="73" name="expert-8-label">
            <a:extLst xmlns:a="http://schemas.openxmlformats.org/drawingml/2006/main">
              <a:ext uri="{FF2B5EF4-FFF2-40B4-BE49-F238E27FC236}">
                <a16:creationId xmlns:a16="http://schemas.microsoft.com/office/drawing/2014/main" id="{D4E7194A-14ED-454C-BFEA-981B27EA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E9</a:t>
            </a:r>
          </a:p>
        </p:txBody>
      </p:sp>
      <p:sp>
        <p:nvSpPr>
          <p:cNvPr id="74" name="expert-9">
            <a:extLst xmlns:a="http://schemas.openxmlformats.org/drawingml/2006/main">
              <a:ext uri="{FF2B5EF4-FFF2-40B4-BE49-F238E27FC236}">
                <a16:creationId xmlns:a16="http://schemas.microsoft.com/office/drawing/2014/main" id="{4FE95F8A-0E9A-4018-960A-4BA5EE5A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054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F4"/>
          </a:solidFill>
          <a:ln xmlns:a="http://schemas.openxmlformats.org/drawingml/2006/main" w="14288">
            <a:solidFill>
              <a:srgbClr val="7853AC"/>
            </a:solidFill>
          </a:ln>
        </p:spPr>
      </p:sp>
      <p:sp>
        <p:nvSpPr>
          <p:cNvPr id="75" name="expert-9-label">
            <a:extLst xmlns:a="http://schemas.openxmlformats.org/drawingml/2006/main">
              <a:ext uri="{FF2B5EF4-FFF2-40B4-BE49-F238E27FC236}">
                <a16:creationId xmlns:a16="http://schemas.microsoft.com/office/drawing/2014/main" id="{0DA33C24-F29F-4CD1-836F-2C9D66EE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581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E10</a:t>
            </a:r>
          </a:p>
        </p:txBody>
      </p:sp>
      <p:sp>
        <p:nvSpPr>
          <p:cNvPr id="76" name="expert-10">
            <a:extLst xmlns:a="http://schemas.openxmlformats.org/drawingml/2006/main">
              <a:ext uri="{FF2B5EF4-FFF2-40B4-BE49-F238E27FC236}">
                <a16:creationId xmlns:a16="http://schemas.microsoft.com/office/drawing/2014/main" id="{938C8FCF-8FAA-4EF6-AF78-E504773A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5054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5B6F83"/>
            </a:solidFill>
          </a:ln>
        </p:spPr>
      </p:sp>
      <p:sp>
        <p:nvSpPr>
          <p:cNvPr id="77" name="expert-10-label">
            <a:extLst xmlns:a="http://schemas.openxmlformats.org/drawingml/2006/main">
              <a:ext uri="{FF2B5EF4-FFF2-40B4-BE49-F238E27FC236}">
                <a16:creationId xmlns:a16="http://schemas.microsoft.com/office/drawing/2014/main" id="{31390C02-0B35-48B1-A1A9-9C9FDE30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581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E11</a:t>
            </a:r>
          </a:p>
        </p:txBody>
      </p:sp>
      <p:sp>
        <p:nvSpPr>
          <p:cNvPr id="78" name="expert-11">
            <a:extLst xmlns:a="http://schemas.openxmlformats.org/drawingml/2006/main">
              <a:ext uri="{FF2B5EF4-FFF2-40B4-BE49-F238E27FC236}">
                <a16:creationId xmlns:a16="http://schemas.microsoft.com/office/drawing/2014/main" id="{D1C76C5B-E614-4B41-9439-3F933BFE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05450"/>
            <a:ext cx="676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5B6F83"/>
            </a:solidFill>
          </a:ln>
        </p:spPr>
      </p:sp>
      <p:sp>
        <p:nvSpPr>
          <p:cNvPr id="79" name="expert-11-label">
            <a:extLst xmlns:a="http://schemas.openxmlformats.org/drawingml/2006/main">
              <a:ext uri="{FF2B5EF4-FFF2-40B4-BE49-F238E27FC236}">
                <a16:creationId xmlns:a16="http://schemas.microsoft.com/office/drawing/2014/main" id="{C16953BF-D690-415B-9801-BAED9D84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E12</a:t>
            </a:r>
          </a:p>
        </p:txBody>
      </p:sp>
      <p:sp>
        <p:nvSpPr>
          <p:cNvPr id="80" name="moe-sum">
            <a:extLst xmlns:a="http://schemas.openxmlformats.org/drawingml/2006/main">
              <a:ext uri="{FF2B5EF4-FFF2-40B4-BE49-F238E27FC236}">
                <a16:creationId xmlns:a16="http://schemas.microsoft.com/office/drawing/2014/main" id="{680D1113-B035-411B-A332-387FB78F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选中专家加权 + shared expert</a:t>
            </a:r>
          </a:p>
        </p:txBody>
      </p:sp>
      <p:sp>
        <p:nvSpPr>
          <p:cNvPr id="81" name="moe-count">
            <a:extLst xmlns:a="http://schemas.openxmlformats.org/drawingml/2006/main">
              <a:ext uri="{FF2B5EF4-FFF2-40B4-BE49-F238E27FC236}">
                <a16:creationId xmlns:a16="http://schemas.microsoft.com/office/drawing/2014/main" id="{0BB87736-8894-4687-884E-42DACF1B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5722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实际：288 / top-8 + 1 shared</a:t>
            </a:r>
          </a:p>
        </p:txBody>
      </p:sp>
      <p:sp>
        <p:nvSpPr>
          <p:cNvPr id="82" name="ep-before">
            <a:extLst xmlns:a="http://schemas.openxmlformats.org/drawingml/2006/main">
              <a:ext uri="{FF2B5EF4-FFF2-40B4-BE49-F238E27FC236}">
                <a16:creationId xmlns:a16="http://schemas.microsoft.com/office/drawing/2014/main" id="{B55BFC2B-E754-447C-B73B-A14BD51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195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rPr>
              <a:t>均衡前</a:t>
            </a:r>
          </a:p>
        </p:txBody>
      </p:sp>
      <p:sp>
        <p:nvSpPr>
          <p:cNvPr id="83" name="rank-before-0">
            <a:extLst xmlns:a="http://schemas.openxmlformats.org/drawingml/2006/main">
              <a:ext uri="{FF2B5EF4-FFF2-40B4-BE49-F238E27FC236}">
                <a16:creationId xmlns:a16="http://schemas.microsoft.com/office/drawing/2014/main" id="{C19C7EE0-6A14-4CF4-BCD4-5DACEA54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67250"/>
            <a:ext cx="6572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A"/>
          </a:solidFill>
          <a:ln xmlns:a="http://schemas.openxmlformats.org/drawingml/2006/main" w="14288">
            <a:solidFill>
              <a:srgbClr val="BC574B"/>
            </a:solidFill>
          </a:ln>
        </p:spPr>
      </p:sp>
      <p:sp>
        <p:nvSpPr>
          <p:cNvPr id="84" name="rank-before-0-label">
            <a:extLst xmlns:a="http://schemas.openxmlformats.org/drawingml/2006/main">
              <a:ext uri="{FF2B5EF4-FFF2-40B4-BE49-F238E27FC236}">
                <a16:creationId xmlns:a16="http://schemas.microsoft.com/office/drawing/2014/main" id="{82ACA9DF-7E53-4693-BF7E-FE740750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504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rPr>
              <a:t>64</a:t>
            </a:r>
          </a:p>
        </p:txBody>
      </p:sp>
      <p:sp>
        <p:nvSpPr>
          <p:cNvPr id="85" name="rank-before-1">
            <a:extLst xmlns:a="http://schemas.openxmlformats.org/drawingml/2006/main">
              <a:ext uri="{FF2B5EF4-FFF2-40B4-BE49-F238E27FC236}">
                <a16:creationId xmlns:a16="http://schemas.microsoft.com/office/drawing/2014/main" id="{5B5BF933-209E-4112-8C84-9DD0E6C1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67250"/>
            <a:ext cx="6572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A"/>
          </a:solidFill>
          <a:ln xmlns:a="http://schemas.openxmlformats.org/drawingml/2006/main" w="14288">
            <a:solidFill>
              <a:srgbClr val="BC574B"/>
            </a:solidFill>
          </a:ln>
        </p:spPr>
      </p:sp>
      <p:sp>
        <p:nvSpPr>
          <p:cNvPr id="86" name="rank-before-1-label">
            <a:extLst xmlns:a="http://schemas.openxmlformats.org/drawingml/2006/main">
              <a:ext uri="{FF2B5EF4-FFF2-40B4-BE49-F238E27FC236}">
                <a16:creationId xmlns:a16="http://schemas.microsoft.com/office/drawing/2014/main" id="{61E4FB99-2EE3-4736-8A46-DACA281B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43450"/>
            <a:ext cx="504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87" name="rank-before-2">
            <a:extLst xmlns:a="http://schemas.openxmlformats.org/drawingml/2006/main">
              <a:ext uri="{FF2B5EF4-FFF2-40B4-BE49-F238E27FC236}">
                <a16:creationId xmlns:a16="http://schemas.microsoft.com/office/drawing/2014/main" id="{9B0C7883-4F8F-4ECA-B413-E7F3278A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67250"/>
            <a:ext cx="6572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A"/>
          </a:solidFill>
          <a:ln xmlns:a="http://schemas.openxmlformats.org/drawingml/2006/main" w="14288">
            <a:solidFill>
              <a:srgbClr val="BC574B"/>
            </a:solidFill>
          </a:ln>
        </p:spPr>
      </p:sp>
      <p:sp>
        <p:nvSpPr>
          <p:cNvPr id="88" name="rank-before-2-label">
            <a:extLst xmlns:a="http://schemas.openxmlformats.org/drawingml/2006/main">
              <a:ext uri="{FF2B5EF4-FFF2-40B4-BE49-F238E27FC236}">
                <a16:creationId xmlns:a16="http://schemas.microsoft.com/office/drawing/2014/main" id="{88BDB5DA-C6C1-4D85-9EE9-57B34809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43450"/>
            <a:ext cx="504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9" name="rank-before-3">
            <a:extLst xmlns:a="http://schemas.openxmlformats.org/drawingml/2006/main">
              <a:ext uri="{FF2B5EF4-FFF2-40B4-BE49-F238E27FC236}">
                <a16:creationId xmlns:a16="http://schemas.microsoft.com/office/drawing/2014/main" id="{7F438215-F160-42DE-B101-C21611E8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667250"/>
            <a:ext cx="6572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A"/>
          </a:solidFill>
          <a:ln xmlns:a="http://schemas.openxmlformats.org/drawingml/2006/main" w="14288">
            <a:solidFill>
              <a:srgbClr val="BC574B"/>
            </a:solidFill>
          </a:ln>
        </p:spPr>
      </p:sp>
      <p:sp>
        <p:nvSpPr>
          <p:cNvPr id="90" name="rank-before-3-label">
            <a:extLst xmlns:a="http://schemas.openxmlformats.org/drawingml/2006/main">
              <a:ext uri="{FF2B5EF4-FFF2-40B4-BE49-F238E27FC236}">
                <a16:creationId xmlns:a16="http://schemas.microsoft.com/office/drawing/2014/main" id="{29822E8B-C285-4328-943F-887A7591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743450"/>
            <a:ext cx="504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91" name="ep-after">
            <a:extLst xmlns:a="http://schemas.openxmlformats.org/drawingml/2006/main">
              <a:ext uri="{FF2B5EF4-FFF2-40B4-BE49-F238E27FC236}">
                <a16:creationId xmlns:a16="http://schemas.microsoft.com/office/drawing/2014/main" id="{3B3650FB-FCA1-48DF-A1A3-5D0AC7FA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91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均衡后</a:t>
            </a:r>
          </a:p>
        </p:txBody>
      </p:sp>
      <p:sp>
        <p:nvSpPr>
          <p:cNvPr id="92" name="rank-after-0">
            <a:extLst xmlns:a="http://schemas.openxmlformats.org/drawingml/2006/main">
              <a:ext uri="{FF2B5EF4-FFF2-40B4-BE49-F238E27FC236}">
                <a16:creationId xmlns:a16="http://schemas.microsoft.com/office/drawing/2014/main" id="{D3A7D591-4DE5-4AFE-AADA-51CEB777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19775"/>
            <a:ext cx="6572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4288">
            <a:solidFill>
              <a:srgbClr val="187665"/>
            </a:solidFill>
          </a:ln>
        </p:spPr>
      </p:sp>
      <p:sp>
        <p:nvSpPr>
          <p:cNvPr id="93" name="rank-after-0-label">
            <a:extLst xmlns:a="http://schemas.openxmlformats.org/drawingml/2006/main">
              <a:ext uri="{FF2B5EF4-FFF2-40B4-BE49-F238E27FC236}">
                <a16:creationId xmlns:a16="http://schemas.microsoft.com/office/drawing/2014/main" id="{93EEF578-4D59-459A-B7C6-63AD8FAB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95975"/>
            <a:ext cx="504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94" name="rank-after-1">
            <a:extLst xmlns:a="http://schemas.openxmlformats.org/drawingml/2006/main">
              <a:ext uri="{FF2B5EF4-FFF2-40B4-BE49-F238E27FC236}">
                <a16:creationId xmlns:a16="http://schemas.microsoft.com/office/drawing/2014/main" id="{E2BCD8F5-419D-43BB-92DA-CCD5D96D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819775"/>
            <a:ext cx="6572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4288">
            <a:solidFill>
              <a:srgbClr val="187665"/>
            </a:solidFill>
          </a:ln>
        </p:spPr>
      </p:sp>
      <p:sp>
        <p:nvSpPr>
          <p:cNvPr id="95" name="rank-after-1-label">
            <a:extLst xmlns:a="http://schemas.openxmlformats.org/drawingml/2006/main">
              <a:ext uri="{FF2B5EF4-FFF2-40B4-BE49-F238E27FC236}">
                <a16:creationId xmlns:a16="http://schemas.microsoft.com/office/drawing/2014/main" id="{8D32662C-4339-4C73-AAD2-6CE0A39C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95975"/>
            <a:ext cx="504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96" name="rank-after-2">
            <a:extLst xmlns:a="http://schemas.openxmlformats.org/drawingml/2006/main">
              <a:ext uri="{FF2B5EF4-FFF2-40B4-BE49-F238E27FC236}">
                <a16:creationId xmlns:a16="http://schemas.microsoft.com/office/drawing/2014/main" id="{A5F7B50C-C9DF-4450-AA2D-3A01092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819775"/>
            <a:ext cx="6572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4288">
            <a:solidFill>
              <a:srgbClr val="187665"/>
            </a:solidFill>
          </a:ln>
        </p:spPr>
      </p:sp>
      <p:sp>
        <p:nvSpPr>
          <p:cNvPr id="97" name="rank-after-2-label">
            <a:extLst xmlns:a="http://schemas.openxmlformats.org/drawingml/2006/main">
              <a:ext uri="{FF2B5EF4-FFF2-40B4-BE49-F238E27FC236}">
                <a16:creationId xmlns:a16="http://schemas.microsoft.com/office/drawing/2014/main" id="{71A4362C-00F9-41F7-8A93-5CF4F632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895975"/>
            <a:ext cx="504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98" name="rank-after-3">
            <a:extLst xmlns:a="http://schemas.openxmlformats.org/drawingml/2006/main">
              <a:ext uri="{FF2B5EF4-FFF2-40B4-BE49-F238E27FC236}">
                <a16:creationId xmlns:a16="http://schemas.microsoft.com/office/drawing/2014/main" id="{211FEA6B-1185-4C92-A7C1-589FD016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19775"/>
            <a:ext cx="6572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4288">
            <a:solidFill>
              <a:srgbClr val="187665"/>
            </a:solidFill>
          </a:ln>
        </p:spPr>
      </p:sp>
      <p:sp>
        <p:nvSpPr>
          <p:cNvPr id="99" name="rank-after-3-label">
            <a:extLst xmlns:a="http://schemas.openxmlformats.org/drawingml/2006/main">
              <a:ext uri="{FF2B5EF4-FFF2-40B4-BE49-F238E27FC236}">
                <a16:creationId xmlns:a16="http://schemas.microsoft.com/office/drawing/2014/main" id="{9AB8F17D-4A52-45EE-83EA-D5B3B8FB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895975"/>
            <a:ext cx="504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100" name="ep-count">
            <a:extLst xmlns:a="http://schemas.openxmlformats.org/drawingml/2006/main">
              <a:ext uri="{FF2B5EF4-FFF2-40B4-BE49-F238E27FC236}">
                <a16:creationId xmlns:a16="http://schemas.microsoft.com/office/drawing/2014/main" id="{A91F780A-6F57-436B-9F13-5FAAE5B3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5532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4 ranks，128 次分配的示意</a:t>
            </a:r>
          </a:p>
        </p:txBody>
      </p:sp>
      <p:sp>
        <p:nvSpPr>
          <p:cNvPr id="101" name="pc-parallel">
            <a:extLst xmlns:a="http://schemas.openxmlformats.org/drawingml/2006/main">
              <a:ext uri="{FF2B5EF4-FFF2-40B4-BE49-F238E27FC236}">
                <a16:creationId xmlns:a16="http://schemas.microsoft.com/office/drawing/2014/main" id="{77B2858C-CADA-4F52-9B2D-208FCFF0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4210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多条推理轨迹</a:t>
            </a:r>
          </a:p>
        </p:txBody>
      </p:sp>
      <p:sp>
        <p:nvSpPr>
          <p:cNvPr id="102" name="trajectory-0">
            <a:extLst xmlns:a="http://schemas.openxmlformats.org/drawingml/2006/main">
              <a:ext uri="{FF2B5EF4-FFF2-40B4-BE49-F238E27FC236}">
                <a16:creationId xmlns:a16="http://schemas.microsoft.com/office/drawing/2014/main" id="{7FA3C0BC-1581-4CC3-B1C1-61BE9D43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657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53AC"/>
          </a:solidFill>
          <a:ln xmlns:a="http://schemas.openxmlformats.org/drawingml/2006/main" w="0">
            <a:noFill/>
          </a:ln>
        </p:spPr>
      </p:sp>
      <p:sp>
        <p:nvSpPr>
          <p:cNvPr id="103" name="trajectory-1">
            <a:extLst xmlns:a="http://schemas.openxmlformats.org/drawingml/2006/main">
              <a:ext uri="{FF2B5EF4-FFF2-40B4-BE49-F238E27FC236}">
                <a16:creationId xmlns:a16="http://schemas.microsoft.com/office/drawing/2014/main" id="{2A93387C-2B09-4878-89FE-7EF4FFBD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657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53AC"/>
          </a:solidFill>
          <a:ln xmlns:a="http://schemas.openxmlformats.org/drawingml/2006/main" w="0">
            <a:noFill/>
          </a:ln>
        </p:spPr>
      </p:sp>
      <p:sp>
        <p:nvSpPr>
          <p:cNvPr id="104" name="trajectory-2">
            <a:extLst xmlns:a="http://schemas.openxmlformats.org/drawingml/2006/main">
              <a:ext uri="{FF2B5EF4-FFF2-40B4-BE49-F238E27FC236}">
                <a16:creationId xmlns:a16="http://schemas.microsoft.com/office/drawing/2014/main" id="{77DA9E87-A550-4996-8BAC-E7AC5B62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657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53AC"/>
          </a:solidFill>
          <a:ln xmlns:a="http://schemas.openxmlformats.org/drawingml/2006/main" w="0">
            <a:noFill/>
          </a:ln>
        </p:spPr>
      </p:sp>
      <p:sp>
        <p:nvSpPr>
          <p:cNvPr id="105" name="trajectory-3">
            <a:extLst xmlns:a="http://schemas.openxmlformats.org/drawingml/2006/main">
              <a:ext uri="{FF2B5EF4-FFF2-40B4-BE49-F238E27FC236}">
                <a16:creationId xmlns:a16="http://schemas.microsoft.com/office/drawing/2014/main" id="{AFD7186A-392E-4010-9B54-7460FA50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657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53AC"/>
          </a:solidFill>
          <a:ln xmlns:a="http://schemas.openxmlformats.org/drawingml/2006/main" w="0">
            <a:noFill/>
          </a:ln>
        </p:spPr>
      </p:sp>
      <p:cxnSp>
        <p:nvCxnSpPr>
          <p:cNvPr id="106" name="pc-1">
            <a:extLst xmlns:a="http://schemas.openxmlformats.org/drawingml/2006/main">
              <a:ext uri="{FF2B5EF4-FFF2-40B4-BE49-F238E27FC236}">
                <a16:creationId xmlns:a16="http://schemas.microsoft.com/office/drawing/2014/main" id="{EF345603-6445-4EF3-9D01-06F769ECF218}"/>
              </a:ext>
            </a:extLst>
          </p:cNvPr>
          <p:cNvCxnSpPr/>
          <p:nvPr/>
        </p:nvCxnSpPr>
        <p:spPr>
          <a:xfrm xmlns:a="http://schemas.openxmlformats.org/drawingml/2006/main">
            <a:off x="12830175" y="49625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53AC"/>
            </a:solidFill>
            <a:tailEnd type="arrow" w="med" len="med"/>
          </a:ln>
        </p:spPr>
      </p:cxnSp>
      <p:sp>
        <p:nvSpPr>
          <p:cNvPr id="107" name="pc-extract">
            <a:extLst xmlns:a="http://schemas.openxmlformats.org/drawingml/2006/main">
              <a:ext uri="{FF2B5EF4-FFF2-40B4-BE49-F238E27FC236}">
                <a16:creationId xmlns:a16="http://schemas.microsoft.com/office/drawing/2014/main" id="{6CD88E93-2C1F-42DD-9633-846FA35F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52387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rPr>
              <a:t>提取各条最终结论</a:t>
            </a:r>
          </a:p>
        </p:txBody>
      </p:sp>
      <p:sp>
        <p:nvSpPr>
          <p:cNvPr id="108" name="conclusion-0">
            <a:extLst xmlns:a="http://schemas.openxmlformats.org/drawingml/2006/main">
              <a:ext uri="{FF2B5EF4-FFF2-40B4-BE49-F238E27FC236}">
                <a16:creationId xmlns:a16="http://schemas.microsoft.com/office/drawing/2014/main" id="{F66BEC07-7DF5-4D94-ACAE-A4A3C95B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5657850"/>
            <a:ext cx="628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7"/>
          </a:solidFill>
          <a:ln xmlns:a="http://schemas.openxmlformats.org/drawingml/2006/main" w="0">
            <a:noFill/>
          </a:ln>
        </p:spPr>
      </p:sp>
      <p:sp>
        <p:nvSpPr>
          <p:cNvPr id="109" name="conclusion-1">
            <a:extLst xmlns:a="http://schemas.openxmlformats.org/drawingml/2006/main">
              <a:ext uri="{FF2B5EF4-FFF2-40B4-BE49-F238E27FC236}">
                <a16:creationId xmlns:a16="http://schemas.microsoft.com/office/drawing/2014/main" id="{0B26E030-A27C-45A4-99D2-35730EAE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657850"/>
            <a:ext cx="628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7"/>
          </a:solidFill>
          <a:ln xmlns:a="http://schemas.openxmlformats.org/drawingml/2006/main" w="0">
            <a:noFill/>
          </a:ln>
        </p:spPr>
      </p:sp>
      <p:sp>
        <p:nvSpPr>
          <p:cNvPr id="110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DB486B79-21C4-478C-86B6-E40E9932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5657850"/>
            <a:ext cx="628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7"/>
          </a:solidFill>
          <a:ln xmlns:a="http://schemas.openxmlformats.org/drawingml/2006/main" w="0">
            <a:noFill/>
          </a:ln>
        </p:spPr>
      </p:sp>
      <p:sp>
        <p:nvSpPr>
          <p:cNvPr id="111" name="conclusion-3">
            <a:extLst xmlns:a="http://schemas.openxmlformats.org/drawingml/2006/main">
              <a:ext uri="{FF2B5EF4-FFF2-40B4-BE49-F238E27FC236}">
                <a16:creationId xmlns:a16="http://schemas.microsoft.com/office/drawing/2014/main" id="{5FDB6305-FC00-46F9-AFCA-DDD7DEA4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657850"/>
            <a:ext cx="628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7"/>
          </a:solidFill>
          <a:ln xmlns:a="http://schemas.openxmlformats.org/drawingml/2006/main" w="0">
            <a:noFill/>
          </a:ln>
        </p:spPr>
      </p:sp>
      <p:cxnSp>
        <p:nvCxnSpPr>
          <p:cNvPr id="112" name="pc-2">
            <a:extLst xmlns:a="http://schemas.openxmlformats.org/drawingml/2006/main">
              <a:ext uri="{FF2B5EF4-FFF2-40B4-BE49-F238E27FC236}">
                <a16:creationId xmlns:a16="http://schemas.microsoft.com/office/drawing/2014/main" id="{FBD84519-1362-4479-B50A-0BCBC9E909DE}"/>
              </a:ext>
            </a:extLst>
          </p:cNvPr>
          <p:cNvCxnSpPr/>
          <p:nvPr/>
        </p:nvCxnSpPr>
        <p:spPr>
          <a:xfrm xmlns:a="http://schemas.openxmlformats.org/drawingml/2006/main">
            <a:off x="12830175" y="58864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53AC"/>
            </a:solidFill>
            <a:tailEnd type="arrow" w="med" len="med"/>
          </a:ln>
        </p:spPr>
      </p:cxnSp>
      <p:sp>
        <p:nvSpPr>
          <p:cNvPr id="113" name="pc-synthesis">
            <a:extLst xmlns:a="http://schemas.openxmlformats.org/drawingml/2006/main">
              <a:ext uri="{FF2B5EF4-FFF2-40B4-BE49-F238E27FC236}">
                <a16:creationId xmlns:a16="http://schemas.microsoft.com/office/drawing/2014/main" id="{6600F4FC-CE2A-4A67-B662-BAAFE8CE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1912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下一轮综合，最终单条答案</a:t>
            </a:r>
          </a:p>
        </p:txBody>
      </p:sp>
      <p:sp>
        <p:nvSpPr>
          <p:cNvPr id="114" name="pc-limit">
            <a:extLst xmlns:a="http://schemas.openxmlformats.org/drawingml/2006/main">
              <a:ext uri="{FF2B5EF4-FFF2-40B4-BE49-F238E27FC236}">
                <a16:creationId xmlns:a16="http://schemas.microsoft.com/office/drawing/2014/main" id="{E007CDD2-C74F-4702-84ED-65E81748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591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更多 TTC，非通用降成本</a:t>
            </a:r>
          </a:p>
        </p:txBody>
      </p:sp>
      <p:sp>
        <p:nvSpPr>
          <p:cNvPr id="115" name="stepcode">
            <a:extLst xmlns:a="http://schemas.openxmlformats.org/drawingml/2006/main">
              <a:ext uri="{FF2B5EF4-FFF2-40B4-BE49-F238E27FC236}">
                <a16:creationId xmlns:a16="http://schemas.microsoft.com/office/drawing/2014/main" id="{59FA65B7-86F6-48C5-AF6D-F455D228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48525"/>
            <a:ext cx="1381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Step-Code：Skills / Plugin / MCP，独立子 Agent 上下文，Goal / cron，StepPage 发布与回滚</a:t>
            </a:r>
          </a:p>
        </p:txBody>
      </p:sp>
      <p:sp>
        <p:nvSpPr>
          <p:cNvPr id="116" name="scope">
            <a:extLst xmlns:a="http://schemas.openxmlformats.org/drawingml/2006/main">
              <a:ext uri="{FF2B5EF4-FFF2-40B4-BE49-F238E27FC236}">
                <a16:creationId xmlns:a16="http://schemas.microsoft.com/office/drawing/2014/main" id="{49F6872C-C7B7-4A79-952B-F7B5FFCD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819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结构依据为 Step 3.5/3.7。Step 5 已确认 600B/27B、1M 上下文、64K 输出，具体结构未核实。图中负载与轨迹为缩小示意</a:t>
            </a:r>
          </a:p>
        </p:txBody>
      </p:sp>
    </p:spTree>
    <p:extLst>
      <p:ext uri="{BB962C8B-B14F-4D97-AF65-F5344CB8AC3E}">
        <p14:creationId xmlns:p14="http://schemas.microsoft.com/office/powerpoint/2010/main" val="1445145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2026-10-11T16:47:50.5530000Z</dcterms:created>
  <dcterms:modified xsi:type="dcterms:W3CDTF">2026-10-11T16:47:50.5530000Z</dcterms:modified>
</coreProperties>
</file>