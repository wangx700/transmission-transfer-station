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d4d39abb0f451e" /><Relationship Type="http://schemas.openxmlformats.org/officeDocument/2006/relationships/extended-properties" Target="/docProps/app.xml" Id="R4da1d036e9ce4f30" /><Relationship Type="http://schemas.openxmlformats.org/officeDocument/2006/relationships/officeDocument" Target="/ppt/presentation.xml" Id="R0d76ea121ccc48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072afcc3e7468a"/>
  </p:sldMasterIdLst>
  <p:notesMasterIdLst>
    <p:notesMasterId xmlns:r="http://schemas.openxmlformats.org/officeDocument/2006/relationships" r:id="Rc5383c84a8c5482f"/>
  </p:notesMasterIdLst>
  <p:sldIdLst>
    <p:sldId xmlns:r="http://schemas.openxmlformats.org/officeDocument/2006/relationships" id="256" r:id="Rb1f33b9f7c234fcf"/>
    <p:sldId xmlns:r="http://schemas.openxmlformats.org/officeDocument/2006/relationships" id="257" r:id="Re52ac33894434c5e"/>
    <p:sldId xmlns:r="http://schemas.openxmlformats.org/officeDocument/2006/relationships" id="258" r:id="R7676219ffb2e4ae5"/>
    <p:sldId xmlns:r="http://schemas.openxmlformats.org/officeDocument/2006/relationships" id="259" r:id="R07e3bdd855b646e5"/>
    <p:sldId xmlns:r="http://schemas.openxmlformats.org/officeDocument/2006/relationships" id="260" r:id="R789dbfa6eb4c4d15"/>
    <p:sldId xmlns:r="http://schemas.openxmlformats.org/officeDocument/2006/relationships" id="261" r:id="Ra61ffea053284ac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230f7857734fe0" /><Relationship Type="http://schemas.openxmlformats.org/officeDocument/2006/relationships/slideMaster" Target="/ppt/slideMasters/slideMaster1.xml" Id="Rd3072afcc3e7468a" /><Relationship Type="http://schemas.openxmlformats.org/officeDocument/2006/relationships/notesMaster" Target="/ppt/notesMasters/notesMaster1.xml" Id="Rc5383c84a8c5482f" /><Relationship Type="http://schemas.openxmlformats.org/officeDocument/2006/relationships/presProps" Target="/ppt/presProps.xml" Id="R974035e121d84281" /><Relationship Type="http://schemas.openxmlformats.org/officeDocument/2006/relationships/tableStyles" Target="/ppt/tableStyles.xml" Id="Rf777dd745b0746de" /><Relationship Type="http://schemas.openxmlformats.org/officeDocument/2006/relationships/slide" Target="/ppt/slides/slide1.xml" Id="Rb1f33b9f7c234fcf" /><Relationship Type="http://schemas.openxmlformats.org/officeDocument/2006/relationships/slide" Target="/ppt/slides/slide2.xml" Id="Re52ac33894434c5e" /><Relationship Type="http://schemas.openxmlformats.org/officeDocument/2006/relationships/slide" Target="/ppt/slides/slide3.xml" Id="R7676219ffb2e4ae5" /><Relationship Type="http://schemas.openxmlformats.org/officeDocument/2006/relationships/slide" Target="/ppt/slides/slide4.xml" Id="R07e3bdd855b646e5" /><Relationship Type="http://schemas.openxmlformats.org/officeDocument/2006/relationships/slide" Target="/ppt/slides/slide5.xml" Id="R789dbfa6eb4c4d15" /><Relationship Type="http://schemas.openxmlformats.org/officeDocument/2006/relationships/slide" Target="/ppt/slides/slide6.xml" Id="Ra61ffea053284a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2f8ad091104e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793962caf64e1b" /><Relationship Type="http://schemas.openxmlformats.org/officeDocument/2006/relationships/notesMaster" Target="/ppt/notesMasters/notesMaster1.xml" Id="Rec042a564e7e45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a91410b31f42db" /><Relationship Type="http://schemas.openxmlformats.org/officeDocument/2006/relationships/notesMaster" Target="/ppt/notesMasters/notesMaster1.xml" Id="R86b8bedb393549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a975dda47e444d" /><Relationship Type="http://schemas.openxmlformats.org/officeDocument/2006/relationships/notesMaster" Target="/ppt/notesMasters/notesMaster1.xml" Id="Re50cd2a7372a48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6865f96c2f4177" /><Relationship Type="http://schemas.openxmlformats.org/officeDocument/2006/relationships/notesMaster" Target="/ppt/notesMasters/notesMaster1.xml" Id="Ra4f230279af842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4f937a36e544ea" /><Relationship Type="http://schemas.openxmlformats.org/officeDocument/2006/relationships/notesMaster" Target="/ppt/notesMasters/notesMaster1.xml" Id="R9f8780fef2a546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313f57f317478b" /><Relationship Type="http://schemas.openxmlformats.org/officeDocument/2006/relationships/notesMaster" Target="/ppt/notesMasters/notesMaster1.xml" Id="R5d752a6d4a6546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资料复核2026-10-12。3.5论文196B/11B主干与含MTP198B/13B口径不同。3.7约198B来自196B语言+1.8B视觉，与3.5含MTP198B不能混用。图示主干层+生成分支简化，不表示所有层MoE或MTP是普通串行主干层。</a:t>
            </a:r>
          </a:p>
          <a:p xmlns:a="http://schemas.openxmlformats.org/drawingml/2006/main">
            <a:r>
              <a:t>https://arxiv.org/html/2602.10604v2</a:t>
            </a:r>
          </a:p>
          <a:p xmlns:a="http://schemas.openxmlformats.org/drawingml/2006/main">
            <a:r>
              <a:t>https://huggingface.co/stepfun-ai/Step-3.7-Flash/blob/main/config.json</a:t>
            </a:r>
          </a:p>
          <a:p xmlns:a="http://schemas.openxmlformats.org/drawingml/2006/main">
            <a:r>
              <a:t>https://huggingface.co/stepfun-ai/Step-3.7-Flash/blob/main/modeling_step3p7.py</a:t>
            </a:r>
          </a:p>
          <a:p xmlns:a="http://schemas.openxmlformats.org/drawingml/2006/main">
            <a:r>
              <a:t>https://platform.stepfun.ai/docs/en/guides/models/step-5-preview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截图来自此前交互可视化，保留query12、window4、gate0.25示意。原HTML不变。head输出门控后o_proj，不是输入或attention score门控。</a:t>
            </a:r>
          </a:p>
          <a:p xmlns:a="http://schemas.openxmlformats.org/drawingml/2006/main">
            <a:r>
              <a:t>https://huggingface.co/stepfun-ai/Step-3.7-Flash/blob/main/config.json</a:t>
            </a:r>
          </a:p>
          <a:p xmlns:a="http://schemas.openxmlformats.org/drawingml/2006/main">
            <a:r>
              <a:t>https://huggingface.co/stepfun-ai/Step-3.7-Flash/blob/main/modeling_step3p7.py#L686</a:t>
            </a:r>
          </a:p>
          <a:p xmlns:a="http://schemas.openxmlformats.org/drawingml/2006/main">
            <a:r>
              <a:t>https://arxiv.org/html/2602.10604v2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图中专家编号和权重是教学示例，不对应业务专家。降低激活计算不等于免除全部权重存储，EP/EPLB需另测负载与通信。</a:t>
            </a:r>
          </a:p>
          <a:p xmlns:a="http://schemas.openxmlformats.org/drawingml/2006/main">
            <a:r>
              <a:t>https://arxiv.org/html/2602.10604v2</a:t>
            </a:r>
          </a:p>
          <a:p xmlns:a="http://schemas.openxmlformats.org/drawingml/2006/main">
            <a:r>
              <a:t>https://huggingface.co/stepfun-ai/Step-3.7-Flash/blob/main/modeling_step3p7.py#L537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2026-10-12复核。EP是专家并行，不是自动均衡。Step3.5论文全局loss-free bias与microbatch EP rank loss为训练机制，推理文件有bias不证明在线动态更新。EPLB是服务侧物理专家重排/复制与逻辑到物理映射，等价副本权重需一致，不通过更改逻辑top-k或质量语义强制分流。分配数64/32/16/16至32/32/32/32仅是4rank共128次assignment理想化示意，不保证任意batch与placement可完全均衡。T公式忽略计算通信重叠，不能视为硬件预测。</a:t>
            </a:r>
          </a:p>
          <a:p xmlns:a="http://schemas.openxmlformats.org/drawingml/2006/main">
            <a:r>
              <a:t>模型证据：https://arxiv.org/html/2602.10604v2</a:t>
            </a:r>
          </a:p>
          <a:p xmlns:a="http://schemas.openxmlformats.org/drawingml/2006/main">
            <a:r>
              <a:t>https://huggingface.co/stepfun-ai/Step-3.7-Flash/blob/main/modeling_step3p7.py#L537</a:t>
            </a:r>
          </a:p>
          <a:p xmlns:a="http://schemas.openxmlformats.org/drawingml/2006/main">
            <a:r>
              <a:t>服务端证据：https://docs.vllm.ai/en/latest/serving/expert_parallel_deployment/</a:t>
            </a:r>
          </a:p>
          <a:p xmlns:a="http://schemas.openxmlformats.org/drawingml/2006/main">
            <a:r>
              <a:t>代码接口：EplbState.step()记录/触发，rearrange()按负载规划与搬移专家，更新physical_to_logical_map，后续执行用等价物理副本。</a:t>
            </a:r>
          </a:p>
          <a:p xmlns:a="http://schemas.openxmlformats.org/drawingml/2006/main">
            <a:r>
              <a:t>https://docs.vllm.ai/en/latest/api/vllm/distributed/eplb/eplb_state/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PaCoRe采用同一模型权重跨轮推理，多轨迹提取最终结论，丢弃中间推导后作为下一轮输入，最终单轨迹综合。Low[4]，Medium[16]，High[32,4]之后最终单条。outcome reward训练综合、冲突处理与纠错。HMMT数值来自论文，模型训练与推理配置有变化，不归因纯并发。总TTC跨轨迹累计不是单次上下文，不能按节省成本宣传。未证明Step5使用PaCoRe。</a:t>
            </a:r>
          </a:p>
          <a:p xmlns:a="http://schemas.openxmlformats.org/drawingml/2006/main">
            <a:r>
              <a:t>https://arxiv.org/html/2601.05593v1</a:t>
            </a:r>
          </a:p>
          <a:p xmlns:a="http://schemas.openxmlformats.org/drawingml/2006/main">
            <a:r>
              <a:t>https://github.com/stepfun-ai/PaCoRe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简列组件，不详细介绍，不作模型独有性与效果因果证明。Step-Code提供skills、plugins、MCP、多agent、goal、cron与StepPage。API能力由Step5文档明确tool calling、reasoning_effort low/medium/high、JSONMode/Schema。</a:t>
            </a:r>
          </a:p>
          <a:p xmlns:a="http://schemas.openxmlformats.org/drawingml/2006/main">
            <a:r>
              <a:t>https://github.com/stepfun-ai/Step-Code</a:t>
            </a:r>
          </a:p>
          <a:p xmlns:a="http://schemas.openxmlformats.org/drawingml/2006/main">
            <a:r>
              <a:t>https://github.com/stepfun-ai/Step-Code/blob/main/packages/coding-agent/src/core/skills.ts</a:t>
            </a:r>
          </a:p>
          <a:p xmlns:a="http://schemas.openxmlformats.org/drawingml/2006/main">
            <a:r>
              <a:t>https://github.com/stepfun-ai/Step-Code/blob/main/packages/coding-agent/src/step/plugins.ts</a:t>
            </a:r>
          </a:p>
          <a:p xmlns:a="http://schemas.openxmlformats.org/drawingml/2006/main">
            <a:r>
              <a:t>https://github.com/stepfun-ai/Step-Code/blob/main/docs/goal-lifecycle.md</a:t>
            </a:r>
          </a:p>
          <a:p xmlns:a="http://schemas.openxmlformats.org/drawingml/2006/main">
            <a:r>
              <a:t>https://platform.stepfun.ai/docs/en/guides/models/step-5-preview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cd7e460fc47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482bcd67d4d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d4bb7f17c4a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59a32531240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811ec317540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0106e79624e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299CBE-CD2B-4485-ABFC-91E113723C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B878A2-4581-44ED-A0D8-80B7247690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3B8559-D240-41AE-B999-1E8FCF6FF8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A0803E-6AFB-4534-AC34-E43A346A81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F778A7C-6900-4244-A806-3D9BEB3492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E543B9-0851-46E5-8D72-9A60CF55E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3678E9-7206-4E13-8546-6D813D583E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78CDA4-372C-42F5-8678-FB4CE65333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BFAB6C-C946-468C-B8BB-98009897D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184F07-1A2D-4B4F-A3E5-F2724339C5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6ec865037c4f1a" /><Relationship Type="http://schemas.openxmlformats.org/officeDocument/2006/relationships/slideLayout" Target="/ppt/slideLayouts/slideLayout1.xml" Id="R3b85f7b9b684418e" /><Relationship Type="http://schemas.openxmlformats.org/officeDocument/2006/relationships/slideLayout" Target="/ppt/slideLayouts/slideLayout2.xml" Id="Rc6a0a955a9ea4436" /><Relationship Type="http://schemas.openxmlformats.org/officeDocument/2006/relationships/slideLayout" Target="/ppt/slideLayouts/slideLayout3.xml" Id="Rfdc5237c4844442c" /><Relationship Type="http://schemas.openxmlformats.org/officeDocument/2006/relationships/slideLayout" Target="/ppt/slideLayouts/slideLayout4.xml" Id="R1867aca5bcbe4655" /><Relationship Type="http://schemas.openxmlformats.org/officeDocument/2006/relationships/slideLayout" Target="/ppt/slideLayouts/slideLayout5.xml" Id="R914421f89a6b4f30" /><Relationship Type="http://schemas.openxmlformats.org/officeDocument/2006/relationships/slideLayout" Target="/ppt/slideLayouts/slideLayout6.xml" Id="R352a61d4eae249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85f7b9b684418e"/>
    <p:sldLayoutId xmlns:r="http://schemas.openxmlformats.org/officeDocument/2006/relationships" id="2147483650" r:id="Rc6a0a955a9ea4436"/>
    <p:sldLayoutId xmlns:r="http://schemas.openxmlformats.org/officeDocument/2006/relationships" id="2147483651" r:id="Rfdc5237c4844442c"/>
    <p:sldLayoutId xmlns:r="http://schemas.openxmlformats.org/officeDocument/2006/relationships" id="2147483652" r:id="R1867aca5bcbe4655"/>
    <p:sldLayoutId xmlns:r="http://schemas.openxmlformats.org/officeDocument/2006/relationships" id="2147483653" r:id="R914421f89a6b4f30"/>
    <p:sldLayoutId xmlns:r="http://schemas.openxmlformats.org/officeDocument/2006/relationships" id="2147483654" r:id="R352a61d4eae249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1f20f6a974e95" /><Relationship Type="http://schemas.openxmlformats.org/officeDocument/2006/relationships/notesSlide" Target="/ppt/notesSlides/notesSlide1.xml" Id="R6b927a1e61e14b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deea24e8684563" /><Relationship Type="http://schemas.openxmlformats.org/officeDocument/2006/relationships/image" Target="/ppt/media/image.png" Id="R5b8f729cac5d4f38" /><Relationship Type="http://schemas.openxmlformats.org/officeDocument/2006/relationships/image" Target="/ppt/media/image2.png" Id="R72e1cf852ec24627" /><Relationship Type="http://schemas.openxmlformats.org/officeDocument/2006/relationships/notesSlide" Target="/ppt/notesSlides/notesSlide2.xml" Id="R6e1a3420e78e46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38e10668c74e3c" /><Relationship Type="http://schemas.openxmlformats.org/officeDocument/2006/relationships/image" Target="/ppt/media/image3.png" Id="Rb07988ac248b4f5f" /><Relationship Type="http://schemas.openxmlformats.org/officeDocument/2006/relationships/notesSlide" Target="/ppt/notesSlides/notesSlide3.xml" Id="Rdd646ed81bd84d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cad64ef52f4f50" /><Relationship Type="http://schemas.openxmlformats.org/officeDocument/2006/relationships/notesSlide" Target="/ppt/notesSlides/notesSlide4.xml" Id="R0a73feff6ffc4d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bc5a2b7a648c0" /><Relationship Type="http://schemas.openxmlformats.org/officeDocument/2006/relationships/image" Target="/ppt/media/image4.png" Id="Rda30cb1f038e40c8" /><Relationship Type="http://schemas.openxmlformats.org/officeDocument/2006/relationships/notesSlide" Target="/ppt/notesSlides/notesSlide5.xml" Id="R872cf385b77f48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cc393995d4931" /><Relationship Type="http://schemas.openxmlformats.org/officeDocument/2006/relationships/notesSlide" Target="/ppt/notesSlides/notesSlide6.xml" Id="Re87852b588a748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CB01DB-AE96-477F-B3D5-3BF48D4135F8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202055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5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C99BA-8A00-4C1C-9D3D-27BA05E8961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06780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5"/>
            </a:solidFill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48BED-2C59-4558-8584-125DC4764C2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11505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5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B8316-1996-4968-B3C5-7AE94F6D624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62300" y="38100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5"/>
            </a:solidFill>
            <a:tailEnd type="arrow" w="med" len="med"/>
          </a:ln>
        </p:spPr>
      </p:cxnSp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C05B1CC4-ECCA-4BA2-8A28-FC148BDB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3.5 / 3.7 模型结构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4962AD-BE9B-4012-9232-489FD216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语言主干同源，Step 3.7 增加视觉编码器与 projector。结构参数与统计口径分别说明</a:t>
            </a:r>
          </a:p>
        </p:txBody>
      </p:sp>
      <p:sp>
        <p:nvSpPr>
          <p:cNvPr id="3" name="params">
            <a:extLst xmlns:a="http://schemas.openxmlformats.org/drawingml/2006/main">
              <a:ext uri="{FF2B5EF4-FFF2-40B4-BE49-F238E27FC236}">
                <a16:creationId xmlns:a16="http://schemas.microsoft.com/office/drawing/2014/main" id="{431E002D-1C23-4176-BF8C-557228F1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3.5 主干 196B / 11B 激活       3.7 标称约 198B / 约 11B 激活       hidden size 4096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6CA87D16-9A9D-4734-A146-ABAF68AD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9050">
            <a:solidFill>
              <a:srgbClr val="2475B5"/>
            </a:solidFill>
          </a:ln>
        </p:spPr>
      </p:sp>
      <p:sp>
        <p:nvSpPr>
          <p:cNvPr id="5" name="input-head">
            <a:extLst xmlns:a="http://schemas.openxmlformats.org/drawingml/2006/main">
              <a:ext uri="{FF2B5EF4-FFF2-40B4-BE49-F238E27FC236}">
                <a16:creationId xmlns:a16="http://schemas.microsoft.com/office/drawing/2014/main" id="{B4B56640-9CF9-44F8-ABE2-AC9E34E0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38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输入嵌入</a:t>
            </a:r>
          </a:p>
        </p:txBody>
      </p:sp>
      <p:sp>
        <p:nvSpPr>
          <p:cNvPr id="6" name="input-body">
            <a:extLst xmlns:a="http://schemas.openxmlformats.org/drawingml/2006/main">
              <a:ext uri="{FF2B5EF4-FFF2-40B4-BE49-F238E27FC236}">
                <a16:creationId xmlns:a16="http://schemas.microsoft.com/office/drawing/2014/main" id="{DD01A67C-8DDB-4B29-96CF-A44F8F3B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6712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文本 tokens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3.7 可接视觉特征</a:t>
            </a:r>
          </a:p>
        </p:txBody>
      </p:sp>
      <p:sp>
        <p:nvSpPr>
          <p:cNvPr id="7" name="dense">
            <a:extLst xmlns:a="http://schemas.openxmlformats.org/drawingml/2006/main">
              <a:ext uri="{FF2B5EF4-FFF2-40B4-BE49-F238E27FC236}">
                <a16:creationId xmlns:a16="http://schemas.microsoft.com/office/drawing/2014/main" id="{7D394B08-BF79-409B-AA96-5304B84E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9562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9050">
            <a:solidFill>
              <a:srgbClr val="2475B5"/>
            </a:solidFill>
          </a:ln>
        </p:spPr>
      </p:sp>
      <p:sp>
        <p:nvSpPr>
          <p:cNvPr id="8" name="dense-head">
            <a:extLst xmlns:a="http://schemas.openxmlformats.org/drawingml/2006/main">
              <a:ext uri="{FF2B5EF4-FFF2-40B4-BE49-F238E27FC236}">
                <a16:creationId xmlns:a16="http://schemas.microsoft.com/office/drawing/2014/main" id="{C91BC3F7-1565-4E68-83A7-ADFEFC95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38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前 3 层</a:t>
            </a:r>
          </a:p>
        </p:txBody>
      </p:sp>
      <p:sp>
        <p:nvSpPr>
          <p:cNvPr id="9" name="dense-body">
            <a:extLst xmlns:a="http://schemas.openxmlformats.org/drawingml/2006/main">
              <a:ext uri="{FF2B5EF4-FFF2-40B4-BE49-F238E27FC236}">
                <a16:creationId xmlns:a16="http://schemas.microsoft.com/office/drawing/2014/main" id="{F28C9898-21DC-4E06-9062-125D4772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671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Dense FFN</a:t>
            </a:r>
          </a:p>
        </p:txBody>
      </p:sp>
      <p:sp>
        <p:nvSpPr>
          <p:cNvPr id="10" name="moe">
            <a:extLst xmlns:a="http://schemas.openxmlformats.org/drawingml/2006/main">
              <a:ext uri="{FF2B5EF4-FFF2-40B4-BE49-F238E27FC236}">
                <a16:creationId xmlns:a16="http://schemas.microsoft.com/office/drawing/2014/main" id="{61303048-8622-4632-A8F9-B646B95F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9562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F8"/>
          </a:solidFill>
          <a:ln xmlns:a="http://schemas.openxmlformats.org/drawingml/2006/main" w="19050">
            <a:solidFill>
              <a:srgbClr val="7853AC"/>
            </a:solidFill>
          </a:ln>
        </p:spPr>
      </p:sp>
      <p:sp>
        <p:nvSpPr>
          <p:cNvPr id="11" name="moe-head">
            <a:extLst xmlns:a="http://schemas.openxmlformats.org/drawingml/2006/main">
              <a:ext uri="{FF2B5EF4-FFF2-40B4-BE49-F238E27FC236}">
                <a16:creationId xmlns:a16="http://schemas.microsoft.com/office/drawing/2014/main" id="{F1DABEDB-22B0-4107-BFD3-0B00032F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238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后 42 层</a:t>
            </a:r>
          </a:p>
        </p:txBody>
      </p:sp>
      <p:sp>
        <p:nvSpPr>
          <p:cNvPr id="12" name="moe-body">
            <a:extLst xmlns:a="http://schemas.openxmlformats.org/drawingml/2006/main">
              <a:ext uri="{FF2B5EF4-FFF2-40B4-BE49-F238E27FC236}">
                <a16:creationId xmlns:a16="http://schemas.microsoft.com/office/drawing/2014/main" id="{C6096477-BD02-408C-9520-888BEFB0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671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稀疏 MoE FFN</a:t>
            </a:r>
          </a:p>
        </p:txBody>
      </p:sp>
      <p:sp>
        <p:nvSpPr>
          <p:cNvPr id="13" name="head">
            <a:extLst xmlns:a="http://schemas.openxmlformats.org/drawingml/2006/main">
              <a:ext uri="{FF2B5EF4-FFF2-40B4-BE49-F238E27FC236}">
                <a16:creationId xmlns:a16="http://schemas.microsoft.com/office/drawing/2014/main" id="{E7CB5BC7-507F-4B3F-8871-8A207285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95625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9050">
            <a:solidFill>
              <a:srgbClr val="2475B5"/>
            </a:solidFill>
          </a:ln>
        </p:spPr>
      </p:sp>
      <p:sp>
        <p:nvSpPr>
          <p:cNvPr id="14" name="head-head">
            <a:extLst xmlns:a="http://schemas.openxmlformats.org/drawingml/2006/main">
              <a:ext uri="{FF2B5EF4-FFF2-40B4-BE49-F238E27FC236}">
                <a16:creationId xmlns:a16="http://schemas.microsoft.com/office/drawing/2014/main" id="{BC23141C-9DCE-4080-84FD-DEEFB810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238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输出层</a:t>
            </a:r>
          </a:p>
        </p:txBody>
      </p:sp>
      <p:sp>
        <p:nvSpPr>
          <p:cNvPr id="15" name="head-body">
            <a:extLst xmlns:a="http://schemas.openxmlformats.org/drawingml/2006/main">
              <a:ext uri="{FF2B5EF4-FFF2-40B4-BE49-F238E27FC236}">
                <a16:creationId xmlns:a16="http://schemas.microsoft.com/office/drawing/2014/main" id="{0BDE3F7D-D9FC-451C-90CE-80785508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6671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归一化与 LM Head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预测下一 token</a:t>
            </a:r>
          </a:p>
        </p:txBody>
      </p:sp>
      <p:sp>
        <p:nvSpPr>
          <p:cNvPr id="16" name="mtp">
            <a:extLst xmlns:a="http://schemas.openxmlformats.org/drawingml/2006/main">
              <a:ext uri="{FF2B5EF4-FFF2-40B4-BE49-F238E27FC236}">
                <a16:creationId xmlns:a16="http://schemas.microsoft.com/office/drawing/2014/main" id="{0408FA4B-F98A-47F3-8D1C-E148838F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09562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3"/>
          </a:solidFill>
          <a:ln xmlns:a="http://schemas.openxmlformats.org/drawingml/2006/main" w="19050">
            <a:solidFill>
              <a:srgbClr val="C87817"/>
            </a:solidFill>
          </a:ln>
        </p:spPr>
      </p:sp>
      <p:sp>
        <p:nvSpPr>
          <p:cNvPr id="17" name="mtp-head">
            <a:extLst xmlns:a="http://schemas.openxmlformats.org/drawingml/2006/main">
              <a:ext uri="{FF2B5EF4-FFF2-40B4-BE49-F238E27FC236}">
                <a16:creationId xmlns:a16="http://schemas.microsoft.com/office/drawing/2014/main" id="{747211FB-280A-4125-A321-A0F4E5B7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3238500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rPr>
              <a:t>MTP</a:t>
            </a:r>
          </a:p>
        </p:txBody>
      </p:sp>
      <p:sp>
        <p:nvSpPr>
          <p:cNvPr id="18" name="mtp-body">
            <a:extLst xmlns:a="http://schemas.openxmlformats.org/drawingml/2006/main">
              <a:ext uri="{FF2B5EF4-FFF2-40B4-BE49-F238E27FC236}">
                <a16:creationId xmlns:a16="http://schemas.microsoft.com/office/drawing/2014/main" id="{C4411CEB-DEAA-44AA-9383-0A37C41B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3667125"/>
            <a:ext cx="1857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 个预测层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候选与目标验证</a:t>
            </a:r>
          </a:p>
        </p:txBody>
      </p:sp>
      <p:sp>
        <p:nvSpPr>
          <p:cNvPr id="23" name="repetition">
            <a:extLst xmlns:a="http://schemas.openxmlformats.org/drawingml/2006/main">
              <a:ext uri="{FF2B5EF4-FFF2-40B4-BE49-F238E27FC236}">
                <a16:creationId xmlns:a16="http://schemas.microsoft.com/office/drawing/2014/main" id="{C5BDFF60-E4DB-4EBC-8EBB-7D911474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381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主干共 45 层。图示省略各层归一化与残差路径，MTP 单列为生成加速分支</a:t>
            </a:r>
          </a:p>
        </p:txBody>
      </p:sp>
      <p:sp>
        <p:nvSpPr>
          <p:cNvPr id="24" name="attention">
            <a:extLst xmlns:a="http://schemas.openxmlformats.org/drawingml/2006/main">
              <a:ext uri="{FF2B5EF4-FFF2-40B4-BE49-F238E27FC236}">
                <a16:creationId xmlns:a16="http://schemas.microsoft.com/office/drawing/2014/main" id="{CB81F826-2413-423A-AAF1-5921D53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Attention：33 SWA + 12 Full，window 512，逐 head 输出门控</a:t>
            </a:r>
          </a:p>
        </p:txBody>
      </p:sp>
      <p:sp>
        <p:nvSpPr>
          <p:cNvPr id="25" name="heads">
            <a:extLst xmlns:a="http://schemas.openxmlformats.org/drawingml/2006/main">
              <a:ext uri="{FF2B5EF4-FFF2-40B4-BE49-F238E27FC236}">
                <a16:creationId xmlns:a16="http://schemas.microsoft.com/office/drawing/2014/main" id="{9C30441D-75DC-4204-A10D-70A05516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381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Query heads：Full 64 / SWA 96，KV heads 8，head dim 128</a:t>
            </a:r>
          </a:p>
        </p:txBody>
      </p:sp>
      <p:sp>
        <p:nvSpPr>
          <p:cNvPr id="26" name="experts">
            <a:extLst xmlns:a="http://schemas.openxmlformats.org/drawingml/2006/main">
              <a:ext uri="{FF2B5EF4-FFF2-40B4-BE49-F238E27FC236}">
                <a16:creationId xmlns:a16="http://schemas.microsoft.com/office/drawing/2014/main" id="{8C512A32-A9D1-40E6-A194-BA14AC07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381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MoE：每层 288 routed，top-8 + 1 shared，expert intermediate size 1280</a:t>
            </a:r>
          </a:p>
        </p:txBody>
      </p:sp>
      <p:sp>
        <p:nvSpPr>
          <p:cNvPr id="27" name="vision">
            <a:extLst xmlns:a="http://schemas.openxmlformats.org/drawingml/2006/main">
              <a:ext uri="{FF2B5EF4-FFF2-40B4-BE49-F238E27FC236}">
                <a16:creationId xmlns:a16="http://schemas.microsoft.com/office/drawing/2014/main" id="{F2C17B96-BCE0-4A79-9B7F-3C21C668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57975"/>
            <a:ext cx="1381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3.7 视觉：47 层、约 1.8B 的编码器，经 projector 接入语言主干</a:t>
            </a:r>
          </a:p>
        </p:txBody>
      </p:sp>
      <p:sp>
        <p:nvSpPr>
          <p:cNvPr id="28" name="step5">
            <a:extLst xmlns:a="http://schemas.openxmlformats.org/drawingml/2006/main">
              <a:ext uri="{FF2B5EF4-FFF2-40B4-BE49-F238E27FC236}">
                <a16:creationId xmlns:a16="http://schemas.microsoft.com/office/drawing/2014/main" id="{C49D8FAC-82A9-46E0-AE67-29056F8F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10450"/>
            <a:ext cx="1381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Step 5：已确认 600B / 27B 稀疏 MoE、1M 上下文、64K 输出。层数、attention、专家数与 MTP 尚未核实</a:t>
            </a:r>
          </a:p>
        </p:txBody>
      </p:sp>
    </p:spTree>
    <p:extLst>
      <p:ext uri="{BB962C8B-B14F-4D97-AF65-F5344CB8AC3E}">
        <p14:creationId xmlns:p14="http://schemas.microsoft.com/office/powerpoint/2010/main" val="1763559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868A27A6-141C-45B5-873C-3DAFFAF9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滑动窗口注意力与 Gated SWA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E52A32-8ED3-4D37-934B-DD5C7601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SWA 控制看哪里，Gate 控制每个 head 读到的信息注入多少</a:t>
            </a:r>
          </a:p>
        </p:txBody>
      </p:sp>
      <p:sp>
        <p:nvSpPr>
          <p:cNvPr id="3" name="swa-label">
            <a:extLst xmlns:a="http://schemas.openxmlformats.org/drawingml/2006/main">
              <a:ext uri="{FF2B5EF4-FFF2-40B4-BE49-F238E27FC236}">
                <a16:creationId xmlns:a16="http://schemas.microsoft.com/office/drawing/2014/main" id="{92A0127A-7D35-41AC-8C58-ADBC84C9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滑动窗口：当前 query 12，示意窗口 4</a:t>
            </a:r>
          </a:p>
        </p:txBody>
      </p:sp>
      <p:sp>
        <p:nvSpPr>
          <p:cNvPr id="4" name="gate-label">
            <a:extLst xmlns:a="http://schemas.openxmlformats.org/drawingml/2006/main">
              <a:ext uri="{FF2B5EF4-FFF2-40B4-BE49-F238E27FC236}">
                <a16:creationId xmlns:a16="http://schemas.microsoft.com/office/drawing/2014/main" id="{D77CE193-8BCF-4F63-863F-C2E0822E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rPr>
              <a:t>输出门控：示意 gate = 0.25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99FAC-DBBD-45B2-8066-FFD81483B8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f729cac5d4f38"/>
          <a:stretch xmlns:a="http://schemas.openxmlformats.org/drawingml/2006/main"/>
        </p:blipFill>
        <p:spPr>
          <a:xfrm xmlns:a="http://schemas.openxmlformats.org/drawingml/2006/main">
            <a:off x="685800" y="2656731"/>
            <a:ext cx="7524750" cy="4021038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690F7-3691-45A9-A0EE-AE79CE9295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1cf852ec24627"/>
          <a:stretch xmlns:a="http://schemas.openxmlformats.org/drawingml/2006/main"/>
        </p:blipFill>
        <p:spPr>
          <a:xfrm xmlns:a="http://schemas.openxmlformats.org/drawingml/2006/main">
            <a:off x="8705850" y="3685282"/>
            <a:ext cx="5857875" cy="1830586"/>
          </a:xfrm>
          <a:prstGeom xmlns:a="http://schemas.openxmlformats.org/drawingml/2006/main" prst="rect">
            <a:avLst/>
          </a:prstGeom>
        </p:spPr>
      </p:pic>
      <p:sp>
        <p:nvSpPr>
          <p:cNvPr id="7" name="swa-note">
            <a:extLst xmlns:a="http://schemas.openxmlformats.org/drawingml/2006/main">
              <a:ext uri="{FF2B5EF4-FFF2-40B4-BE49-F238E27FC236}">
                <a16:creationId xmlns:a16="http://schemas.microsoft.com/office/drawing/2014/main" id="{BB2B903A-55E6-4EDD-965C-0914685A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1825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Full 直接看 1–12，SWA 直接看 9–12</a:t>
            </a:r>
          </a:p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3.5/3.7 混合局部与全局层，保留全局交互路径</a:t>
            </a:r>
          </a:p>
        </p:txBody>
      </p:sp>
      <p:sp>
        <p:nvSpPr>
          <p:cNvPr id="8" name="gate-note">
            <a:extLst xmlns:a="http://schemas.openxmlformats.org/drawingml/2006/main">
              <a:ext uri="{FF2B5EF4-FFF2-40B4-BE49-F238E27FC236}">
                <a16:creationId xmlns:a16="http://schemas.microsoft.com/office/drawing/2014/main" id="{811116C6-7A66-434D-897A-876D9A5E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981825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sigmoid(W_gate × hidden) × head 输出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Gate 不改变窗口，也不自动跳过 attention</a:t>
            </a:r>
          </a:p>
        </p:txBody>
      </p:sp>
      <p:sp>
        <p:nvSpPr>
          <p:cNvPr id="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AA4B182-E0AF-401B-AE7C-DEA80DF5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10525"/>
            <a:ext cx="1381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矩阵、gate 与输出幅度为原交互图的静态示意。实际 window=512，33 SWA + 12 Full。复核于 2026-10-12</a:t>
            </a:r>
          </a:p>
        </p:txBody>
      </p:sp>
    </p:spTree>
    <p:extLst>
      <p:ext uri="{BB962C8B-B14F-4D97-AF65-F5344CB8AC3E}">
        <p14:creationId xmlns:p14="http://schemas.microsoft.com/office/powerpoint/2010/main" val="260996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6AD6F72-D79E-4C60-88DC-ABE3DE0A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稀疏 MoE：选择参与计算的 FFN 专家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54ABCD-6703-4E36-A006-807CE6F2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Router 为每个 token 选择少数专家，加权合并结果。不同 token 与不同层可以使用不同专家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026BE-24A0-4280-B94F-86C8B60FF9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988ac248b4f5f"/>
          <a:stretch xmlns:a="http://schemas.openxmlformats.org/drawingml/2006/main"/>
        </p:blipFill>
        <p:spPr>
          <a:xfrm xmlns:a="http://schemas.openxmlformats.org/drawingml/2006/main">
            <a:off x="685800" y="2459038"/>
            <a:ext cx="9906000" cy="4911725"/>
          </a:xfrm>
          <a:prstGeom xmlns:a="http://schemas.openxmlformats.org/drawingml/2006/main" prst="rect">
            <a:avLst/>
          </a:prstGeom>
        </p:spPr>
      </p:pic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DD67F99A-5694-4532-B12A-4E592C76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33625"/>
            <a:ext cx="3476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实际结构</a:t>
            </a:r>
          </a:p>
        </p:txBody>
      </p:sp>
      <p:sp>
        <p:nvSpPr>
          <p:cNvPr id="5" name="actual">
            <a:extLst xmlns:a="http://schemas.openxmlformats.org/drawingml/2006/main">
              <a:ext uri="{FF2B5EF4-FFF2-40B4-BE49-F238E27FC236}">
                <a16:creationId xmlns:a16="http://schemas.microsoft.com/office/drawing/2014/main" id="{9CAF9D2D-E71C-4483-9B48-71A2B4ED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05125"/>
            <a:ext cx="3476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288 routed experts</a:t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top-8 + 1 shared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图中缩小为 12 / top-3</a:t>
            </a:r>
          </a:p>
        </p:txBody>
      </p:sp>
      <p:sp>
        <p:nvSpPr>
          <p:cNvPr id="6" name="semantics">
            <a:extLst xmlns:a="http://schemas.openxmlformats.org/drawingml/2006/main">
              <a:ext uri="{FF2B5EF4-FFF2-40B4-BE49-F238E27FC236}">
                <a16:creationId xmlns:a16="http://schemas.microsoft.com/office/drawing/2014/main" id="{E73700EF-6F15-4474-A548-4AEB6E20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053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技术边界</a:t>
            </a:r>
          </a:p>
        </p:txBody>
      </p:sp>
      <p:sp>
        <p:nvSpPr>
          <p:cNvPr id="7" name="limits">
            <a:extLst xmlns:a="http://schemas.openxmlformats.org/drawingml/2006/main">
              <a:ext uri="{FF2B5EF4-FFF2-40B4-BE49-F238E27FC236}">
                <a16:creationId xmlns:a16="http://schemas.microsoft.com/office/drawing/2014/main" id="{D2BC0765-7766-457F-A95F-F026D3B0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86400"/>
            <a:ext cx="3476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专家为 FFN 子网络</a:t>
            </a:r>
          </a:p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未激活权重仍需存储</a:t>
            </a:r>
          </a:p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跨卡通信与负载影响速度</a:t>
            </a:r>
          </a:p>
        </p:txBody>
      </p:sp>
      <p:sp>
        <p:nvSpPr>
          <p:cNvPr id="8" name="router-note">
            <a:extLst xmlns:a="http://schemas.openxmlformats.org/drawingml/2006/main">
              <a:ext uri="{FF2B5EF4-FFF2-40B4-BE49-F238E27FC236}">
                <a16:creationId xmlns:a16="http://schemas.microsoft.com/office/drawing/2014/main" id="{143600BF-99D7-463A-A97B-692881EC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48575"/>
            <a:ext cx="1381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接口：hidden 经 router 的 FP32 sigmoid 得分，bias 参与选专家，合并权重取未加 bias 的概率并归一/缩放</a:t>
            </a:r>
          </a:p>
        </p:txBody>
      </p:sp>
    </p:spTree>
    <p:extLst>
      <p:ext uri="{BB962C8B-B14F-4D97-AF65-F5344CB8AC3E}">
        <p14:creationId xmlns:p14="http://schemas.microsoft.com/office/powerpoint/2010/main" val="3723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27FC8-5F39-4AE5-9A87-8B226825739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34550" y="33956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88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D5EFC-7A62-4588-A558-BE9C3A81805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924425" y="33956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F88"/>
            </a:solidFill>
            <a:tailEnd type="arrow" w="med" len="med"/>
          </a:ln>
        </p:spPr>
      </p:cxnSp>
      <p:sp>
        <p:nvSpPr>
          <p:cNvPr id="46" name="title">
            <a:extLst xmlns:a="http://schemas.openxmlformats.org/drawingml/2006/main">
              <a:ext uri="{FF2B5EF4-FFF2-40B4-BE49-F238E27FC236}">
                <a16:creationId xmlns:a16="http://schemas.microsoft.com/office/drawing/2014/main" id="{05A56CE0-C852-4300-841A-A5C206B7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EP 均衡：减少最慢 rank 拖尾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69649A-593B-4A95-90A7-B53A846E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专家分布在不同 rank 上，当前批次的专家调用偏斜会让部分设备更忙，其他设备等待</a:t>
            </a:r>
          </a:p>
        </p:txBody>
      </p:sp>
      <p:sp>
        <p:nvSpPr>
          <p:cNvPr id="3" name="training">
            <a:extLst xmlns:a="http://schemas.openxmlformats.org/drawingml/2006/main">
              <a:ext uri="{FF2B5EF4-FFF2-40B4-BE49-F238E27FC236}">
                <a16:creationId xmlns:a16="http://schemas.microsoft.com/office/drawing/2014/main" id="{788B16CE-1C27-4E41-8DF3-854487D3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525"/>
            <a:ext cx="1381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rPr>
              <a:t>Step 3.5 训练：全局 loss-free bias 平衡专家，micro-batch rank 辅助损失约束设备级偏斜</a:t>
            </a:r>
          </a:p>
        </p:txBody>
      </p:sp>
      <p:sp>
        <p:nvSpPr>
          <p:cNvPr id="4" name="load">
            <a:extLst xmlns:a="http://schemas.openxmlformats.org/drawingml/2006/main">
              <a:ext uri="{FF2B5EF4-FFF2-40B4-BE49-F238E27FC236}">
                <a16:creationId xmlns:a16="http://schemas.microsoft.com/office/drawing/2014/main" id="{C08BE99C-8BD7-4951-9330-23A5C689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238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9050">
            <a:solidFill>
              <a:srgbClr val="137F88"/>
            </a:solidFill>
          </a:ln>
        </p:spPr>
      </p:sp>
      <p:sp>
        <p:nvSpPr>
          <p:cNvPr id="5" name="load-head">
            <a:extLst xmlns:a="http://schemas.openxmlformats.org/drawingml/2006/main">
              <a:ext uri="{FF2B5EF4-FFF2-40B4-BE49-F238E27FC236}">
                <a16:creationId xmlns:a16="http://schemas.microsoft.com/office/drawing/2014/main" id="{47989B05-9172-4C75-9FE7-5A733F77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43225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rPr>
              <a:t>推理侧统计负载</a:t>
            </a:r>
          </a:p>
        </p:txBody>
      </p:sp>
      <p:sp>
        <p:nvSpPr>
          <p:cNvPr id="6" name="load-body">
            <a:extLst xmlns:a="http://schemas.openxmlformats.org/drawingml/2006/main">
              <a:ext uri="{FF2B5EF4-FFF2-40B4-BE49-F238E27FC236}">
                <a16:creationId xmlns:a16="http://schemas.microsoft.com/office/drawing/2014/main" id="{DB41A555-51A9-49D3-9022-8FE44F7A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71850"/>
            <a:ext cx="3952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统计 token–expert 分配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按层观察热点与各 rank 耗时</a:t>
            </a:r>
          </a:p>
        </p:txBody>
      </p:sp>
      <p:sp>
        <p:nvSpPr>
          <p:cNvPr id="7" name="layout">
            <a:extLst xmlns:a="http://schemas.openxmlformats.org/drawingml/2006/main">
              <a:ext uri="{FF2B5EF4-FFF2-40B4-BE49-F238E27FC236}">
                <a16:creationId xmlns:a16="http://schemas.microsoft.com/office/drawing/2014/main" id="{9D364A27-82FE-4DAA-8E23-B17F5414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00350"/>
            <a:ext cx="4238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9050">
            <a:solidFill>
              <a:srgbClr val="137F88"/>
            </a:solidFill>
          </a:ln>
        </p:spPr>
      </p:sp>
      <p:sp>
        <p:nvSpPr>
          <p:cNvPr id="8" name="layout-head">
            <a:extLst xmlns:a="http://schemas.openxmlformats.org/drawingml/2006/main">
              <a:ext uri="{FF2B5EF4-FFF2-40B4-BE49-F238E27FC236}">
                <a16:creationId xmlns:a16="http://schemas.microsoft.com/office/drawing/2014/main" id="{2BFC1418-ACD2-4F70-B6EB-8B99B77D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43225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rPr>
              <a:t>重排与热点专家复制</a:t>
            </a:r>
          </a:p>
        </p:txBody>
      </p:sp>
      <p:sp>
        <p:nvSpPr>
          <p:cNvPr id="9" name="layout-body">
            <a:extLst xmlns:a="http://schemas.openxmlformats.org/drawingml/2006/main">
              <a:ext uri="{FF2B5EF4-FFF2-40B4-BE49-F238E27FC236}">
                <a16:creationId xmlns:a16="http://schemas.microsoft.com/office/drawing/2014/main" id="{16BBB373-8BB3-4A08-83EC-59E23394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71850"/>
            <a:ext cx="3952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调整专家的物理放置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热点专家配置等价权重副本</a:t>
            </a:r>
          </a:p>
        </p:txBody>
      </p:sp>
      <p:sp>
        <p:nvSpPr>
          <p:cNvPr id="10" name="dispatch">
            <a:extLst xmlns:a="http://schemas.openxmlformats.org/drawingml/2006/main">
              <a:ext uri="{FF2B5EF4-FFF2-40B4-BE49-F238E27FC236}">
                <a16:creationId xmlns:a16="http://schemas.microsoft.com/office/drawing/2014/main" id="{E01D09B9-A223-4F03-A53A-CD3CBE4D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00350"/>
            <a:ext cx="4238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19050">
            <a:solidFill>
              <a:srgbClr val="137F88"/>
            </a:solidFill>
          </a:ln>
        </p:spPr>
      </p:sp>
      <p:sp>
        <p:nvSpPr>
          <p:cNvPr id="11" name="dispatch-head">
            <a:extLst xmlns:a="http://schemas.openxmlformats.org/drawingml/2006/main">
              <a:ext uri="{FF2B5EF4-FFF2-40B4-BE49-F238E27FC236}">
                <a16:creationId xmlns:a16="http://schemas.microsoft.com/office/drawing/2014/main" id="{2ACBB8EF-16BC-4DF4-862F-0A647C13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943225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rPr>
              <a:t>分发至等价副本</a:t>
            </a:r>
          </a:p>
        </p:txBody>
      </p:sp>
      <p:sp>
        <p:nvSpPr>
          <p:cNvPr id="12" name="dispatch-body">
            <a:extLst xmlns:a="http://schemas.openxmlformats.org/drawingml/2006/main">
              <a:ext uri="{FF2B5EF4-FFF2-40B4-BE49-F238E27FC236}">
                <a16:creationId xmlns:a16="http://schemas.microsoft.com/office/drawing/2014/main" id="{DE807A2A-292C-4AE2-B00D-EE438C22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71850"/>
            <a:ext cx="3952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保持逻辑 top-k 专家不变</a:t>
            </a:r>
          </a:p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分摊热点计算，合并专家输出</a:t>
            </a:r>
          </a:p>
        </p:txBody>
      </p:sp>
      <p:sp>
        <p:nvSpPr>
          <p:cNvPr id="15" name="before">
            <a:extLst xmlns:a="http://schemas.openxmlformats.org/drawingml/2006/main">
              <a:ext uri="{FF2B5EF4-FFF2-40B4-BE49-F238E27FC236}">
                <a16:creationId xmlns:a16="http://schemas.microsoft.com/office/drawing/2014/main" id="{BB9D41C6-2EF4-4717-A494-004DE267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rPr>
              <a:t>均衡前：负载集中在 Rank 0</a:t>
            </a:r>
          </a:p>
        </p:txBody>
      </p:sp>
      <p:sp>
        <p:nvSpPr>
          <p:cNvPr id="16" name="after">
            <a:extLst xmlns:a="http://schemas.openxmlformats.org/drawingml/2006/main">
              <a:ext uri="{FF2B5EF4-FFF2-40B4-BE49-F238E27FC236}">
                <a16:creationId xmlns:a16="http://schemas.microsoft.com/office/drawing/2014/main" id="{65334C98-420A-4685-9D35-F1B28453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40055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均衡后：同一总工作量分摊执行</a:t>
            </a:r>
          </a:p>
        </p:txBody>
      </p:sp>
      <p:sp>
        <p:nvSpPr>
          <p:cNvPr id="17" name="before-0">
            <a:extLst xmlns:a="http://schemas.openxmlformats.org/drawingml/2006/main">
              <a:ext uri="{FF2B5EF4-FFF2-40B4-BE49-F238E27FC236}">
                <a16:creationId xmlns:a16="http://schemas.microsoft.com/office/drawing/2014/main" id="{FE2FE651-5853-4DA0-ADE1-38E03AD1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FEA"/>
          </a:solidFill>
          <a:ln xmlns:a="http://schemas.openxmlformats.org/drawingml/2006/main" w="19050">
            <a:solidFill>
              <a:srgbClr val="BC574B"/>
            </a:solidFill>
          </a:ln>
        </p:spPr>
      </p:sp>
      <p:sp>
        <p:nvSpPr>
          <p:cNvPr id="18" name="before-0-head">
            <a:extLst xmlns:a="http://schemas.openxmlformats.org/drawingml/2006/main">
              <a:ext uri="{FF2B5EF4-FFF2-40B4-BE49-F238E27FC236}">
                <a16:creationId xmlns:a16="http://schemas.microsoft.com/office/drawing/2014/main" id="{4EFEC3C4-94B0-4657-B3C6-834EC1E9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rPr>
              <a:t>Rank 0</a:t>
            </a:r>
          </a:p>
        </p:txBody>
      </p:sp>
      <p:sp>
        <p:nvSpPr>
          <p:cNvPr id="19" name="before-0-body">
            <a:extLst xmlns:a="http://schemas.openxmlformats.org/drawingml/2006/main">
              <a:ext uri="{FF2B5EF4-FFF2-40B4-BE49-F238E27FC236}">
                <a16:creationId xmlns:a16="http://schemas.microsoft.com/office/drawing/2014/main" id="{279EAF03-81C9-4BCA-B2DC-9568A134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64 次分配</a:t>
            </a:r>
          </a:p>
        </p:txBody>
      </p:sp>
      <p:sp>
        <p:nvSpPr>
          <p:cNvPr id="20" name="after-0">
            <a:extLst xmlns:a="http://schemas.openxmlformats.org/drawingml/2006/main">
              <a:ext uri="{FF2B5EF4-FFF2-40B4-BE49-F238E27FC236}">
                <a16:creationId xmlns:a16="http://schemas.microsoft.com/office/drawing/2014/main" id="{70EB879A-D873-4A0F-99BA-7E39C63F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9050">
            <a:solidFill>
              <a:srgbClr val="187665"/>
            </a:solidFill>
          </a:ln>
        </p:spPr>
      </p:sp>
      <p:sp>
        <p:nvSpPr>
          <p:cNvPr id="21" name="after-0-head">
            <a:extLst xmlns:a="http://schemas.openxmlformats.org/drawingml/2006/main">
              <a:ext uri="{FF2B5EF4-FFF2-40B4-BE49-F238E27FC236}">
                <a16:creationId xmlns:a16="http://schemas.microsoft.com/office/drawing/2014/main" id="{2A8EEAB4-8EE5-4D51-9384-9FD1E846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Rank 0</a:t>
            </a:r>
          </a:p>
        </p:txBody>
      </p:sp>
      <p:sp>
        <p:nvSpPr>
          <p:cNvPr id="22" name="after-0-body">
            <a:extLst xmlns:a="http://schemas.openxmlformats.org/drawingml/2006/main">
              <a:ext uri="{FF2B5EF4-FFF2-40B4-BE49-F238E27FC236}">
                <a16:creationId xmlns:a16="http://schemas.microsoft.com/office/drawing/2014/main" id="{1F01AA9D-A398-47FA-BCF7-BB87019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32 次分配</a:t>
            </a:r>
          </a:p>
        </p:txBody>
      </p:sp>
      <p:sp>
        <p:nvSpPr>
          <p:cNvPr id="23" name="before-1">
            <a:extLst xmlns:a="http://schemas.openxmlformats.org/drawingml/2006/main">
              <a:ext uri="{FF2B5EF4-FFF2-40B4-BE49-F238E27FC236}">
                <a16:creationId xmlns:a16="http://schemas.microsoft.com/office/drawing/2014/main" id="{1B725867-D2F3-4338-BF18-D68DD911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FEA"/>
          </a:solidFill>
          <a:ln xmlns:a="http://schemas.openxmlformats.org/drawingml/2006/main" w="19050">
            <a:solidFill>
              <a:srgbClr val="BC574B"/>
            </a:solidFill>
          </a:ln>
        </p:spPr>
      </p:sp>
      <p:sp>
        <p:nvSpPr>
          <p:cNvPr id="24" name="before-1-head">
            <a:extLst xmlns:a="http://schemas.openxmlformats.org/drawingml/2006/main">
              <a:ext uri="{FF2B5EF4-FFF2-40B4-BE49-F238E27FC236}">
                <a16:creationId xmlns:a16="http://schemas.microsoft.com/office/drawing/2014/main" id="{46B93D2D-1031-4FE7-8E06-C9B09602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rPr>
              <a:t>Rank 1</a:t>
            </a:r>
          </a:p>
        </p:txBody>
      </p:sp>
      <p:sp>
        <p:nvSpPr>
          <p:cNvPr id="25" name="before-1-body">
            <a:extLst xmlns:a="http://schemas.openxmlformats.org/drawingml/2006/main">
              <a:ext uri="{FF2B5EF4-FFF2-40B4-BE49-F238E27FC236}">
                <a16:creationId xmlns:a16="http://schemas.microsoft.com/office/drawing/2014/main" id="{73886EFC-FBDD-4AEF-83AA-A7FBE373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32 次分配</a:t>
            </a:r>
          </a:p>
        </p:txBody>
      </p:sp>
      <p:sp>
        <p:nvSpPr>
          <p:cNvPr id="26" name="after-1">
            <a:extLst xmlns:a="http://schemas.openxmlformats.org/drawingml/2006/main">
              <a:ext uri="{FF2B5EF4-FFF2-40B4-BE49-F238E27FC236}">
                <a16:creationId xmlns:a16="http://schemas.microsoft.com/office/drawing/2014/main" id="{35DEA11F-102C-4D8E-B52A-707895B9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9050">
            <a:solidFill>
              <a:srgbClr val="187665"/>
            </a:solidFill>
          </a:ln>
        </p:spPr>
      </p:sp>
      <p:sp>
        <p:nvSpPr>
          <p:cNvPr id="27" name="after-1-head">
            <a:extLst xmlns:a="http://schemas.openxmlformats.org/drawingml/2006/main">
              <a:ext uri="{FF2B5EF4-FFF2-40B4-BE49-F238E27FC236}">
                <a16:creationId xmlns:a16="http://schemas.microsoft.com/office/drawing/2014/main" id="{AD91DB51-FFD3-45DD-A040-7799F078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Rank 1</a:t>
            </a:r>
          </a:p>
        </p:txBody>
      </p:sp>
      <p:sp>
        <p:nvSpPr>
          <p:cNvPr id="28" name="after-1-body">
            <a:extLst xmlns:a="http://schemas.openxmlformats.org/drawingml/2006/main">
              <a:ext uri="{FF2B5EF4-FFF2-40B4-BE49-F238E27FC236}">
                <a16:creationId xmlns:a16="http://schemas.microsoft.com/office/drawing/2014/main" id="{85F369AF-2BAA-4A46-B5DE-D0ACB9D1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32 次分配</a:t>
            </a:r>
          </a:p>
        </p:txBody>
      </p:sp>
      <p:sp>
        <p:nvSpPr>
          <p:cNvPr id="29" name="before-2">
            <a:extLst xmlns:a="http://schemas.openxmlformats.org/drawingml/2006/main">
              <a:ext uri="{FF2B5EF4-FFF2-40B4-BE49-F238E27FC236}">
                <a16:creationId xmlns:a16="http://schemas.microsoft.com/office/drawing/2014/main" id="{D4E4D9B4-2EF8-41F5-9384-678A8F68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FEA"/>
          </a:solidFill>
          <a:ln xmlns:a="http://schemas.openxmlformats.org/drawingml/2006/main" w="19050">
            <a:solidFill>
              <a:srgbClr val="BC574B"/>
            </a:solidFill>
          </a:ln>
        </p:spPr>
      </p:sp>
      <p:sp>
        <p:nvSpPr>
          <p:cNvPr id="30" name="before-2-head">
            <a:extLst xmlns:a="http://schemas.openxmlformats.org/drawingml/2006/main">
              <a:ext uri="{FF2B5EF4-FFF2-40B4-BE49-F238E27FC236}">
                <a16:creationId xmlns:a16="http://schemas.microsoft.com/office/drawing/2014/main" id="{6E8AE9E0-7999-48AE-8B5B-CEF4541D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rPr>
              <a:t>Rank 2</a:t>
            </a:r>
          </a:p>
        </p:txBody>
      </p:sp>
      <p:sp>
        <p:nvSpPr>
          <p:cNvPr id="31" name="before-2-body">
            <a:extLst xmlns:a="http://schemas.openxmlformats.org/drawingml/2006/main">
              <a:ext uri="{FF2B5EF4-FFF2-40B4-BE49-F238E27FC236}">
                <a16:creationId xmlns:a16="http://schemas.microsoft.com/office/drawing/2014/main" id="{EE31071D-F4A1-46AB-A74E-3CF50780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16 次分配</a:t>
            </a:r>
          </a:p>
        </p:txBody>
      </p:sp>
      <p:sp>
        <p:nvSpPr>
          <p:cNvPr id="32" name="after-2">
            <a:extLst xmlns:a="http://schemas.openxmlformats.org/drawingml/2006/main">
              <a:ext uri="{FF2B5EF4-FFF2-40B4-BE49-F238E27FC236}">
                <a16:creationId xmlns:a16="http://schemas.microsoft.com/office/drawing/2014/main" id="{4C897F3F-A7B3-4687-B2D4-B824C98D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9050">
            <a:solidFill>
              <a:srgbClr val="187665"/>
            </a:solidFill>
          </a:ln>
        </p:spPr>
      </p:sp>
      <p:sp>
        <p:nvSpPr>
          <p:cNvPr id="33" name="after-2-head">
            <a:extLst xmlns:a="http://schemas.openxmlformats.org/drawingml/2006/main">
              <a:ext uri="{FF2B5EF4-FFF2-40B4-BE49-F238E27FC236}">
                <a16:creationId xmlns:a16="http://schemas.microsoft.com/office/drawing/2014/main" id="{FA94CC37-D9AF-4075-9AD1-1ACF61F8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Rank 2</a:t>
            </a:r>
          </a:p>
        </p:txBody>
      </p:sp>
      <p:sp>
        <p:nvSpPr>
          <p:cNvPr id="34" name="after-2-body">
            <a:extLst xmlns:a="http://schemas.openxmlformats.org/drawingml/2006/main">
              <a:ext uri="{FF2B5EF4-FFF2-40B4-BE49-F238E27FC236}">
                <a16:creationId xmlns:a16="http://schemas.microsoft.com/office/drawing/2014/main" id="{01565DCF-7578-4EB2-B63B-68A1CA53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32 次分配</a:t>
            </a:r>
          </a:p>
        </p:txBody>
      </p:sp>
      <p:sp>
        <p:nvSpPr>
          <p:cNvPr id="35" name="before-3">
            <a:extLst xmlns:a="http://schemas.openxmlformats.org/drawingml/2006/main">
              <a:ext uri="{FF2B5EF4-FFF2-40B4-BE49-F238E27FC236}">
                <a16:creationId xmlns:a16="http://schemas.microsoft.com/office/drawing/2014/main" id="{4328CC46-4E0D-4ABE-841E-E0126BC3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FEA"/>
          </a:solidFill>
          <a:ln xmlns:a="http://schemas.openxmlformats.org/drawingml/2006/main" w="19050">
            <a:solidFill>
              <a:srgbClr val="BC574B"/>
            </a:solidFill>
          </a:ln>
        </p:spPr>
      </p:sp>
      <p:sp>
        <p:nvSpPr>
          <p:cNvPr id="36" name="before-3-head">
            <a:extLst xmlns:a="http://schemas.openxmlformats.org/drawingml/2006/main">
              <a:ext uri="{FF2B5EF4-FFF2-40B4-BE49-F238E27FC236}">
                <a16:creationId xmlns:a16="http://schemas.microsoft.com/office/drawing/2014/main" id="{80F06E66-7E27-47C3-B07C-D1AD52A8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C574B"/>
                </a:solidFill>
                <a:latin typeface="Microsoft YaHei"/>
                <a:ea typeface="Microsoft YaHei"/>
                <a:cs typeface="Microsoft YaHei"/>
              </a:rPr>
              <a:t>Rank 3</a:t>
            </a:r>
          </a:p>
        </p:txBody>
      </p:sp>
      <p:sp>
        <p:nvSpPr>
          <p:cNvPr id="37" name="before-3-body">
            <a:extLst xmlns:a="http://schemas.openxmlformats.org/drawingml/2006/main">
              <a:ext uri="{FF2B5EF4-FFF2-40B4-BE49-F238E27FC236}">
                <a16:creationId xmlns:a16="http://schemas.microsoft.com/office/drawing/2014/main" id="{797DB8D3-AAC4-4F93-8246-DDDA698E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16 次分配</a:t>
            </a:r>
          </a:p>
        </p:txBody>
      </p:sp>
      <p:sp>
        <p:nvSpPr>
          <p:cNvPr id="38" name="after-3">
            <a:extLst xmlns:a="http://schemas.openxmlformats.org/drawingml/2006/main">
              <a:ext uri="{FF2B5EF4-FFF2-40B4-BE49-F238E27FC236}">
                <a16:creationId xmlns:a16="http://schemas.microsoft.com/office/drawing/2014/main" id="{989F9175-8069-49B9-829E-7178AEB8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0" y="5095875"/>
            <a:ext cx="1476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19050">
            <a:solidFill>
              <a:srgbClr val="187665"/>
            </a:solidFill>
          </a:ln>
        </p:spPr>
      </p:sp>
      <p:sp>
        <p:nvSpPr>
          <p:cNvPr id="39" name="after-3-head">
            <a:extLst xmlns:a="http://schemas.openxmlformats.org/drawingml/2006/main">
              <a:ext uri="{FF2B5EF4-FFF2-40B4-BE49-F238E27FC236}">
                <a16:creationId xmlns:a16="http://schemas.microsoft.com/office/drawing/2014/main" id="{5D3FFD40-D00C-4308-AB67-3DAD4618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5238750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Rank 3</a:t>
            </a:r>
          </a:p>
        </p:txBody>
      </p:sp>
      <p:sp>
        <p:nvSpPr>
          <p:cNvPr id="40" name="after-3-body">
            <a:extLst xmlns:a="http://schemas.openxmlformats.org/drawingml/2006/main">
              <a:ext uri="{FF2B5EF4-FFF2-40B4-BE49-F238E27FC236}">
                <a16:creationId xmlns:a16="http://schemas.microsoft.com/office/drawing/2014/main" id="{6AD2ECDF-10DE-4B49-8DAC-F3A0B7C2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5667375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32 次分配</a:t>
            </a:r>
          </a:p>
        </p:txBody>
      </p:sp>
      <p:sp>
        <p:nvSpPr>
          <p:cNvPr id="41" name="critical">
            <a:extLst xmlns:a="http://schemas.openxmlformats.org/drawingml/2006/main">
              <a:ext uri="{FF2B5EF4-FFF2-40B4-BE49-F238E27FC236}">
                <a16:creationId xmlns:a16="http://schemas.microsoft.com/office/drawing/2014/main" id="{9D16D41C-B0D1-4D0E-87B4-C302FDAF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032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7F88"/>
                </a:solidFill>
                <a:latin typeface="Microsoft YaHei"/>
                <a:ea typeface="Microsoft YaHei"/>
                <a:cs typeface="Microsoft YaHei"/>
              </a:rPr>
              <a:t>最忙 rank：64 次分配</a:t>
            </a:r>
          </a:p>
        </p:txBody>
      </p:sp>
      <p:sp>
        <p:nvSpPr>
          <p:cNvPr id="42" name="critical-after">
            <a:extLst xmlns:a="http://schemas.openxmlformats.org/drawingml/2006/main">
              <a:ext uri="{FF2B5EF4-FFF2-40B4-BE49-F238E27FC236}">
                <a16:creationId xmlns:a16="http://schemas.microsoft.com/office/drawing/2014/main" id="{48E9B548-1F1E-452E-9276-4DAA014C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6410325"/>
            <a:ext cx="6334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最忙 rank：32 次分配</a:t>
            </a:r>
          </a:p>
        </p:txBody>
      </p:sp>
      <p:sp>
        <p:nvSpPr>
          <p:cNvPr id="43" name="timing">
            <a:extLst xmlns:a="http://schemas.openxmlformats.org/drawingml/2006/main">
              <a:ext uri="{FF2B5EF4-FFF2-40B4-BE49-F238E27FC236}">
                <a16:creationId xmlns:a16="http://schemas.microsoft.com/office/drawing/2014/main" id="{580A0943-E9D8-43E5-BDFA-B5464FEB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91350"/>
            <a:ext cx="1381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简化时延模型：T_MoE ≈ T_dispatch + max(T_rank_compute) + T_combine</a:t>
            </a:r>
          </a:p>
        </p:txBody>
      </p:sp>
      <p:sp>
        <p:nvSpPr>
          <p:cNvPr id="44" name="note">
            <a:extLst xmlns:a="http://schemas.openxmlformats.org/drawingml/2006/main">
              <a:ext uri="{FF2B5EF4-FFF2-40B4-BE49-F238E27FC236}">
                <a16:creationId xmlns:a16="http://schemas.microsoft.com/office/drawing/2014/main" id="{FB090F16-83AA-4B8F-BAA3-3BFEC8CA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34275"/>
            <a:ext cx="1381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图注：4 ranks、总计 128 次 token–expert 分配的理想化示例，非实测。计算项减少不代表端到端时延同比下降</a:t>
            </a:r>
          </a:p>
        </p:txBody>
      </p:sp>
      <p:sp>
        <p:nvSpPr>
          <p:cNvPr id="45" name="limit">
            <a:extLst xmlns:a="http://schemas.openxmlformats.org/drawingml/2006/main">
              <a:ext uri="{FF2B5EF4-FFF2-40B4-BE49-F238E27FC236}">
                <a16:creationId xmlns:a16="http://schemas.microsoft.com/office/drawing/2014/main" id="{3F060760-696E-4E11-8CE7-8508E275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91475"/>
            <a:ext cx="1381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EPLB 额外消耗副本显存与重排开销。验证各 rank 耗时、通信及 p95/p99；未确认 Step 5 服务采用相同机制</a:t>
            </a:r>
          </a:p>
        </p:txBody>
      </p:sp>
    </p:spTree>
    <p:extLst>
      <p:ext uri="{BB962C8B-B14F-4D97-AF65-F5344CB8AC3E}">
        <p14:creationId xmlns:p14="http://schemas.microsoft.com/office/powerpoint/2010/main" val="10941106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764A01B-52DA-4197-9F03-05D79264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PaCoRe：并行探索与结论综合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714651-6ED3-470C-800D-A70F5188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PaCoRe 增加轨迹级推理预算，与 SWA、Gate、MoE 所处的模型算子层分开理解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BAAE2-6916-42B6-82B0-18F7D54BA6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0cb1f038e40c8"/>
          <a:stretch xmlns:a="http://schemas.openxmlformats.org/drawingml/2006/main"/>
        </p:blipFill>
        <p:spPr>
          <a:xfrm xmlns:a="http://schemas.openxmlformats.org/drawingml/2006/main">
            <a:off x="1557986" y="1809750"/>
            <a:ext cx="7304379" cy="6429375"/>
          </a:xfrm>
          <a:prstGeom xmlns:a="http://schemas.openxmlformats.org/drawingml/2006/main" prst="rect">
            <a:avLst/>
          </a:prstGeom>
        </p:spPr>
      </p:pic>
      <p:sp>
        <p:nvSpPr>
          <p:cNvPr id="4" name="principle">
            <a:extLst xmlns:a="http://schemas.openxmlformats.org/drawingml/2006/main">
              <a:ext uri="{FF2B5EF4-FFF2-40B4-BE49-F238E27FC236}">
                <a16:creationId xmlns:a16="http://schemas.microsoft.com/office/drawing/2014/main" id="{41B28F44-CCED-4A58-ACD5-7651ADB1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336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853AC"/>
                </a:solidFill>
                <a:latin typeface="Microsoft YaHei"/>
                <a:ea typeface="Microsoft YaHei"/>
                <a:cs typeface="Microsoft YaHei"/>
              </a:rPr>
              <a:t>流程与训练目标</a:t>
            </a:r>
          </a:p>
        </p:txBody>
      </p:sp>
      <p:sp>
        <p:nvSpPr>
          <p:cNvPr id="5" name="steps">
            <a:extLst xmlns:a="http://schemas.openxmlformats.org/drawingml/2006/main">
              <a:ext uri="{FF2B5EF4-FFF2-40B4-BE49-F238E27FC236}">
                <a16:creationId xmlns:a16="http://schemas.microsoft.com/office/drawing/2014/main" id="{1E1200F3-65A4-4B6F-90DF-931D847A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33675"/>
            <a:ext cx="4095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同一模型并行生成多条轨迹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提取各条最终结论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综合与交叉检查后继续推理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最后收敛到一条答案</a:t>
            </a:r>
          </a:p>
        </p:txBody>
      </p:sp>
      <p:sp>
        <p:nvSpPr>
          <p:cNvPr id="6" name="budget">
            <a:extLst xmlns:a="http://schemas.openxmlformats.org/drawingml/2006/main">
              <a:ext uri="{FF2B5EF4-FFF2-40B4-BE49-F238E27FC236}">
                <a16:creationId xmlns:a16="http://schemas.microsoft.com/office/drawing/2014/main" id="{9890DAF7-7547-4BF6-A77A-C31F8450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762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7817"/>
                </a:solidFill>
                <a:latin typeface="Microsoft YaHei"/>
                <a:ea typeface="Microsoft YaHei"/>
                <a:cs typeface="Microsoft YaHei"/>
              </a:rPr>
              <a:t>更多计算换困难任务质量</a:t>
            </a:r>
          </a:p>
        </p:txBody>
      </p:sp>
      <p:sp>
        <p:nvSpPr>
          <p:cNvPr id="7" name="numbers">
            <a:extLst xmlns:a="http://schemas.openxmlformats.org/drawingml/2006/main">
              <a:ext uri="{FF2B5EF4-FFF2-40B4-BE49-F238E27FC236}">
                <a16:creationId xmlns:a16="http://schemas.microsoft.com/office/drawing/2014/main" id="{2D9E8D96-8301-4CCD-95F1-4DF2E4CC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53050"/>
            <a:ext cx="4095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HMMT 2025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基础 75.4%，High 94.5%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平均总 tokens 48K 至 1796K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约 37.4 倍</a:t>
            </a:r>
          </a:p>
        </p:txBody>
      </p:sp>
      <p:sp>
        <p:nvSpPr>
          <p:cNvPr id="8" name="caution">
            <a:extLst xmlns:a="http://schemas.openxmlformats.org/drawingml/2006/main">
              <a:ext uri="{FF2B5EF4-FFF2-40B4-BE49-F238E27FC236}">
                <a16:creationId xmlns:a16="http://schemas.microsoft.com/office/drawing/2014/main" id="{1C1B3B1F-7B3E-472E-8A07-319A0353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247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模型训练与推理配置同时变化</a:t>
            </a:r>
          </a:p>
          <a:p xmlns:a="http://schemas.openxmlformats.org/drawingml/2006/main">
            <a: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该差值不是纯并发消融收益</a:t>
            </a:r>
          </a:p>
          <a:p xmlns:a="http://schemas.openxmlformats.org/drawingml/2006/main">
            <a:pPr>
              <a:def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适合高价值、可验证任务</a:t>
            </a:r>
          </a:p>
        </p:txBody>
      </p:sp>
    </p:spTree>
    <p:extLst>
      <p:ext uri="{BB962C8B-B14F-4D97-AF65-F5344CB8AC3E}">
        <p14:creationId xmlns:p14="http://schemas.microsoft.com/office/powerpoint/2010/main" val="10266239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FFFA35CC-F2CD-4FFD-92F2-D78346FB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Agent 相关：公开组件简列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BC5D24-714C-4FFA-87EE-1432A604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385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这里列出 Step-Code 已公开提供的组件与 Step 模型 API 能力，避免推断 Step 5 未公开的内部实现</a:t>
            </a:r>
          </a:p>
        </p:txBody>
      </p:sp>
      <p:sp>
        <p:nvSpPr>
          <p:cNvPr id="3" name="component-0">
            <a:extLst xmlns:a="http://schemas.openxmlformats.org/drawingml/2006/main">
              <a:ext uri="{FF2B5EF4-FFF2-40B4-BE49-F238E27FC236}">
                <a16:creationId xmlns:a16="http://schemas.microsoft.com/office/drawing/2014/main" id="{A8038751-EFCD-439F-934B-31425A9A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Agent Skills</a:t>
            </a:r>
          </a:p>
        </p:txBody>
      </p:sp>
      <p:sp>
        <p:nvSpPr>
          <p:cNvPr id="4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1CE757CD-8640-4B27-830D-9CED3C60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发现名称与描述，按需读取指令与资源</a:t>
            </a:r>
          </a:p>
        </p:txBody>
      </p:sp>
      <p:sp>
        <p:nvSpPr>
          <p:cNvPr id="5" name="component-1">
            <a:extLst xmlns:a="http://schemas.openxmlformats.org/drawingml/2006/main">
              <a:ext uri="{FF2B5EF4-FFF2-40B4-BE49-F238E27FC236}">
                <a16:creationId xmlns:a16="http://schemas.microsoft.com/office/drawing/2014/main" id="{4A4199F4-E14F-4D8F-A7F4-4CFCB99E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9525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Plugin / MCP</a:t>
            </a:r>
          </a:p>
        </p:txBody>
      </p:sp>
      <p:sp>
        <p:nvSpPr>
          <p:cNvPr id="6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1C2C8A71-FF66-4DB3-AC08-651A6EF0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插件装载与外部工具接入</a:t>
            </a:r>
          </a:p>
        </p:txBody>
      </p:sp>
      <p:sp>
        <p:nvSpPr>
          <p:cNvPr id="7" name="component-2">
            <a:extLst xmlns:a="http://schemas.openxmlformats.org/drawingml/2006/main">
              <a:ext uri="{FF2B5EF4-FFF2-40B4-BE49-F238E27FC236}">
                <a16:creationId xmlns:a16="http://schemas.microsoft.com/office/drawing/2014/main" id="{93181FD4-F65E-43C5-AE17-E5238A38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75B5"/>
                </a:solidFill>
                <a:latin typeface="Microsoft YaHei"/>
                <a:ea typeface="Microsoft YaHei"/>
                <a:cs typeface="Microsoft YaHei"/>
              </a:rPr>
              <a:t>独立子 Agent 上下文</a:t>
            </a:r>
          </a:p>
        </p:txBody>
      </p:sp>
      <p:sp>
        <p:nvSpPr>
          <p:cNvPr id="8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B0AD8DF4-4ECF-4242-9257-88B89320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7217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拆分任务，隔离各子任务上下文</a:t>
            </a:r>
          </a:p>
        </p:txBody>
      </p:sp>
      <p:sp>
        <p:nvSpPr>
          <p:cNvPr id="9" name="component-3">
            <a:extLst xmlns:a="http://schemas.openxmlformats.org/drawingml/2006/main">
              <a:ext uri="{FF2B5EF4-FFF2-40B4-BE49-F238E27FC236}">
                <a16:creationId xmlns:a16="http://schemas.microsoft.com/office/drawing/2014/main" id="{F26670E1-9186-454E-B3F8-B51FAF85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28850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Goal 与定时任务</a:t>
            </a:r>
          </a:p>
        </p:txBody>
      </p:sp>
      <p:sp>
        <p:nvSpPr>
          <p:cNvPr id="10" name="description-3">
            <a:extLst xmlns:a="http://schemas.openxmlformats.org/drawingml/2006/main">
              <a:ext uri="{FF2B5EF4-FFF2-40B4-BE49-F238E27FC236}">
                <a16:creationId xmlns:a16="http://schemas.microsoft.com/office/drawing/2014/main" id="{551C2554-6C41-4619-AE87-79A3AE2D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9082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长程目标生命周期与 /cron 调度</a:t>
            </a:r>
          </a:p>
        </p:txBody>
      </p:sp>
      <p:sp>
        <p:nvSpPr>
          <p:cNvPr id="11" name="component-4">
            <a:extLst xmlns:a="http://schemas.openxmlformats.org/drawingml/2006/main">
              <a:ext uri="{FF2B5EF4-FFF2-40B4-BE49-F238E27FC236}">
                <a16:creationId xmlns:a16="http://schemas.microsoft.com/office/drawing/2014/main" id="{B2D1AAEF-9F55-462A-B6AF-0465B1E6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9525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代码与交付工具</a:t>
            </a:r>
          </a:p>
        </p:txBody>
      </p:sp>
      <p:sp>
        <p:nvSpPr>
          <p:cNvPr id="12" name="description-4">
            <a:extLst xmlns:a="http://schemas.openxmlformats.org/drawingml/2006/main">
              <a:ext uri="{FF2B5EF4-FFF2-40B4-BE49-F238E27FC236}">
                <a16:creationId xmlns:a16="http://schemas.microsoft.com/office/drawing/2014/main" id="{E50FE69F-E13D-402D-ACBE-AA296E49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8150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读写代码、终端测试，StepPage 发布与回滚</a:t>
            </a:r>
          </a:p>
        </p:txBody>
      </p:sp>
      <p:sp>
        <p:nvSpPr>
          <p:cNvPr id="13" name="component-5">
            <a:extLst xmlns:a="http://schemas.openxmlformats.org/drawingml/2006/main">
              <a:ext uri="{FF2B5EF4-FFF2-40B4-BE49-F238E27FC236}">
                <a16:creationId xmlns:a16="http://schemas.microsoft.com/office/drawing/2014/main" id="{31A36109-8C5B-46C8-BAD7-FE6C9A6C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10200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665"/>
                </a:solidFill>
                <a:latin typeface="Microsoft YaHei"/>
                <a:ea typeface="Microsoft YaHei"/>
                <a:cs typeface="Microsoft YaHei"/>
              </a:rPr>
              <a:t>模型 API 能力</a:t>
            </a:r>
          </a:p>
        </p:txBody>
      </p:sp>
      <p:sp>
        <p:nvSpPr>
          <p:cNvPr id="14" name="description-5">
            <a:extLst xmlns:a="http://schemas.openxmlformats.org/drawingml/2006/main">
              <a:ext uri="{FF2B5EF4-FFF2-40B4-BE49-F238E27FC236}">
                <a16:creationId xmlns:a16="http://schemas.microsoft.com/office/drawing/2014/main" id="{2E276764-62D8-4DAD-90AC-30C8ED12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97217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Tool calling、推理档位、结构化输出</a:t>
            </a:r>
          </a:p>
        </p:txBody>
      </p:sp>
      <p:sp>
        <p:nvSpPr>
          <p:cNvPr id="15" name="sources">
            <a:extLst xmlns:a="http://schemas.openxmlformats.org/drawingml/2006/main">
              <a:ext uri="{FF2B5EF4-FFF2-40B4-BE49-F238E27FC236}">
                <a16:creationId xmlns:a16="http://schemas.microsoft.com/office/drawing/2014/main" id="{661A3BCF-E097-4840-9460-A52383DD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43800"/>
            <a:ext cx="13811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7C"/>
                </a:solidFill>
                <a:latin typeface="Microsoft YaHei"/>
                <a:ea typeface="Microsoft YaHei"/>
                <a:cs typeface="Microsoft YaHei"/>
              </a:rPr>
              <a:t>组件来源：Step-Code 公开仓库与官方 API 文档。Skills / MCP / 子 Agent 并非 Step 独有，也不单独证明业务成功率</a:t>
            </a:r>
          </a:p>
        </p:txBody>
      </p:sp>
    </p:spTree>
    <p:extLst>
      <p:ext uri="{BB962C8B-B14F-4D97-AF65-F5344CB8AC3E}">
        <p14:creationId xmlns:p14="http://schemas.microsoft.com/office/powerpoint/2010/main" val="26259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2026-10-11T16:44:33.5220000Z</dcterms:created>
  <dcterms:modified xsi:type="dcterms:W3CDTF">2026-10-11T16:44:33.5220000Z</dcterms:modified>
</coreProperties>
</file>