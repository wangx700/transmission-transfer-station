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fca7ba77924d35" /><Relationship Type="http://schemas.openxmlformats.org/officeDocument/2006/relationships/extended-properties" Target="/docProps/app.xml" Id="R0e505a558d344c06" /><Relationship Type="http://schemas.openxmlformats.org/officeDocument/2006/relationships/officeDocument" Target="/ppt/presentation.xml" Id="Re71cadec40624b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5d9df056594c44"/>
  </p:sldMasterIdLst>
  <p:notesMasterIdLst>
    <p:notesMasterId xmlns:r="http://schemas.openxmlformats.org/officeDocument/2006/relationships" r:id="R33648e3a0c4e42c8"/>
  </p:notesMasterIdLst>
  <p:sldIdLst>
    <p:sldId xmlns:r="http://schemas.openxmlformats.org/officeDocument/2006/relationships" id="256" r:id="R691de00d1dff4ae0"/>
    <p:sldId xmlns:r="http://schemas.openxmlformats.org/officeDocument/2006/relationships" id="257" r:id="Rf4f5d86ec35b42f1"/>
    <p:sldId xmlns:r="http://schemas.openxmlformats.org/officeDocument/2006/relationships" id="258" r:id="Rbc2af6c5ad2d40ae"/>
    <p:sldId xmlns:r="http://schemas.openxmlformats.org/officeDocument/2006/relationships" id="259" r:id="Rf192ddc4b0d44eca"/>
    <p:sldId xmlns:r="http://schemas.openxmlformats.org/officeDocument/2006/relationships" id="260" r:id="R63f9051522404113"/>
    <p:sldId xmlns:r="http://schemas.openxmlformats.org/officeDocument/2006/relationships" id="261" r:id="R238d11adfff54e35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0eb9f3df47a4c66" /><Relationship Type="http://schemas.openxmlformats.org/officeDocument/2006/relationships/slideMaster" Target="/ppt/slideMasters/slideMaster1.xml" Id="R0d5d9df056594c44" /><Relationship Type="http://schemas.openxmlformats.org/officeDocument/2006/relationships/notesMaster" Target="/ppt/notesMasters/notesMaster1.xml" Id="R33648e3a0c4e42c8" /><Relationship Type="http://schemas.openxmlformats.org/officeDocument/2006/relationships/presProps" Target="/ppt/presProps.xml" Id="Ra70d29a9015b468d" /><Relationship Type="http://schemas.openxmlformats.org/officeDocument/2006/relationships/tableStyles" Target="/ppt/tableStyles.xml" Id="R3f4d31fcfcbc49ec" /><Relationship Type="http://schemas.openxmlformats.org/officeDocument/2006/relationships/slide" Target="/ppt/slides/slide1.xml" Id="R691de00d1dff4ae0" /><Relationship Type="http://schemas.openxmlformats.org/officeDocument/2006/relationships/slide" Target="/ppt/slides/slide2.xml" Id="Rf4f5d86ec35b42f1" /><Relationship Type="http://schemas.openxmlformats.org/officeDocument/2006/relationships/slide" Target="/ppt/slides/slide3.xml" Id="Rbc2af6c5ad2d40ae" /><Relationship Type="http://schemas.openxmlformats.org/officeDocument/2006/relationships/slide" Target="/ppt/slides/slide4.xml" Id="Rf192ddc4b0d44eca" /><Relationship Type="http://schemas.openxmlformats.org/officeDocument/2006/relationships/slide" Target="/ppt/slides/slide5.xml" Id="R63f9051522404113" /><Relationship Type="http://schemas.openxmlformats.org/officeDocument/2006/relationships/slide" Target="/ppt/slides/slide6.xml" Id="R238d11adfff54e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812b9c3f5954c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045a7baad34778" /><Relationship Type="http://schemas.openxmlformats.org/officeDocument/2006/relationships/notesMaster" Target="/ppt/notesMasters/notesMaster1.xml" Id="R77e85787a2bb407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a99cc3d9de468d" /><Relationship Type="http://schemas.openxmlformats.org/officeDocument/2006/relationships/notesMaster" Target="/ppt/notesMasters/notesMaster1.xml" Id="R49f742ec9bb9449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6aac33e3137400a" /><Relationship Type="http://schemas.openxmlformats.org/officeDocument/2006/relationships/notesMaster" Target="/ppt/notesMasters/notesMaster1.xml" Id="Rff1ba3f4829343a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bd1bae5af548ad" /><Relationship Type="http://schemas.openxmlformats.org/officeDocument/2006/relationships/notesMaster" Target="/ppt/notesMasters/notesMaster1.xml" Id="Ra3e6e1806f1a4d6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5274601a7a848dd" /><Relationship Type="http://schemas.openxmlformats.org/officeDocument/2006/relationships/notesMaster" Target="/ppt/notesMasters/notesMaster1.xml" Id="R5f8df835352647e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25a3e7432944012" /><Relationship Type="http://schemas.openxmlformats.org/officeDocument/2006/relationships/notesMaster" Target="/ppt/notesMasters/notesMaster1.xml" Id="Rccd0f9879c6848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资料复核2026-10-12。3.5论文196B/11B主干与含MTP198B/13B口径不同。3.7约198B来自196B语言+1.8B视觉，与3.5含MTP198B不能混用。图示主干层+生成分支简化，不表示所有层MoE或MTP是普通串行主干层。</a:t>
            </a:r>
          </a:p>
          <a:p xmlns:a="http://schemas.openxmlformats.org/drawingml/2006/main">
            <a:r>
              <a:t>https://arxiv.org/html/2602.10604v2</a:t>
            </a:r>
          </a:p>
          <a:p xmlns:a="http://schemas.openxmlformats.org/drawingml/2006/main">
            <a:r>
              <a:t>https://huggingface.co/stepfun-ai/Step-3.7-Flash/blob/main/config.json</a:t>
            </a:r>
          </a:p>
          <a:p xmlns:a="http://schemas.openxmlformats.org/drawingml/2006/main">
            <a:r>
              <a:t>https://huggingface.co/stepfun-ai/Step-3.7-Flash/blob/main/modeling_step3p7.py</a:t>
            </a:r>
          </a:p>
          <a:p xmlns:a="http://schemas.openxmlformats.org/drawingml/2006/main">
            <a:r>
              <a:t>https://platform.stepfun.ai/docs/en/guides/models/step-5-preview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截图来自此前交互可视化，保留query12、window4、gate0.25示意。原HTML不变。head输出门控后o_proj，不是输入或attention score门控。</a:t>
            </a:r>
          </a:p>
          <a:p xmlns:a="http://schemas.openxmlformats.org/drawingml/2006/main">
            <a:r>
              <a:t>https://huggingface.co/stepfun-ai/Step-3.7-Flash/blob/main/config.json</a:t>
            </a:r>
          </a:p>
          <a:p xmlns:a="http://schemas.openxmlformats.org/drawingml/2006/main">
            <a:r>
              <a:t>https://huggingface.co/stepfun-ai/Step-3.7-Flash/blob/main/modeling_step3p7.py#L686</a:t>
            </a:r>
          </a:p>
          <a:p xmlns:a="http://schemas.openxmlformats.org/drawingml/2006/main">
            <a:r>
              <a:t>https://arxiv.org/html/2602.10604v2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图中专家编号和权重是教学示例，不对应业务专家。降低激活计算不等于免除全部权重存储，EP/EPLB需另测负载与通信。</a:t>
            </a:r>
          </a:p>
          <a:p xmlns:a="http://schemas.openxmlformats.org/drawingml/2006/main">
            <a:r>
              <a:t>https://arxiv.org/html/2602.10604v2</a:t>
            </a:r>
          </a:p>
          <a:p xmlns:a="http://schemas.openxmlformats.org/drawingml/2006/main">
            <a:r>
              <a:t>https://huggingface.co/stepfun-ai/Step-3.7-Flash/blob/main/modeling_step3p7.py#L537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2026-10-12复核。EP是专家并行，不是自动均衡。Step3.5论文全局loss-free bias与microbatch EP rank loss为训练机制，推理文件有bias不证明在线动态更新。EPLB是服务侧物理专家重排/复制与逻辑到物理映射，等价副本权重需一致，不通过更改逻辑top-k或质量语义强制分流。分配数64/32/16/16至32/32/32/32仅是4rank共128次assignment理想化示意，不保证任意batch与placement可完全均衡。T公式忽略计算通信重叠，不能视为硬件预测。</a:t>
            </a:r>
          </a:p>
          <a:p xmlns:a="http://schemas.openxmlformats.org/drawingml/2006/main">
            <a:r>
              <a:t>模型证据：https://arxiv.org/html/2602.10604v2</a:t>
            </a:r>
          </a:p>
          <a:p xmlns:a="http://schemas.openxmlformats.org/drawingml/2006/main">
            <a:r>
              <a:t>https://huggingface.co/stepfun-ai/Step-3.7-Flash/blob/main/modeling_step3p7.py#L537</a:t>
            </a:r>
          </a:p>
          <a:p xmlns:a="http://schemas.openxmlformats.org/drawingml/2006/main">
            <a:r>
              <a:t>服务端证据：https://docs.vllm.ai/en/latest/serving/expert_parallel_deployment/</a:t>
            </a:r>
          </a:p>
          <a:p xmlns:a="http://schemas.openxmlformats.org/drawingml/2006/main">
            <a:r>
              <a:t>代码接口：EplbState.step()记录/触发，rearrange()按负载规划与搬移专家，更新physical_to_logical_map，后续执行用等价物理副本。</a:t>
            </a:r>
          </a:p>
          <a:p xmlns:a="http://schemas.openxmlformats.org/drawingml/2006/main">
            <a:r>
              <a:t>https://docs.vllm.ai/en/latest/api/vllm/distributed/eplb/eplb_state/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PaCoRe采用同一模型权重跨轮推理，多轨迹提取最终结论，丢弃中间推导后作为下一轮输入，最终单轨迹综合。Low[4]，Medium[16]，High[32,4]之后最终单条。outcome reward训练综合、冲突处理与纠错。HMMT数值来自论文，模型训练与推理配置有变化，不归因纯并发。总TTC跨轨迹累计不是单次上下文，不能按节省成本宣传。未证明Step5使用PaCoRe。</a:t>
            </a:r>
          </a:p>
          <a:p xmlns:a="http://schemas.openxmlformats.org/drawingml/2006/main">
            <a:r>
              <a:t>https://arxiv.org/html/2601.05593v1</a:t>
            </a:r>
          </a:p>
          <a:p xmlns:a="http://schemas.openxmlformats.org/drawingml/2006/main">
            <a:r>
              <a:t>https://github.com/stepfun-ai/PaCoRe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简列组件，不详细介绍，不作模型独有性与效果因果证明。Step-Code提供skills、plugins、MCP、多agent、goal、cron与StepPage。API能力由Step5文档明确tool calling、reasoning_effort low/medium/high、JSONMode/Schema。</a:t>
            </a:r>
          </a:p>
          <a:p xmlns:a="http://schemas.openxmlformats.org/drawingml/2006/main">
            <a:r>
              <a:t>https://github.com/stepfun-ai/Step-Code</a:t>
            </a:r>
          </a:p>
          <a:p xmlns:a="http://schemas.openxmlformats.org/drawingml/2006/main">
            <a:r>
              <a:t>https://github.com/stepfun-ai/Step-Code/blob/main/packages/coding-agent/src/core/skills.ts</a:t>
            </a:r>
          </a:p>
          <a:p xmlns:a="http://schemas.openxmlformats.org/drawingml/2006/main">
            <a:r>
              <a:t>https://github.com/stepfun-ai/Step-Code/blob/main/packages/coding-agent/src/step/plugins.ts</a:t>
            </a:r>
          </a:p>
          <a:p xmlns:a="http://schemas.openxmlformats.org/drawingml/2006/main">
            <a:r>
              <a:t>https://github.com/stepfun-ai/Step-Code/blob/main/docs/goal-lifecycle.md</a:t>
            </a:r>
          </a:p>
          <a:p xmlns:a="http://schemas.openxmlformats.org/drawingml/2006/main">
            <a:r>
              <a:t>https://platform.stepfun.ai/docs/en/guides/models/step-5-preview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f58fe37c4f4b2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5515fb157b4c3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b65178fd5c45a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41ffda0c5c414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df0b25019f426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16dca71a3d480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EFE22AD-0CDC-41AB-BBAD-49D14524ED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B7BBA8C-8DC6-4E87-BDD1-0D17CCADF14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64707D2-B0A6-4C4B-AAC4-1FEB820D8C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101D8B3-33C5-41F2-84FB-E12B0ABA84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1EF4B92-5A65-432A-8A7F-B9E8E9B525B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848BA25-7477-48A5-AB4A-04E56393C5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1A3F0FF-F1FC-4309-B80A-44C07A1FCD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A9C7700-F076-4980-B445-F9175D7E18C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1898194-B316-4014-AA49-FBCA874F67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5568B23-8B07-4C37-BD17-40D3E820BE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1d99510ec7c40d2" /><Relationship Type="http://schemas.openxmlformats.org/officeDocument/2006/relationships/slideLayout" Target="/ppt/slideLayouts/slideLayout1.xml" Id="Re682ebbb8e134ad1" /><Relationship Type="http://schemas.openxmlformats.org/officeDocument/2006/relationships/slideLayout" Target="/ppt/slideLayouts/slideLayout2.xml" Id="Rd22847899d2047b3" /><Relationship Type="http://schemas.openxmlformats.org/officeDocument/2006/relationships/slideLayout" Target="/ppt/slideLayouts/slideLayout3.xml" Id="Rcbbc6002c2214932" /><Relationship Type="http://schemas.openxmlformats.org/officeDocument/2006/relationships/slideLayout" Target="/ppt/slideLayouts/slideLayout4.xml" Id="R6ee8b5d76dd64951" /><Relationship Type="http://schemas.openxmlformats.org/officeDocument/2006/relationships/slideLayout" Target="/ppt/slideLayouts/slideLayout5.xml" Id="Red82d34fdd6e4980" /><Relationship Type="http://schemas.openxmlformats.org/officeDocument/2006/relationships/slideLayout" Target="/ppt/slideLayouts/slideLayout6.xml" Id="R3b5492a158614c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82ebbb8e134ad1"/>
    <p:sldLayoutId xmlns:r="http://schemas.openxmlformats.org/officeDocument/2006/relationships" id="2147483650" r:id="Rd22847899d2047b3"/>
    <p:sldLayoutId xmlns:r="http://schemas.openxmlformats.org/officeDocument/2006/relationships" id="2147483651" r:id="Rcbbc6002c2214932"/>
    <p:sldLayoutId xmlns:r="http://schemas.openxmlformats.org/officeDocument/2006/relationships" id="2147483652" r:id="R6ee8b5d76dd64951"/>
    <p:sldLayoutId xmlns:r="http://schemas.openxmlformats.org/officeDocument/2006/relationships" id="2147483653" r:id="Red82d34fdd6e4980"/>
    <p:sldLayoutId xmlns:r="http://schemas.openxmlformats.org/officeDocument/2006/relationships" id="2147483654" r:id="R3b5492a158614c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f58ddd2f154ba4" /><Relationship Type="http://schemas.openxmlformats.org/officeDocument/2006/relationships/notesSlide" Target="/ppt/notesSlides/notesSlide1.xml" Id="Rfed242d0522541b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97d38fe7b84d09" /><Relationship Type="http://schemas.openxmlformats.org/officeDocument/2006/relationships/image" Target="/ppt/media/image.png" Id="R5e7d13b0604a40ab" /><Relationship Type="http://schemas.openxmlformats.org/officeDocument/2006/relationships/image" Target="/ppt/media/image2.png" Id="Ref789f48030f40fb" /><Relationship Type="http://schemas.openxmlformats.org/officeDocument/2006/relationships/notesSlide" Target="/ppt/notesSlides/notesSlide2.xml" Id="R6a0b46b339854c7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05bdac2acf47e8" /><Relationship Type="http://schemas.openxmlformats.org/officeDocument/2006/relationships/image" Target="/ppt/media/image3.png" Id="Rdae32ef643e1422d" /><Relationship Type="http://schemas.openxmlformats.org/officeDocument/2006/relationships/notesSlide" Target="/ppt/notesSlides/notesSlide3.xml" Id="Ref86e8f9ed36463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880e94c5ba4e0c" /><Relationship Type="http://schemas.openxmlformats.org/officeDocument/2006/relationships/notesSlide" Target="/ppt/notesSlides/notesSlide4.xml" Id="R551ed851588d463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ff64d999654cba" /><Relationship Type="http://schemas.openxmlformats.org/officeDocument/2006/relationships/image" Target="/ppt/media/image4.png" Id="Re04ae0d69966471f" /><Relationship Type="http://schemas.openxmlformats.org/officeDocument/2006/relationships/notesSlide" Target="/ppt/notesSlides/notesSlide5.xml" Id="Re991b392550f433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65d280e32f492e" /><Relationship Type="http://schemas.openxmlformats.org/officeDocument/2006/relationships/notesSlide" Target="/ppt/notesSlides/notesSlide6.xml" Id="Rb489cfaf79014fe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640681-068E-40D4-9D0D-F736E2C0300D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12020550" y="38100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267A0"/>
            </a:solidFill>
            <a:tailEnd type="arrow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0FAC2B-6958-4CE4-B0E6-49A2F687B6EA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9067800" y="38100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267A0"/>
            </a:solidFill>
            <a:tailEnd type="arrow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2ACE5C-6516-426C-9509-D74927C9D1AD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115050" y="38100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267A0"/>
            </a:solidFill>
            <a:tailEnd type="arrow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9536AD-2F57-43CF-88F3-C1560B6E05C7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62300" y="38100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267A0"/>
            </a:solidFill>
            <a:tailEnd type="arrow" w="med" len="med"/>
          </a:ln>
        </p:spPr>
      </p:cxnSp>
      <p:sp>
        <p:nvSpPr>
          <p:cNvPr id="29" name="title">
            <a:extLst xmlns:a="http://schemas.openxmlformats.org/drawingml/2006/main">
              <a:ext uri="{FF2B5EF4-FFF2-40B4-BE49-F238E27FC236}">
                <a16:creationId xmlns:a16="http://schemas.microsoft.com/office/drawing/2014/main" id="{4E206FFA-7F07-4AE6-9F6C-81905C274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390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4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Step 3.5 / 3.7 模型结构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07CFE21-50A6-41F7-9DC9-5A0A62142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5375"/>
            <a:ext cx="13858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rPr>
              <a:t>语言主干同源，Step 3.7 增加视觉编码器与 projector。结构参数与统计口径分别说明</a:t>
            </a:r>
          </a:p>
        </p:txBody>
      </p:sp>
      <p:sp>
        <p:nvSpPr>
          <p:cNvPr id="3" name="params">
            <a:extLst xmlns:a="http://schemas.openxmlformats.org/drawingml/2006/main">
              <a:ext uri="{FF2B5EF4-FFF2-40B4-BE49-F238E27FC236}">
                <a16:creationId xmlns:a16="http://schemas.microsoft.com/office/drawing/2014/main" id="{960F78C3-DFCC-4996-BA50-6C682D8CB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05000"/>
            <a:ext cx="1381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rPr>
              <a:t>3.5 主干 196B / 11B 激活       3.7 标称约 198B / 约 11B 激活       hidden size 4096</a:t>
            </a:r>
          </a:p>
        </p:txBody>
      </p:sp>
      <p:sp>
        <p:nvSpPr>
          <p:cNvPr id="4" name="input">
            <a:extLst xmlns:a="http://schemas.openxmlformats.org/drawingml/2006/main">
              <a:ext uri="{FF2B5EF4-FFF2-40B4-BE49-F238E27FC236}">
                <a16:creationId xmlns:a16="http://schemas.microsoft.com/office/drawing/2014/main" id="{C0199180-B98B-45F8-9AAC-2E0230087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2476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267A0"/>
            </a:solidFill>
          </a:ln>
        </p:spPr>
      </p:sp>
      <p:sp>
        <p:nvSpPr>
          <p:cNvPr id="5" name="input-head">
            <a:extLst xmlns:a="http://schemas.openxmlformats.org/drawingml/2006/main">
              <a:ext uri="{FF2B5EF4-FFF2-40B4-BE49-F238E27FC236}">
                <a16:creationId xmlns:a16="http://schemas.microsoft.com/office/drawing/2014/main" id="{AC1FC383-07AB-4B76-9881-43F34157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2385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rPr>
              <a:t>输入与 Embedding</a:t>
            </a:r>
          </a:p>
        </p:txBody>
      </p:sp>
      <p:sp>
        <p:nvSpPr>
          <p:cNvPr id="6" name="input-body">
            <a:extLst xmlns:a="http://schemas.openxmlformats.org/drawingml/2006/main">
              <a:ext uri="{FF2B5EF4-FFF2-40B4-BE49-F238E27FC236}">
                <a16:creationId xmlns:a16="http://schemas.microsoft.com/office/drawing/2014/main" id="{6B3BD7AB-8092-4905-B472-D8A959CD7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667125"/>
            <a:ext cx="219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文本 tokens</a:t>
            </a:r>
          </a:p>
          <a:p xmlns:a="http://schemas.openxmlformats.org/drawingml/2006/main">
            <a: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3.7 可接视觉特征</a:t>
            </a:r>
          </a:p>
        </p:txBody>
      </p:sp>
      <p:sp>
        <p:nvSpPr>
          <p:cNvPr id="7" name="dense">
            <a:extLst xmlns:a="http://schemas.openxmlformats.org/drawingml/2006/main">
              <a:ext uri="{FF2B5EF4-FFF2-40B4-BE49-F238E27FC236}">
                <a16:creationId xmlns:a16="http://schemas.microsoft.com/office/drawing/2014/main" id="{9EE05FC7-BA3B-4549-B7D4-7F680007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95625"/>
            <a:ext cx="2571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267A0"/>
            </a:solidFill>
          </a:ln>
        </p:spPr>
      </p:sp>
      <p:sp>
        <p:nvSpPr>
          <p:cNvPr id="8" name="dense-head">
            <a:extLst xmlns:a="http://schemas.openxmlformats.org/drawingml/2006/main">
              <a:ext uri="{FF2B5EF4-FFF2-40B4-BE49-F238E27FC236}">
                <a16:creationId xmlns:a16="http://schemas.microsoft.com/office/drawing/2014/main" id="{776553FA-E5AA-4AA2-A334-3AEA9589A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2385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rPr>
              <a:t>前 3 层</a:t>
            </a:r>
          </a:p>
        </p:txBody>
      </p:sp>
      <p:sp>
        <p:nvSpPr>
          <p:cNvPr id="9" name="dense-body">
            <a:extLst xmlns:a="http://schemas.openxmlformats.org/drawingml/2006/main">
              <a:ext uri="{FF2B5EF4-FFF2-40B4-BE49-F238E27FC236}">
                <a16:creationId xmlns:a16="http://schemas.microsoft.com/office/drawing/2014/main" id="{3EBE8F40-EE81-496F-AF91-07E4557B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667125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Attention</a:t>
            </a:r>
          </a:p>
          <a:p xmlns:a="http://schemas.openxmlformats.org/drawingml/2006/main">
            <a: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Dense FFN</a:t>
            </a:r>
          </a:p>
        </p:txBody>
      </p:sp>
      <p:sp>
        <p:nvSpPr>
          <p:cNvPr id="10" name="moe">
            <a:extLst xmlns:a="http://schemas.openxmlformats.org/drawingml/2006/main">
              <a:ext uri="{FF2B5EF4-FFF2-40B4-BE49-F238E27FC236}">
                <a16:creationId xmlns:a16="http://schemas.microsoft.com/office/drawing/2014/main" id="{AB7DE4DC-7ED8-4ABB-BEE5-7660BF10E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95625"/>
            <a:ext cx="2571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267A0"/>
            </a:solidFill>
          </a:ln>
        </p:spPr>
      </p:sp>
      <p:sp>
        <p:nvSpPr>
          <p:cNvPr id="11" name="moe-head">
            <a:extLst xmlns:a="http://schemas.openxmlformats.org/drawingml/2006/main">
              <a:ext uri="{FF2B5EF4-FFF2-40B4-BE49-F238E27FC236}">
                <a16:creationId xmlns:a16="http://schemas.microsoft.com/office/drawing/2014/main" id="{7BCFD238-0780-4E0C-8C53-C18CB44C5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2385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rPr>
              <a:t>后 42 层</a:t>
            </a:r>
          </a:p>
        </p:txBody>
      </p:sp>
      <p:sp>
        <p:nvSpPr>
          <p:cNvPr id="12" name="moe-body">
            <a:extLst xmlns:a="http://schemas.openxmlformats.org/drawingml/2006/main">
              <a:ext uri="{FF2B5EF4-FFF2-40B4-BE49-F238E27FC236}">
                <a16:creationId xmlns:a16="http://schemas.microsoft.com/office/drawing/2014/main" id="{E2F272BD-7613-41B6-802E-A4C960977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667125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Attention</a:t>
            </a:r>
          </a:p>
          <a:p xmlns:a="http://schemas.openxmlformats.org/drawingml/2006/main">
            <a: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稀疏 MoE FFN</a:t>
            </a:r>
          </a:p>
        </p:txBody>
      </p:sp>
      <p:sp>
        <p:nvSpPr>
          <p:cNvPr id="13" name="head">
            <a:extLst xmlns:a="http://schemas.openxmlformats.org/drawingml/2006/main">
              <a:ext uri="{FF2B5EF4-FFF2-40B4-BE49-F238E27FC236}">
                <a16:creationId xmlns:a16="http://schemas.microsoft.com/office/drawing/2014/main" id="{EB1483A5-78D7-488B-934B-1109D706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95625"/>
            <a:ext cx="2571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267A0"/>
            </a:solidFill>
          </a:ln>
        </p:spPr>
      </p:sp>
      <p:sp>
        <p:nvSpPr>
          <p:cNvPr id="14" name="head-head">
            <a:extLst xmlns:a="http://schemas.openxmlformats.org/drawingml/2006/main">
              <a:ext uri="{FF2B5EF4-FFF2-40B4-BE49-F238E27FC236}">
                <a16:creationId xmlns:a16="http://schemas.microsoft.com/office/drawing/2014/main" id="{EAD757D0-D834-4FF9-8D7B-37B17759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2385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rPr>
              <a:t>输出层</a:t>
            </a:r>
          </a:p>
        </p:txBody>
      </p:sp>
      <p:sp>
        <p:nvSpPr>
          <p:cNvPr id="15" name="head-body">
            <a:extLst xmlns:a="http://schemas.openxmlformats.org/drawingml/2006/main">
              <a:ext uri="{FF2B5EF4-FFF2-40B4-BE49-F238E27FC236}">
                <a16:creationId xmlns:a16="http://schemas.microsoft.com/office/drawing/2014/main" id="{4BF6FCBD-D06F-4D22-AF68-936964BDC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667125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归一化与 LM Head</a:t>
            </a:r>
          </a:p>
          <a:p xmlns:a="http://schemas.openxmlformats.org/drawingml/2006/main">
            <a: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预测下一 token</a:t>
            </a:r>
          </a:p>
        </p:txBody>
      </p:sp>
      <p:sp>
        <p:nvSpPr>
          <p:cNvPr id="16" name="mtp">
            <a:extLst xmlns:a="http://schemas.openxmlformats.org/drawingml/2006/main">
              <a:ext uri="{FF2B5EF4-FFF2-40B4-BE49-F238E27FC236}">
                <a16:creationId xmlns:a16="http://schemas.microsoft.com/office/drawing/2014/main" id="{F7637EB3-9C0E-44EA-8A01-75C18320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3095625"/>
            <a:ext cx="21431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267A0"/>
            </a:solidFill>
          </a:ln>
        </p:spPr>
      </p:sp>
      <p:sp>
        <p:nvSpPr>
          <p:cNvPr id="17" name="mtp-head">
            <a:extLst xmlns:a="http://schemas.openxmlformats.org/drawingml/2006/main">
              <a:ext uri="{FF2B5EF4-FFF2-40B4-BE49-F238E27FC236}">
                <a16:creationId xmlns:a16="http://schemas.microsoft.com/office/drawing/2014/main" id="{3674BCBC-B184-4ACD-9F41-AF892713A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4425" y="3238500"/>
            <a:ext cx="1857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rPr>
              <a:t>MTP</a:t>
            </a:r>
          </a:p>
        </p:txBody>
      </p:sp>
      <p:sp>
        <p:nvSpPr>
          <p:cNvPr id="18" name="mtp-body">
            <a:extLst xmlns:a="http://schemas.openxmlformats.org/drawingml/2006/main">
              <a:ext uri="{FF2B5EF4-FFF2-40B4-BE49-F238E27FC236}">
                <a16:creationId xmlns:a16="http://schemas.microsoft.com/office/drawing/2014/main" id="{4CC02BF3-C3B4-463F-A780-3D4B7639B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4425" y="3667125"/>
            <a:ext cx="1857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3 个预测层</a:t>
            </a:r>
          </a:p>
          <a:p xmlns:a="http://schemas.openxmlformats.org/drawingml/2006/main">
            <a: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候选与目标验证</a:t>
            </a:r>
          </a:p>
        </p:txBody>
      </p:sp>
      <p:sp>
        <p:nvSpPr>
          <p:cNvPr id="23" name="repetition">
            <a:extLst xmlns:a="http://schemas.openxmlformats.org/drawingml/2006/main">
              <a:ext uri="{FF2B5EF4-FFF2-40B4-BE49-F238E27FC236}">
                <a16:creationId xmlns:a16="http://schemas.microsoft.com/office/drawing/2014/main" id="{EC9196DF-A9E6-4753-ADCB-CA1F71A6E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14875"/>
            <a:ext cx="1381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950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rPr>
              <a:t>主干共 45 层。图示省略各层归一化与残差路径，MTP 单列为生成加速分支</a:t>
            </a:r>
          </a:p>
        </p:txBody>
      </p:sp>
      <p:sp>
        <p:nvSpPr>
          <p:cNvPr id="24" name="attention">
            <a:extLst xmlns:a="http://schemas.openxmlformats.org/drawingml/2006/main">
              <a:ext uri="{FF2B5EF4-FFF2-40B4-BE49-F238E27FC236}">
                <a16:creationId xmlns:a16="http://schemas.microsoft.com/office/drawing/2014/main" id="{CCF86C8C-81B9-4708-813E-FE8D595D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62575"/>
            <a:ext cx="1381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75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rPr>
              <a:t>Attention：33 SWA + 12 Full，window 512，逐 head 输出门控</a:t>
            </a:r>
          </a:p>
        </p:txBody>
      </p:sp>
      <p:sp>
        <p:nvSpPr>
          <p:cNvPr id="25" name="heads">
            <a:extLst xmlns:a="http://schemas.openxmlformats.org/drawingml/2006/main">
              <a:ext uri="{FF2B5EF4-FFF2-40B4-BE49-F238E27FC236}">
                <a16:creationId xmlns:a16="http://schemas.microsoft.com/office/drawing/2014/main" id="{CEE67859-4274-4404-ABEA-D2159C71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1381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Query heads：Full 64 / SWA 96，KV heads 8，head dim 128</a:t>
            </a:r>
          </a:p>
        </p:txBody>
      </p:sp>
      <p:sp>
        <p:nvSpPr>
          <p:cNvPr id="26" name="experts">
            <a:extLst xmlns:a="http://schemas.openxmlformats.org/drawingml/2006/main">
              <a:ext uri="{FF2B5EF4-FFF2-40B4-BE49-F238E27FC236}">
                <a16:creationId xmlns:a16="http://schemas.microsoft.com/office/drawing/2014/main" id="{23B0B4D0-20B5-4646-B83D-3AE1C257F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29350"/>
            <a:ext cx="1381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MoE：每层 288 routed，top-8 + 1 shared，expert intermediate size 1280</a:t>
            </a:r>
          </a:p>
        </p:txBody>
      </p:sp>
      <p:sp>
        <p:nvSpPr>
          <p:cNvPr id="27" name="vision">
            <a:extLst xmlns:a="http://schemas.openxmlformats.org/drawingml/2006/main">
              <a:ext uri="{FF2B5EF4-FFF2-40B4-BE49-F238E27FC236}">
                <a16:creationId xmlns:a16="http://schemas.microsoft.com/office/drawing/2014/main" id="{01471FB4-CFC6-43C7-8EE7-77F1E5A57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657975"/>
            <a:ext cx="1381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3.7 视觉：47 层、约 1.8B 的编码器，经 projector 接入语言主干</a:t>
            </a:r>
          </a:p>
        </p:txBody>
      </p:sp>
      <p:sp>
        <p:nvSpPr>
          <p:cNvPr id="28" name="step5">
            <a:extLst xmlns:a="http://schemas.openxmlformats.org/drawingml/2006/main">
              <a:ext uri="{FF2B5EF4-FFF2-40B4-BE49-F238E27FC236}">
                <a16:creationId xmlns:a16="http://schemas.microsoft.com/office/drawing/2014/main" id="{A065AC10-FA7D-487B-9973-FC05E5990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410450"/>
            <a:ext cx="1381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rPr>
              <a:t>Step 5：已确认 600B / 27B 稀疏 MoE、1M 上下文、64K 输出。层数、attention、专家数与 MTP 尚未核实</a:t>
            </a:r>
          </a:p>
        </p:txBody>
      </p:sp>
    </p:spTree>
    <p:extLst>
      <p:ext uri="{BB962C8B-B14F-4D97-AF65-F5344CB8AC3E}">
        <p14:creationId xmlns:p14="http://schemas.microsoft.com/office/powerpoint/2010/main" val="1087761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3A084C95-AE99-47AF-9FD0-A3EA5B98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390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4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滑动窗口注意力与 Gated SWA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1021952-7428-4F6A-BF2C-F8F75934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5375"/>
            <a:ext cx="13858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rPr>
              <a:t>SWA 控制看哪里，Gate 控制每个 head 读到的信息注入多少</a:t>
            </a:r>
          </a:p>
        </p:txBody>
      </p:sp>
      <p:sp>
        <p:nvSpPr>
          <p:cNvPr id="3" name="swa-label">
            <a:extLst xmlns:a="http://schemas.openxmlformats.org/drawingml/2006/main">
              <a:ext uri="{FF2B5EF4-FFF2-40B4-BE49-F238E27FC236}">
                <a16:creationId xmlns:a16="http://schemas.microsoft.com/office/drawing/2014/main" id="{2CD72EE7-9909-4C86-9C00-D6CDB108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771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75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rPr>
              <a:t>滑动窗口：当前 query 12，示意窗口 4</a:t>
            </a:r>
          </a:p>
        </p:txBody>
      </p:sp>
      <p:sp>
        <p:nvSpPr>
          <p:cNvPr id="4" name="gate-label">
            <a:extLst xmlns:a="http://schemas.openxmlformats.org/drawingml/2006/main">
              <a:ext uri="{FF2B5EF4-FFF2-40B4-BE49-F238E27FC236}">
                <a16:creationId xmlns:a16="http://schemas.microsoft.com/office/drawing/2014/main" id="{93ACD468-143C-434F-86AC-5B529DA86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24050"/>
            <a:ext cx="581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75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rPr>
              <a:t>输出门控：示意 gate = 0.25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7EF63F-81FB-42EA-839B-499197B0C8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7d13b0604a40ab"/>
          <a:stretch xmlns:a="http://schemas.openxmlformats.org/drawingml/2006/main"/>
        </p:blipFill>
        <p:spPr>
          <a:xfrm xmlns:a="http://schemas.openxmlformats.org/drawingml/2006/main">
            <a:off x="685800" y="2656731"/>
            <a:ext cx="7524750" cy="4021038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7E916D-44A5-4B77-82A3-0D329FE36E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789f48030f40fb"/>
          <a:stretch xmlns:a="http://schemas.openxmlformats.org/drawingml/2006/main"/>
        </p:blipFill>
        <p:spPr>
          <a:xfrm xmlns:a="http://schemas.openxmlformats.org/drawingml/2006/main">
            <a:off x="8705850" y="3685282"/>
            <a:ext cx="5857875" cy="1830586"/>
          </a:xfrm>
          <a:prstGeom xmlns:a="http://schemas.openxmlformats.org/drawingml/2006/main" prst="rect">
            <a:avLst/>
          </a:prstGeom>
        </p:spPr>
      </p:pic>
      <p:sp>
        <p:nvSpPr>
          <p:cNvPr id="7" name="swa-note">
            <a:extLst xmlns:a="http://schemas.openxmlformats.org/drawingml/2006/main">
              <a:ext uri="{FF2B5EF4-FFF2-40B4-BE49-F238E27FC236}">
                <a16:creationId xmlns:a16="http://schemas.microsoft.com/office/drawing/2014/main" id="{4EF7D15F-A4F6-472E-8B9E-D7FB103CB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981825"/>
            <a:ext cx="762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95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Full 直接看 1–12，SWA 直接看 9–12</a:t>
            </a:r>
          </a:p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Step 3.5/3.7 混合局部与全局层，保留全局交互路径</a:t>
            </a:r>
          </a:p>
        </p:txBody>
      </p:sp>
      <p:sp>
        <p:nvSpPr>
          <p:cNvPr id="8" name="gate-note">
            <a:extLst xmlns:a="http://schemas.openxmlformats.org/drawingml/2006/main">
              <a:ext uri="{FF2B5EF4-FFF2-40B4-BE49-F238E27FC236}">
                <a16:creationId xmlns:a16="http://schemas.microsoft.com/office/drawing/2014/main" id="{C182E30C-358F-4BF9-808F-4CB615F0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981825"/>
            <a:ext cx="581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sigmoid(W_gate × hidden) × head 输出</a:t>
            </a:r>
          </a:p>
          <a:p xmlns:a="http://schemas.openxmlformats.org/drawingml/2006/main">
            <a: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Gate 不改变窗口，也不自动跳过 attention</a:t>
            </a:r>
          </a:p>
        </p:txBody>
      </p:sp>
      <p:sp>
        <p:nvSpPr>
          <p:cNvPr id="9" name="source-note">
            <a:extLst xmlns:a="http://schemas.openxmlformats.org/drawingml/2006/main">
              <a:ext uri="{FF2B5EF4-FFF2-40B4-BE49-F238E27FC236}">
                <a16:creationId xmlns:a16="http://schemas.microsoft.com/office/drawing/2014/main" id="{D94CF689-175C-45BC-98CE-42F32B8CC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010525"/>
            <a:ext cx="1381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500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rPr>
              <a:t>矩阵、gate 与输出幅度为原交互图的静态示意。实际 window=512，33 SWA + 12 Full。复核于 2026-10-12</a:t>
            </a:r>
          </a:p>
        </p:txBody>
      </p:sp>
    </p:spTree>
    <p:extLst>
      <p:ext uri="{BB962C8B-B14F-4D97-AF65-F5344CB8AC3E}">
        <p14:creationId xmlns:p14="http://schemas.microsoft.com/office/powerpoint/2010/main" val="6928122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C4384EB5-06E9-42D7-A5F5-72C1BA13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390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4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稀疏 MoE：选择参与计算的 FFN 专家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08F5527-048D-48D9-BDDD-A1F48B6FF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5375"/>
            <a:ext cx="13858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rPr>
              <a:t>Router 为每个 token 选择少数专家，加权合并结果。不同 token 与不同层可以使用不同专家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9A9D31-BD6A-4494-AE04-19385328A5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e32ef643e1422d"/>
          <a:stretch xmlns:a="http://schemas.openxmlformats.org/drawingml/2006/main"/>
        </p:blipFill>
        <p:spPr>
          <a:xfrm xmlns:a="http://schemas.openxmlformats.org/drawingml/2006/main">
            <a:off x="685800" y="2459038"/>
            <a:ext cx="9906000" cy="4911725"/>
          </a:xfrm>
          <a:prstGeom xmlns:a="http://schemas.openxmlformats.org/drawingml/2006/main" prst="rect">
            <a:avLst/>
          </a:prstGeom>
        </p:spPr>
      </p:pic>
      <p:sp>
        <p:nvSpPr>
          <p:cNvPr id="4" name="scope">
            <a:extLst xmlns:a="http://schemas.openxmlformats.org/drawingml/2006/main">
              <a:ext uri="{FF2B5EF4-FFF2-40B4-BE49-F238E27FC236}">
                <a16:creationId xmlns:a16="http://schemas.microsoft.com/office/drawing/2014/main" id="{360EE3A0-87E0-48AF-A30E-5DCAE5236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333625"/>
            <a:ext cx="3476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rPr>
              <a:t>实际结构</a:t>
            </a:r>
          </a:p>
        </p:txBody>
      </p:sp>
      <p:sp>
        <p:nvSpPr>
          <p:cNvPr id="5" name="actual">
            <a:extLst xmlns:a="http://schemas.openxmlformats.org/drawingml/2006/main">
              <a:ext uri="{FF2B5EF4-FFF2-40B4-BE49-F238E27FC236}">
                <a16:creationId xmlns:a16="http://schemas.microsoft.com/office/drawing/2014/main" id="{CAD13397-2DD4-4085-BEC4-EC71DB14A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905125"/>
            <a:ext cx="34766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288 routed experts</a:t>
            </a:r>
          </a:p>
          <a:p xmlns:a="http://schemas.openxmlformats.org/drawingml/2006/main">
            <a:pPr>
              <a:defRPr sz="210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top-8 + 1 shared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图中缩小为 12 / top-3</a:t>
            </a:r>
          </a:p>
        </p:txBody>
      </p:sp>
      <p:sp>
        <p:nvSpPr>
          <p:cNvPr id="6" name="semantics">
            <a:extLst xmlns:a="http://schemas.openxmlformats.org/drawingml/2006/main">
              <a:ext uri="{FF2B5EF4-FFF2-40B4-BE49-F238E27FC236}">
                <a16:creationId xmlns:a16="http://schemas.microsoft.com/office/drawing/2014/main" id="{79CC91A0-8E09-4682-82E6-7A95D0AFD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05375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rPr>
              <a:t>技术边界</a:t>
            </a:r>
          </a:p>
        </p:txBody>
      </p:sp>
      <p:sp>
        <p:nvSpPr>
          <p:cNvPr id="7" name="limits">
            <a:extLst xmlns:a="http://schemas.openxmlformats.org/drawingml/2006/main">
              <a:ext uri="{FF2B5EF4-FFF2-40B4-BE49-F238E27FC236}">
                <a16:creationId xmlns:a16="http://schemas.microsoft.com/office/drawing/2014/main" id="{4C636FF0-ECCE-481C-9662-50AEBFF6F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486400"/>
            <a:ext cx="34766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95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专家为 FFN 子网络</a:t>
            </a:r>
          </a:p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未激活权重仍需存储</a:t>
            </a:r>
          </a:p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跨卡通信与负载影响速度</a:t>
            </a:r>
          </a:p>
        </p:txBody>
      </p:sp>
      <p:sp>
        <p:nvSpPr>
          <p:cNvPr id="8" name="router-note">
            <a:extLst xmlns:a="http://schemas.openxmlformats.org/drawingml/2006/main">
              <a:ext uri="{FF2B5EF4-FFF2-40B4-BE49-F238E27FC236}">
                <a16:creationId xmlns:a16="http://schemas.microsoft.com/office/drawing/2014/main" id="{7200E2BA-1B9B-4912-B319-DF915D3B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48575"/>
            <a:ext cx="13811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00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rPr>
              <a:t>接口：hidden 经 router 的 FP32 sigmoid 得分，bias 参与选专家，合并权重取未加 bias 的概率并归一/缩放</a:t>
            </a:r>
          </a:p>
        </p:txBody>
      </p:sp>
    </p:spTree>
    <p:extLst>
      <p:ext uri="{BB962C8B-B14F-4D97-AF65-F5344CB8AC3E}">
        <p14:creationId xmlns:p14="http://schemas.microsoft.com/office/powerpoint/2010/main" val="1240287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E5188D-718A-46CA-B924-B5096F5F2D75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734550" y="339566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267A0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691C4A-CCE4-4E5E-B316-75CA02F0765D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924425" y="339566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267A0"/>
            </a:solidFill>
            <a:tailEnd type="arrow" w="med" len="med"/>
          </a:ln>
        </p:spPr>
      </p:cxnSp>
      <p:sp>
        <p:nvSpPr>
          <p:cNvPr id="46" name="title">
            <a:extLst xmlns:a="http://schemas.openxmlformats.org/drawingml/2006/main">
              <a:ext uri="{FF2B5EF4-FFF2-40B4-BE49-F238E27FC236}">
                <a16:creationId xmlns:a16="http://schemas.microsoft.com/office/drawing/2014/main" id="{2FFDA150-7173-4EE4-A6EA-A362E028D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390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4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EP 均衡：减少最慢 rank 拖尾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4E7AFF0-A00B-484C-9F81-101BA850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5375"/>
            <a:ext cx="13858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rPr>
              <a:t>专家分布在不同 rank 上，当前批次的专家调用偏斜会让部分设备更忙，其他设备等待</a:t>
            </a:r>
          </a:p>
        </p:txBody>
      </p:sp>
      <p:sp>
        <p:nvSpPr>
          <p:cNvPr id="3" name="training">
            <a:extLst xmlns:a="http://schemas.openxmlformats.org/drawingml/2006/main">
              <a:ext uri="{FF2B5EF4-FFF2-40B4-BE49-F238E27FC236}">
                <a16:creationId xmlns:a16="http://schemas.microsoft.com/office/drawing/2014/main" id="{3832EDEF-45A0-4AF8-A771-BFA313C02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14525"/>
            <a:ext cx="1381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rPr>
              <a:t>Step 3.5 训练：全局 loss-free bias 平衡专家，micro-batch rank 辅助损失约束设备级偏斜</a:t>
            </a:r>
          </a:p>
        </p:txBody>
      </p:sp>
      <p:sp>
        <p:nvSpPr>
          <p:cNvPr id="4" name="load">
            <a:extLst xmlns:a="http://schemas.openxmlformats.org/drawingml/2006/main">
              <a:ext uri="{FF2B5EF4-FFF2-40B4-BE49-F238E27FC236}">
                <a16:creationId xmlns:a16="http://schemas.microsoft.com/office/drawing/2014/main" id="{E897C897-5D7C-4BF6-A2CC-B1645574C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42386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267A0"/>
            </a:solidFill>
          </a:ln>
        </p:spPr>
      </p:sp>
      <p:sp>
        <p:nvSpPr>
          <p:cNvPr id="5" name="load-head">
            <a:extLst xmlns:a="http://schemas.openxmlformats.org/drawingml/2006/main">
              <a:ext uri="{FF2B5EF4-FFF2-40B4-BE49-F238E27FC236}">
                <a16:creationId xmlns:a16="http://schemas.microsoft.com/office/drawing/2014/main" id="{5F33D7AD-A2AA-42E8-9D26-4FD9FF006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943225"/>
            <a:ext cx="3952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rPr>
              <a:t>推理侧统计负载</a:t>
            </a:r>
          </a:p>
        </p:txBody>
      </p:sp>
      <p:sp>
        <p:nvSpPr>
          <p:cNvPr id="6" name="load-body">
            <a:extLst xmlns:a="http://schemas.openxmlformats.org/drawingml/2006/main">
              <a:ext uri="{FF2B5EF4-FFF2-40B4-BE49-F238E27FC236}">
                <a16:creationId xmlns:a16="http://schemas.microsoft.com/office/drawing/2014/main" id="{E518A5E6-A52A-4517-AE82-9882922A7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371850"/>
            <a:ext cx="3952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统计 token–expert 分配</a:t>
            </a:r>
          </a:p>
          <a:p xmlns:a="http://schemas.openxmlformats.org/drawingml/2006/main">
            <a: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按层观察热点与各 rank 耗时</a:t>
            </a:r>
          </a:p>
        </p:txBody>
      </p:sp>
      <p:sp>
        <p:nvSpPr>
          <p:cNvPr id="7" name="layout">
            <a:extLst xmlns:a="http://schemas.openxmlformats.org/drawingml/2006/main">
              <a:ext uri="{FF2B5EF4-FFF2-40B4-BE49-F238E27FC236}">
                <a16:creationId xmlns:a16="http://schemas.microsoft.com/office/drawing/2014/main" id="{BA203A4F-32FD-49B5-B363-DDBDE60B3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800350"/>
            <a:ext cx="42386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267A0"/>
            </a:solidFill>
          </a:ln>
        </p:spPr>
      </p:sp>
      <p:sp>
        <p:nvSpPr>
          <p:cNvPr id="8" name="layout-head">
            <a:extLst xmlns:a="http://schemas.openxmlformats.org/drawingml/2006/main">
              <a:ext uri="{FF2B5EF4-FFF2-40B4-BE49-F238E27FC236}">
                <a16:creationId xmlns:a16="http://schemas.microsoft.com/office/drawing/2014/main" id="{55B110BB-1306-48BC-A251-C955B15EF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43225"/>
            <a:ext cx="3952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rPr>
              <a:t>重排与热点专家复制</a:t>
            </a:r>
          </a:p>
        </p:txBody>
      </p:sp>
      <p:sp>
        <p:nvSpPr>
          <p:cNvPr id="9" name="layout-body">
            <a:extLst xmlns:a="http://schemas.openxmlformats.org/drawingml/2006/main">
              <a:ext uri="{FF2B5EF4-FFF2-40B4-BE49-F238E27FC236}">
                <a16:creationId xmlns:a16="http://schemas.microsoft.com/office/drawing/2014/main" id="{2ED3082A-1BF1-41E9-98D9-E213D5BF3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371850"/>
            <a:ext cx="3952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调整专家的物理放置</a:t>
            </a:r>
          </a:p>
          <a:p xmlns:a="http://schemas.openxmlformats.org/drawingml/2006/main">
            <a: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热点专家配置等价权重副本</a:t>
            </a:r>
          </a:p>
        </p:txBody>
      </p:sp>
      <p:sp>
        <p:nvSpPr>
          <p:cNvPr id="10" name="dispatch">
            <a:extLst xmlns:a="http://schemas.openxmlformats.org/drawingml/2006/main">
              <a:ext uri="{FF2B5EF4-FFF2-40B4-BE49-F238E27FC236}">
                <a16:creationId xmlns:a16="http://schemas.microsoft.com/office/drawing/2014/main" id="{7D40EF78-80FC-4C2D-82A5-F8ACD4BD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800350"/>
            <a:ext cx="42386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267A0"/>
            </a:solidFill>
          </a:ln>
        </p:spPr>
      </p:sp>
      <p:sp>
        <p:nvSpPr>
          <p:cNvPr id="11" name="dispatch-head">
            <a:extLst xmlns:a="http://schemas.openxmlformats.org/drawingml/2006/main">
              <a:ext uri="{FF2B5EF4-FFF2-40B4-BE49-F238E27FC236}">
                <a16:creationId xmlns:a16="http://schemas.microsoft.com/office/drawing/2014/main" id="{93CC4D12-7FA0-40CA-8E10-07F17594F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2943225"/>
            <a:ext cx="3952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rPr>
              <a:t>分发至等价副本</a:t>
            </a:r>
          </a:p>
        </p:txBody>
      </p:sp>
      <p:sp>
        <p:nvSpPr>
          <p:cNvPr id="12" name="dispatch-body">
            <a:extLst xmlns:a="http://schemas.openxmlformats.org/drawingml/2006/main">
              <a:ext uri="{FF2B5EF4-FFF2-40B4-BE49-F238E27FC236}">
                <a16:creationId xmlns:a16="http://schemas.microsoft.com/office/drawing/2014/main" id="{0F649E8B-EA78-48D6-90D7-750973305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3371850"/>
            <a:ext cx="3952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保持逻辑 top-k 专家不变</a:t>
            </a:r>
          </a:p>
          <a:p xmlns:a="http://schemas.openxmlformats.org/drawingml/2006/main">
            <a: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分摊热点计算，合并专家输出</a:t>
            </a:r>
          </a:p>
        </p:txBody>
      </p:sp>
      <p:sp>
        <p:nvSpPr>
          <p:cNvPr id="15" name="before">
            <a:extLst xmlns:a="http://schemas.openxmlformats.org/drawingml/2006/main">
              <a:ext uri="{FF2B5EF4-FFF2-40B4-BE49-F238E27FC236}">
                <a16:creationId xmlns:a16="http://schemas.microsoft.com/office/drawing/2014/main" id="{8CF47794-21C5-4F9B-A923-E2AAD7D4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005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75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rPr>
              <a:t>均衡前：负载集中在 Rank 0</a:t>
            </a:r>
          </a:p>
        </p:txBody>
      </p:sp>
      <p:sp>
        <p:nvSpPr>
          <p:cNvPr id="16" name="after">
            <a:extLst xmlns:a="http://schemas.openxmlformats.org/drawingml/2006/main">
              <a:ext uri="{FF2B5EF4-FFF2-40B4-BE49-F238E27FC236}">
                <a16:creationId xmlns:a16="http://schemas.microsoft.com/office/drawing/2014/main" id="{6B7F00C8-B463-47C8-99FB-30E466BF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4400550"/>
            <a:ext cx="633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75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rPr>
              <a:t>均衡后：同一总工作量分摊执行</a:t>
            </a:r>
          </a:p>
        </p:txBody>
      </p:sp>
      <p:sp>
        <p:nvSpPr>
          <p:cNvPr id="17" name="before-0">
            <a:extLst xmlns:a="http://schemas.openxmlformats.org/drawingml/2006/main">
              <a:ext uri="{FF2B5EF4-FFF2-40B4-BE49-F238E27FC236}">
                <a16:creationId xmlns:a16="http://schemas.microsoft.com/office/drawing/2014/main" id="{58B0BCAE-C2B7-47CC-BB1A-FB7C5917C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476375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267A0"/>
            </a:solidFill>
          </a:ln>
        </p:spPr>
      </p:sp>
      <p:sp>
        <p:nvSpPr>
          <p:cNvPr id="18" name="before-0-head">
            <a:extLst xmlns:a="http://schemas.openxmlformats.org/drawingml/2006/main">
              <a:ext uri="{FF2B5EF4-FFF2-40B4-BE49-F238E27FC236}">
                <a16:creationId xmlns:a16="http://schemas.microsoft.com/office/drawing/2014/main" id="{108C52A4-5F29-40A2-BD63-C10495472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238750"/>
            <a:ext cx="1190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rPr>
              <a:t>Rank 0</a:t>
            </a:r>
          </a:p>
        </p:txBody>
      </p:sp>
      <p:sp>
        <p:nvSpPr>
          <p:cNvPr id="19" name="before-0-body">
            <a:extLst xmlns:a="http://schemas.openxmlformats.org/drawingml/2006/main">
              <a:ext uri="{FF2B5EF4-FFF2-40B4-BE49-F238E27FC236}">
                <a16:creationId xmlns:a16="http://schemas.microsoft.com/office/drawing/2014/main" id="{F854F2FB-6119-440A-A8DE-0C4F18669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667375"/>
            <a:ext cx="11906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64 次分配</a:t>
            </a:r>
          </a:p>
        </p:txBody>
      </p:sp>
      <p:sp>
        <p:nvSpPr>
          <p:cNvPr id="20" name="after-0">
            <a:extLst xmlns:a="http://schemas.openxmlformats.org/drawingml/2006/main">
              <a:ext uri="{FF2B5EF4-FFF2-40B4-BE49-F238E27FC236}">
                <a16:creationId xmlns:a16="http://schemas.microsoft.com/office/drawing/2014/main" id="{E21BBB71-A500-42CF-8D23-E09E0CBDB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95875"/>
            <a:ext cx="1476375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267A0"/>
            </a:solidFill>
          </a:ln>
        </p:spPr>
      </p:sp>
      <p:sp>
        <p:nvSpPr>
          <p:cNvPr id="21" name="after-0-head">
            <a:extLst xmlns:a="http://schemas.openxmlformats.org/drawingml/2006/main">
              <a:ext uri="{FF2B5EF4-FFF2-40B4-BE49-F238E27FC236}">
                <a16:creationId xmlns:a16="http://schemas.microsoft.com/office/drawing/2014/main" id="{582B7070-EC53-4142-8F2A-33170CF6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238750"/>
            <a:ext cx="1190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rPr>
              <a:t>Rank 0</a:t>
            </a:r>
          </a:p>
        </p:txBody>
      </p:sp>
      <p:sp>
        <p:nvSpPr>
          <p:cNvPr id="22" name="after-0-body">
            <a:extLst xmlns:a="http://schemas.openxmlformats.org/drawingml/2006/main">
              <a:ext uri="{FF2B5EF4-FFF2-40B4-BE49-F238E27FC236}">
                <a16:creationId xmlns:a16="http://schemas.microsoft.com/office/drawing/2014/main" id="{99427E75-4A33-4BEC-9858-A2951589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667375"/>
            <a:ext cx="11906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32 次分配</a:t>
            </a:r>
          </a:p>
        </p:txBody>
      </p:sp>
      <p:sp>
        <p:nvSpPr>
          <p:cNvPr id="23" name="before-1">
            <a:extLst xmlns:a="http://schemas.openxmlformats.org/drawingml/2006/main">
              <a:ext uri="{FF2B5EF4-FFF2-40B4-BE49-F238E27FC236}">
                <a16:creationId xmlns:a16="http://schemas.microsoft.com/office/drawing/2014/main" id="{CC9D1D62-DDA4-48CA-A569-19F67CC9B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95875"/>
            <a:ext cx="1476375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267A0"/>
            </a:solidFill>
          </a:ln>
        </p:spPr>
      </p:sp>
      <p:sp>
        <p:nvSpPr>
          <p:cNvPr id="24" name="before-1-head">
            <a:extLst xmlns:a="http://schemas.openxmlformats.org/drawingml/2006/main">
              <a:ext uri="{FF2B5EF4-FFF2-40B4-BE49-F238E27FC236}">
                <a16:creationId xmlns:a16="http://schemas.microsoft.com/office/drawing/2014/main" id="{8B0337D8-6FA4-4D35-8FBD-D6B43EF02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5238750"/>
            <a:ext cx="1190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rPr>
              <a:t>Rank 1</a:t>
            </a:r>
          </a:p>
        </p:txBody>
      </p:sp>
      <p:sp>
        <p:nvSpPr>
          <p:cNvPr id="25" name="before-1-body">
            <a:extLst xmlns:a="http://schemas.openxmlformats.org/drawingml/2006/main">
              <a:ext uri="{FF2B5EF4-FFF2-40B4-BE49-F238E27FC236}">
                <a16:creationId xmlns:a16="http://schemas.microsoft.com/office/drawing/2014/main" id="{13978320-A8E9-4A81-9C74-8FD66D14A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5667375"/>
            <a:ext cx="11906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32 次分配</a:t>
            </a:r>
          </a:p>
        </p:txBody>
      </p:sp>
      <p:sp>
        <p:nvSpPr>
          <p:cNvPr id="26" name="after-1">
            <a:extLst xmlns:a="http://schemas.openxmlformats.org/drawingml/2006/main">
              <a:ext uri="{FF2B5EF4-FFF2-40B4-BE49-F238E27FC236}">
                <a16:creationId xmlns:a16="http://schemas.microsoft.com/office/drawing/2014/main" id="{2C837E1A-DC56-4AEF-AE88-B2170D6D0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095875"/>
            <a:ext cx="1476375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267A0"/>
            </a:solidFill>
          </a:ln>
        </p:spPr>
      </p:sp>
      <p:sp>
        <p:nvSpPr>
          <p:cNvPr id="27" name="after-1-head">
            <a:extLst xmlns:a="http://schemas.openxmlformats.org/drawingml/2006/main">
              <a:ext uri="{FF2B5EF4-FFF2-40B4-BE49-F238E27FC236}">
                <a16:creationId xmlns:a16="http://schemas.microsoft.com/office/drawing/2014/main" id="{BBD36E28-E006-450C-94F7-87EC31217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5238750"/>
            <a:ext cx="1190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rPr>
              <a:t>Rank 1</a:t>
            </a:r>
          </a:p>
        </p:txBody>
      </p:sp>
      <p:sp>
        <p:nvSpPr>
          <p:cNvPr id="28" name="after-1-body">
            <a:extLst xmlns:a="http://schemas.openxmlformats.org/drawingml/2006/main">
              <a:ext uri="{FF2B5EF4-FFF2-40B4-BE49-F238E27FC236}">
                <a16:creationId xmlns:a16="http://schemas.microsoft.com/office/drawing/2014/main" id="{7485F369-14D4-4845-896E-12E532DDB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5667375"/>
            <a:ext cx="11906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32 次分配</a:t>
            </a:r>
          </a:p>
        </p:txBody>
      </p:sp>
      <p:sp>
        <p:nvSpPr>
          <p:cNvPr id="29" name="before-2">
            <a:extLst xmlns:a="http://schemas.openxmlformats.org/drawingml/2006/main">
              <a:ext uri="{FF2B5EF4-FFF2-40B4-BE49-F238E27FC236}">
                <a16:creationId xmlns:a16="http://schemas.microsoft.com/office/drawing/2014/main" id="{AB9105C9-D15E-458C-BDDA-7327BB993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095875"/>
            <a:ext cx="1476375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267A0"/>
            </a:solidFill>
          </a:ln>
        </p:spPr>
      </p:sp>
      <p:sp>
        <p:nvSpPr>
          <p:cNvPr id="30" name="before-2-head">
            <a:extLst xmlns:a="http://schemas.openxmlformats.org/drawingml/2006/main">
              <a:ext uri="{FF2B5EF4-FFF2-40B4-BE49-F238E27FC236}">
                <a16:creationId xmlns:a16="http://schemas.microsoft.com/office/drawing/2014/main" id="{B04DA92E-6AC5-4D1C-87F3-2050F472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238750"/>
            <a:ext cx="1190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rPr>
              <a:t>Rank 2</a:t>
            </a:r>
          </a:p>
        </p:txBody>
      </p:sp>
      <p:sp>
        <p:nvSpPr>
          <p:cNvPr id="31" name="before-2-body">
            <a:extLst xmlns:a="http://schemas.openxmlformats.org/drawingml/2006/main">
              <a:ext uri="{FF2B5EF4-FFF2-40B4-BE49-F238E27FC236}">
                <a16:creationId xmlns:a16="http://schemas.microsoft.com/office/drawing/2014/main" id="{EF4D9C69-E2B4-417E-92D1-8AD794C08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667375"/>
            <a:ext cx="11906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16 次分配</a:t>
            </a:r>
          </a:p>
        </p:txBody>
      </p:sp>
      <p:sp>
        <p:nvSpPr>
          <p:cNvPr id="32" name="after-2">
            <a:extLst xmlns:a="http://schemas.openxmlformats.org/drawingml/2006/main">
              <a:ext uri="{FF2B5EF4-FFF2-40B4-BE49-F238E27FC236}">
                <a16:creationId xmlns:a16="http://schemas.microsoft.com/office/drawing/2014/main" id="{F5E51709-57A0-401D-8742-ABE36CE94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5095875"/>
            <a:ext cx="1476375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267A0"/>
            </a:solidFill>
          </a:ln>
        </p:spPr>
      </p:sp>
      <p:sp>
        <p:nvSpPr>
          <p:cNvPr id="33" name="after-2-head">
            <a:extLst xmlns:a="http://schemas.openxmlformats.org/drawingml/2006/main">
              <a:ext uri="{FF2B5EF4-FFF2-40B4-BE49-F238E27FC236}">
                <a16:creationId xmlns:a16="http://schemas.microsoft.com/office/drawing/2014/main" id="{A0153D1C-C016-4683-AF22-90906C482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9075" y="5238750"/>
            <a:ext cx="1190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rPr>
              <a:t>Rank 2</a:t>
            </a:r>
          </a:p>
        </p:txBody>
      </p:sp>
      <p:sp>
        <p:nvSpPr>
          <p:cNvPr id="34" name="after-2-body">
            <a:extLst xmlns:a="http://schemas.openxmlformats.org/drawingml/2006/main">
              <a:ext uri="{FF2B5EF4-FFF2-40B4-BE49-F238E27FC236}">
                <a16:creationId xmlns:a16="http://schemas.microsoft.com/office/drawing/2014/main" id="{8E6E91A9-1948-4F95-A329-7C219EC9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9075" y="5667375"/>
            <a:ext cx="11906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32 次分配</a:t>
            </a:r>
          </a:p>
        </p:txBody>
      </p:sp>
      <p:sp>
        <p:nvSpPr>
          <p:cNvPr id="35" name="before-3">
            <a:extLst xmlns:a="http://schemas.openxmlformats.org/drawingml/2006/main">
              <a:ext uri="{FF2B5EF4-FFF2-40B4-BE49-F238E27FC236}">
                <a16:creationId xmlns:a16="http://schemas.microsoft.com/office/drawing/2014/main" id="{35FD70C6-F1E7-4C02-AD3E-112B7B16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095875"/>
            <a:ext cx="1476375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267A0"/>
            </a:solidFill>
          </a:ln>
        </p:spPr>
      </p:sp>
      <p:sp>
        <p:nvSpPr>
          <p:cNvPr id="36" name="before-3-head">
            <a:extLst xmlns:a="http://schemas.openxmlformats.org/drawingml/2006/main">
              <a:ext uri="{FF2B5EF4-FFF2-40B4-BE49-F238E27FC236}">
                <a16:creationId xmlns:a16="http://schemas.microsoft.com/office/drawing/2014/main" id="{8ED47FF5-363F-4F98-880C-25C688F9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5238750"/>
            <a:ext cx="1190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rPr>
              <a:t>Rank 3</a:t>
            </a:r>
          </a:p>
        </p:txBody>
      </p:sp>
      <p:sp>
        <p:nvSpPr>
          <p:cNvPr id="37" name="before-3-body">
            <a:extLst xmlns:a="http://schemas.openxmlformats.org/drawingml/2006/main">
              <a:ext uri="{FF2B5EF4-FFF2-40B4-BE49-F238E27FC236}">
                <a16:creationId xmlns:a16="http://schemas.microsoft.com/office/drawing/2014/main" id="{5870454C-E339-4B3A-8B35-FBF2A59E5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5667375"/>
            <a:ext cx="11906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16 次分配</a:t>
            </a:r>
          </a:p>
        </p:txBody>
      </p:sp>
      <p:sp>
        <p:nvSpPr>
          <p:cNvPr id="38" name="after-3">
            <a:extLst xmlns:a="http://schemas.openxmlformats.org/drawingml/2006/main">
              <a:ext uri="{FF2B5EF4-FFF2-40B4-BE49-F238E27FC236}">
                <a16:creationId xmlns:a16="http://schemas.microsoft.com/office/drawing/2014/main" id="{0914DC4A-A615-4F79-BF97-AA22CEC2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3550" y="5095875"/>
            <a:ext cx="1476375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267A0"/>
            </a:solidFill>
          </a:ln>
        </p:spPr>
      </p:sp>
      <p:sp>
        <p:nvSpPr>
          <p:cNvPr id="39" name="after-3-head">
            <a:extLst xmlns:a="http://schemas.openxmlformats.org/drawingml/2006/main">
              <a:ext uri="{FF2B5EF4-FFF2-40B4-BE49-F238E27FC236}">
                <a16:creationId xmlns:a16="http://schemas.microsoft.com/office/drawing/2014/main" id="{CAF56F9B-4A66-4A2C-A56E-AB38AFC1B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6425" y="5238750"/>
            <a:ext cx="1190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rPr>
              <a:t>Rank 3</a:t>
            </a:r>
          </a:p>
        </p:txBody>
      </p:sp>
      <p:sp>
        <p:nvSpPr>
          <p:cNvPr id="40" name="after-3-body">
            <a:extLst xmlns:a="http://schemas.openxmlformats.org/drawingml/2006/main">
              <a:ext uri="{FF2B5EF4-FFF2-40B4-BE49-F238E27FC236}">
                <a16:creationId xmlns:a16="http://schemas.microsoft.com/office/drawing/2014/main" id="{C7C11706-6E70-4F81-8B1B-B6CF9586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6425" y="5667375"/>
            <a:ext cx="11906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32 次分配</a:t>
            </a:r>
          </a:p>
        </p:txBody>
      </p:sp>
      <p:sp>
        <p:nvSpPr>
          <p:cNvPr id="41" name="critical">
            <a:extLst xmlns:a="http://schemas.openxmlformats.org/drawingml/2006/main">
              <a:ext uri="{FF2B5EF4-FFF2-40B4-BE49-F238E27FC236}">
                <a16:creationId xmlns:a16="http://schemas.microsoft.com/office/drawing/2014/main" id="{0C76BB4F-34C9-47EA-A806-526D53541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0325"/>
            <a:ext cx="666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75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rPr>
              <a:t>最忙 rank：64 次分配</a:t>
            </a:r>
          </a:p>
        </p:txBody>
      </p:sp>
      <p:sp>
        <p:nvSpPr>
          <p:cNvPr id="42" name="critical-after">
            <a:extLst xmlns:a="http://schemas.openxmlformats.org/drawingml/2006/main">
              <a:ext uri="{FF2B5EF4-FFF2-40B4-BE49-F238E27FC236}">
                <a16:creationId xmlns:a16="http://schemas.microsoft.com/office/drawing/2014/main" id="{A6BA89B7-F29E-4137-85F7-60E7857C1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6410325"/>
            <a:ext cx="6334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75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rPr>
              <a:t>最忙 rank：32 次分配</a:t>
            </a:r>
          </a:p>
        </p:txBody>
      </p:sp>
      <p:sp>
        <p:nvSpPr>
          <p:cNvPr id="43" name="timing">
            <a:extLst xmlns:a="http://schemas.openxmlformats.org/drawingml/2006/main">
              <a:ext uri="{FF2B5EF4-FFF2-40B4-BE49-F238E27FC236}">
                <a16:creationId xmlns:a16="http://schemas.microsoft.com/office/drawing/2014/main" id="{6E195F3B-C75A-4A9F-BA76-30CC3D09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991350"/>
            <a:ext cx="13811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简化时延模型：T_MoE ≈ T_dispatch + max(T_rank_compute) + T_combine</a:t>
            </a:r>
          </a:p>
        </p:txBody>
      </p:sp>
      <p:sp>
        <p:nvSpPr>
          <p:cNvPr id="44" name="note">
            <a:extLst xmlns:a="http://schemas.openxmlformats.org/drawingml/2006/main">
              <a:ext uri="{FF2B5EF4-FFF2-40B4-BE49-F238E27FC236}">
                <a16:creationId xmlns:a16="http://schemas.microsoft.com/office/drawing/2014/main" id="{139EFDB5-EEA4-45F5-BBA0-874F4A49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534275"/>
            <a:ext cx="13811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725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rPr>
              <a:t>图注：4 ranks、总计 128 次 token–expert 分配的理想化示例，非实测。计算项减少不代表端到端时延同比下降</a:t>
            </a:r>
          </a:p>
        </p:txBody>
      </p:sp>
      <p:sp>
        <p:nvSpPr>
          <p:cNvPr id="45" name="limit">
            <a:extLst xmlns:a="http://schemas.openxmlformats.org/drawingml/2006/main">
              <a:ext uri="{FF2B5EF4-FFF2-40B4-BE49-F238E27FC236}">
                <a16:creationId xmlns:a16="http://schemas.microsoft.com/office/drawing/2014/main" id="{579A3A1F-2ED8-4A1C-9174-E3A3EFF2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991475"/>
            <a:ext cx="1381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rPr>
              <a:t>EPLB 额外消耗副本显存与重排开销。验证各 rank 耗时、通信及 p95/p99；未确认 Step 5 服务采用相同机制</a:t>
            </a:r>
          </a:p>
        </p:txBody>
      </p:sp>
    </p:spTree>
    <p:extLst>
      <p:ext uri="{BB962C8B-B14F-4D97-AF65-F5344CB8AC3E}">
        <p14:creationId xmlns:p14="http://schemas.microsoft.com/office/powerpoint/2010/main" val="17812361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0BFED91A-4181-4C50-8EF5-2A1077ED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390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4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PaCoRe：并行探索与结论综合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EE8B9F5-77CA-4F1A-A86A-64EC16B00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5375"/>
            <a:ext cx="13858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rPr>
              <a:t>PaCoRe 增加轨迹级推理预算，与 SWA、Gate、MoE 所处的模型算子层分开理解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EED7C4-CB94-43E5-B3B2-22AB08F761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4ae0d69966471f"/>
          <a:stretch xmlns:a="http://schemas.openxmlformats.org/drawingml/2006/main"/>
        </p:blipFill>
        <p:spPr>
          <a:xfrm xmlns:a="http://schemas.openxmlformats.org/drawingml/2006/main">
            <a:off x="1557986" y="1809750"/>
            <a:ext cx="7304379" cy="6429375"/>
          </a:xfrm>
          <a:prstGeom xmlns:a="http://schemas.openxmlformats.org/drawingml/2006/main" prst="rect">
            <a:avLst/>
          </a:prstGeom>
        </p:spPr>
      </p:pic>
      <p:sp>
        <p:nvSpPr>
          <p:cNvPr id="4" name="principle">
            <a:extLst xmlns:a="http://schemas.openxmlformats.org/drawingml/2006/main">
              <a:ext uri="{FF2B5EF4-FFF2-40B4-BE49-F238E27FC236}">
                <a16:creationId xmlns:a16="http://schemas.microsoft.com/office/drawing/2014/main" id="{05BE5CFC-72A0-43B2-9ECD-1809B429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133600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rPr>
              <a:t>流程与训练目标</a:t>
            </a:r>
          </a:p>
        </p:txBody>
      </p:sp>
      <p:sp>
        <p:nvSpPr>
          <p:cNvPr id="5" name="steps">
            <a:extLst xmlns:a="http://schemas.openxmlformats.org/drawingml/2006/main">
              <a:ext uri="{FF2B5EF4-FFF2-40B4-BE49-F238E27FC236}">
                <a16:creationId xmlns:a16="http://schemas.microsoft.com/office/drawing/2014/main" id="{A324F15E-13BB-4AEC-91CB-0ECA469B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733675"/>
            <a:ext cx="4095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同一模型并行生成多条轨迹</a:t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提取各条最终结论</a:t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综合与交叉检查后继续推理</a:t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最后收敛到一条答案</a:t>
            </a:r>
          </a:p>
        </p:txBody>
      </p:sp>
      <p:sp>
        <p:nvSpPr>
          <p:cNvPr id="6" name="budget">
            <a:extLst xmlns:a="http://schemas.openxmlformats.org/drawingml/2006/main">
              <a:ext uri="{FF2B5EF4-FFF2-40B4-BE49-F238E27FC236}">
                <a16:creationId xmlns:a16="http://schemas.microsoft.com/office/drawing/2014/main" id="{F6BE1C28-6F04-41E0-8C77-1FBE68E1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7625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75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rPr>
              <a:t>更多计算换困难任务质量</a:t>
            </a:r>
          </a:p>
        </p:txBody>
      </p:sp>
      <p:sp>
        <p:nvSpPr>
          <p:cNvPr id="7" name="numbers">
            <a:extLst xmlns:a="http://schemas.openxmlformats.org/drawingml/2006/main">
              <a:ext uri="{FF2B5EF4-FFF2-40B4-BE49-F238E27FC236}">
                <a16:creationId xmlns:a16="http://schemas.microsoft.com/office/drawing/2014/main" id="{679EC2AA-0178-44E9-9B4A-567246A11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353050"/>
            <a:ext cx="40957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HMMT 2025</a:t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基础 75.4%，High 94.5%</a:t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平均总 tokens 48K 至 1796K</a:t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约 37.4 倍</a:t>
            </a:r>
          </a:p>
        </p:txBody>
      </p:sp>
      <p:sp>
        <p:nvSpPr>
          <p:cNvPr id="8" name="caution">
            <a:extLst xmlns:a="http://schemas.openxmlformats.org/drawingml/2006/main">
              <a:ext uri="{FF2B5EF4-FFF2-40B4-BE49-F238E27FC236}">
                <a16:creationId xmlns:a16="http://schemas.microsoft.com/office/drawing/2014/main" id="{912E5114-EC5C-4EF7-A6DF-7809C54C6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7124700"/>
            <a:ext cx="4095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725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rPr>
              <a:t>模型训练与推理配置同时变化</a:t>
            </a:r>
          </a:p>
          <a:p xmlns:a="http://schemas.openxmlformats.org/drawingml/2006/main">
            <a:pPr>
              <a:defRPr sz="1725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rPr>
              <a:t>该差值不是纯并发消融收益</a:t>
            </a:r>
          </a:p>
          <a:p xmlns:a="http://schemas.openxmlformats.org/drawingml/2006/main">
            <a:pPr>
              <a:defRPr sz="1725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rPr>
              <a:t>适合高价值、可验证任务</a:t>
            </a:r>
          </a:p>
        </p:txBody>
      </p:sp>
    </p:spTree>
    <p:extLst>
      <p:ext uri="{BB962C8B-B14F-4D97-AF65-F5344CB8AC3E}">
        <p14:creationId xmlns:p14="http://schemas.microsoft.com/office/powerpoint/2010/main" val="3914186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">
            <a:extLst xmlns:a="http://schemas.openxmlformats.org/drawingml/2006/main">
              <a:ext uri="{FF2B5EF4-FFF2-40B4-BE49-F238E27FC236}">
                <a16:creationId xmlns:a16="http://schemas.microsoft.com/office/drawing/2014/main" id="{B8AB4233-3196-496D-A9CC-C24C0F959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390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4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Agent 相关：公开组件简列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D6376DD-8BB6-4B6B-A060-B28E0AF8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5375"/>
            <a:ext cx="13858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rPr>
              <a:t>这里列出 Step-Code 已公开提供的组件与 Step 模型 API 能力，避免推断 Step 5 未公开的内部实现</a:t>
            </a:r>
          </a:p>
        </p:txBody>
      </p:sp>
      <p:sp>
        <p:nvSpPr>
          <p:cNvPr id="3" name="component-0">
            <a:extLst xmlns:a="http://schemas.openxmlformats.org/drawingml/2006/main">
              <a:ext uri="{FF2B5EF4-FFF2-40B4-BE49-F238E27FC236}">
                <a16:creationId xmlns:a16="http://schemas.microsoft.com/office/drawing/2014/main" id="{781330EE-70EC-44CC-BF24-8AA06C00D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28850"/>
            <a:ext cx="628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rPr>
              <a:t>Agent Skills</a:t>
            </a:r>
          </a:p>
        </p:txBody>
      </p:sp>
      <p:sp>
        <p:nvSpPr>
          <p:cNvPr id="4" name="description-0">
            <a:extLst xmlns:a="http://schemas.openxmlformats.org/drawingml/2006/main">
              <a:ext uri="{FF2B5EF4-FFF2-40B4-BE49-F238E27FC236}">
                <a16:creationId xmlns:a16="http://schemas.microsoft.com/office/drawing/2014/main" id="{825A1534-E92E-4CB1-93EF-8007F968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90825"/>
            <a:ext cx="628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发现名称与描述，按需读取指令与资源</a:t>
            </a:r>
          </a:p>
        </p:txBody>
      </p:sp>
      <p:sp>
        <p:nvSpPr>
          <p:cNvPr id="5" name="component-1">
            <a:extLst xmlns:a="http://schemas.openxmlformats.org/drawingml/2006/main">
              <a:ext uri="{FF2B5EF4-FFF2-40B4-BE49-F238E27FC236}">
                <a16:creationId xmlns:a16="http://schemas.microsoft.com/office/drawing/2014/main" id="{5698384A-A70E-4AF9-82BA-2AF06F40B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9525"/>
            <a:ext cx="628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rPr>
              <a:t>Plugin / MCP</a:t>
            </a:r>
          </a:p>
        </p:txBody>
      </p:sp>
      <p:sp>
        <p:nvSpPr>
          <p:cNvPr id="6" name="description-1">
            <a:extLst xmlns:a="http://schemas.openxmlformats.org/drawingml/2006/main">
              <a:ext uri="{FF2B5EF4-FFF2-40B4-BE49-F238E27FC236}">
                <a16:creationId xmlns:a16="http://schemas.microsoft.com/office/drawing/2014/main" id="{92431F54-471E-444B-A16E-3F411ED30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0"/>
            <a:ext cx="628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插件装载与外部工具接入</a:t>
            </a:r>
          </a:p>
        </p:txBody>
      </p:sp>
      <p:sp>
        <p:nvSpPr>
          <p:cNvPr id="7" name="component-2">
            <a:extLst xmlns:a="http://schemas.openxmlformats.org/drawingml/2006/main">
              <a:ext uri="{FF2B5EF4-FFF2-40B4-BE49-F238E27FC236}">
                <a16:creationId xmlns:a16="http://schemas.microsoft.com/office/drawing/2014/main" id="{80BD933E-88E5-475A-8A40-BEEA843B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10200"/>
            <a:ext cx="628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rPr>
              <a:t>独立子 Agent 上下文</a:t>
            </a:r>
          </a:p>
        </p:txBody>
      </p:sp>
      <p:sp>
        <p:nvSpPr>
          <p:cNvPr id="8" name="description-2">
            <a:extLst xmlns:a="http://schemas.openxmlformats.org/drawingml/2006/main">
              <a:ext uri="{FF2B5EF4-FFF2-40B4-BE49-F238E27FC236}">
                <a16:creationId xmlns:a16="http://schemas.microsoft.com/office/drawing/2014/main" id="{18D1B3D7-4F7B-40C3-BB00-745F4646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72175"/>
            <a:ext cx="628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拆分任务，隔离各子任务上下文</a:t>
            </a:r>
          </a:p>
        </p:txBody>
      </p:sp>
      <p:sp>
        <p:nvSpPr>
          <p:cNvPr id="9" name="component-3">
            <a:extLst xmlns:a="http://schemas.openxmlformats.org/drawingml/2006/main">
              <a:ext uri="{FF2B5EF4-FFF2-40B4-BE49-F238E27FC236}">
                <a16:creationId xmlns:a16="http://schemas.microsoft.com/office/drawing/2014/main" id="{2ED2C772-E1EA-42B2-96B8-F134FE2CE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28850"/>
            <a:ext cx="628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rPr>
              <a:t>Goal 与定时任务</a:t>
            </a:r>
          </a:p>
        </p:txBody>
      </p:sp>
      <p:sp>
        <p:nvSpPr>
          <p:cNvPr id="10" name="description-3">
            <a:extLst xmlns:a="http://schemas.openxmlformats.org/drawingml/2006/main">
              <a:ext uri="{FF2B5EF4-FFF2-40B4-BE49-F238E27FC236}">
                <a16:creationId xmlns:a16="http://schemas.microsoft.com/office/drawing/2014/main" id="{E097886F-C2DA-4CED-B848-6B3E15EE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90825"/>
            <a:ext cx="628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长程目标生命周期与 /cron 调度</a:t>
            </a:r>
          </a:p>
        </p:txBody>
      </p:sp>
      <p:sp>
        <p:nvSpPr>
          <p:cNvPr id="11" name="component-4">
            <a:extLst xmlns:a="http://schemas.openxmlformats.org/drawingml/2006/main">
              <a:ext uri="{FF2B5EF4-FFF2-40B4-BE49-F238E27FC236}">
                <a16:creationId xmlns:a16="http://schemas.microsoft.com/office/drawing/2014/main" id="{C125B751-8508-4AFE-AA19-F9407D8D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19525"/>
            <a:ext cx="628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rPr>
              <a:t>代码与交付工具</a:t>
            </a:r>
          </a:p>
        </p:txBody>
      </p:sp>
      <p:sp>
        <p:nvSpPr>
          <p:cNvPr id="12" name="description-4">
            <a:extLst xmlns:a="http://schemas.openxmlformats.org/drawingml/2006/main">
              <a:ext uri="{FF2B5EF4-FFF2-40B4-BE49-F238E27FC236}">
                <a16:creationId xmlns:a16="http://schemas.microsoft.com/office/drawing/2014/main" id="{D27F690B-A454-461E-9889-05887478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381500"/>
            <a:ext cx="628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读写代码、终端测试，StepPage 发布与回滚</a:t>
            </a:r>
          </a:p>
        </p:txBody>
      </p:sp>
      <p:sp>
        <p:nvSpPr>
          <p:cNvPr id="13" name="component-5">
            <a:extLst xmlns:a="http://schemas.openxmlformats.org/drawingml/2006/main">
              <a:ext uri="{FF2B5EF4-FFF2-40B4-BE49-F238E27FC236}">
                <a16:creationId xmlns:a16="http://schemas.microsoft.com/office/drawing/2014/main" id="{756070B3-BE4B-4D81-9CFB-5D39FEB47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410200"/>
            <a:ext cx="628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rPr>
              <a:t>模型 API 能力</a:t>
            </a:r>
          </a:p>
        </p:txBody>
      </p:sp>
      <p:sp>
        <p:nvSpPr>
          <p:cNvPr id="14" name="description-5">
            <a:extLst xmlns:a="http://schemas.openxmlformats.org/drawingml/2006/main">
              <a:ext uri="{FF2B5EF4-FFF2-40B4-BE49-F238E27FC236}">
                <a16:creationId xmlns:a16="http://schemas.microsoft.com/office/drawing/2014/main" id="{19D49518-7459-4198-8F53-C1CC09E43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972175"/>
            <a:ext cx="628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Tool calling、推理档位、结构化输出</a:t>
            </a:r>
          </a:p>
        </p:txBody>
      </p:sp>
      <p:sp>
        <p:nvSpPr>
          <p:cNvPr id="15" name="sources">
            <a:extLst xmlns:a="http://schemas.openxmlformats.org/drawingml/2006/main">
              <a:ext uri="{FF2B5EF4-FFF2-40B4-BE49-F238E27FC236}">
                <a16:creationId xmlns:a16="http://schemas.microsoft.com/office/drawing/2014/main" id="{5A315621-EA41-4836-9397-4F2C34EA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543800"/>
            <a:ext cx="13811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00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rPr>
              <a:t>组件来源：Step-Code 公开仓库与官方 API 文档。Skills / MCP / 子 Agent 并非 Step 独有，也不单独证明业务成功率</a:t>
            </a:r>
          </a:p>
        </p:txBody>
      </p:sp>
    </p:spTree>
    <p:extLst>
      <p:ext uri="{BB962C8B-B14F-4D97-AF65-F5344CB8AC3E}">
        <p14:creationId xmlns:p14="http://schemas.microsoft.com/office/powerpoint/2010/main" val="7247720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2026-10-11T16:43:03.1410000Z</dcterms:created>
  <dcterms:modified xsi:type="dcterms:W3CDTF">2026-10-11T16:43:03.1410000Z</dcterms:modified>
</coreProperties>
</file>