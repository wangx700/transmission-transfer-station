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9168e68bb541ab" /><Relationship Type="http://schemas.openxmlformats.org/officeDocument/2006/relationships/extended-properties" Target="/docProps/app.xml" Id="Rf3718e3686cb4933" /><Relationship Type="http://schemas.openxmlformats.org/officeDocument/2006/relationships/officeDocument" Target="/ppt/presentation.xml" Id="R2f622b9178c149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563925377b4c46"/>
  </p:sldMasterIdLst>
  <p:notesMasterIdLst>
    <p:notesMasterId xmlns:r="http://schemas.openxmlformats.org/officeDocument/2006/relationships" r:id="R3340b09983324112"/>
  </p:notesMasterIdLst>
  <p:sldIdLst>
    <p:sldId xmlns:r="http://schemas.openxmlformats.org/officeDocument/2006/relationships" id="256" r:id="Rd642609f2bd8468a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1ceab7e5d2489e" /><Relationship Type="http://schemas.openxmlformats.org/officeDocument/2006/relationships/slideMaster" Target="/ppt/slideMasters/slideMaster1.xml" Id="R4f563925377b4c46" /><Relationship Type="http://schemas.openxmlformats.org/officeDocument/2006/relationships/notesMaster" Target="/ppt/notesMasters/notesMaster1.xml" Id="R3340b09983324112" /><Relationship Type="http://schemas.openxmlformats.org/officeDocument/2006/relationships/presProps" Target="/ppt/presProps.xml" Id="Rd708e55030ad4e17" /><Relationship Type="http://schemas.openxmlformats.org/officeDocument/2006/relationships/tableStyles" Target="/ppt/tableStyles.xml" Id="Rb9010b89ccec42cd" /><Relationship Type="http://schemas.openxmlformats.org/officeDocument/2006/relationships/slide" Target="/ppt/slides/slide1.xml" Id="Rd642609f2bd846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0c2be12b1745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66ecd1bf7f414b" /><Relationship Type="http://schemas.openxmlformats.org/officeDocument/2006/relationships/notesMaster" Target="/ppt/notesMasters/notesMaster1.xml" Id="R9c755ee62f5d45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此页为技术特性与职责关系的简化总览，不是 Step 5 官方生产系统架构。</a:t>
            </a:r>
          </a:p>
          <a:p xmlns:a="http://schemas.openxmlformats.org/drawingml/2006/main">
            <a:r>
              <a:t>推理架构的 45 层、33 SWA + 12 Full、window=512、288 top-8+shared、3 MTP 来自 Step 3.5/3.7。首三层 Dense，剩余42层MoE；图上的三个节点不表示模型只有三层或所有层都MoE。</a:t>
            </a:r>
          </a:p>
          <a:p xmlns:a="http://schemas.openxmlformats.org/drawingml/2006/main">
            <a:r>
              <a:t>Gated attention 为 head 输出乘sigmoid门控后o_proj，不意味着跳过attention。MoE bias参与top-k选择，混合权重来自未加bias的概率。MTP需目标模型验证。EP部署、KV管理和批处理由推理框架与配置承担，不是MoE自动具备的性能收益。</a:t>
            </a:r>
          </a:p>
          <a:p xmlns:a="http://schemas.openxmlformats.org/drawingml/2006/main">
            <a:r>
              <a:t>Step 5只确认600B/27B、1M上下文、64K输出及文本/图像/视频输入、tool calling。1M输入与64K输出不可同时取满。</a:t>
            </a:r>
          </a:p>
          <a:p xmlns:a="http://schemas.openxmlformats.org/drawingml/2006/main">
            <a:r>
              <a:t>Agent是简化的工具执行路径。模型也能直接回答；Skills提供指令与资源，Plugin/MCP用于接入工具；应用管理执行与验收。图示不声明Step-Code自动实施全部业务检查。</a:t>
            </a:r>
          </a:p>
          <a:p xmlns:a="http://schemas.openxmlformats.org/drawingml/2006/main">
            <a:r>
              <a:t>MIS-PO证据来自3.5论文；StepTronOSS版本流控属于独立开源系统，未确认Step5采用。</a:t>
            </a:r>
          </a:p>
          <a:p xmlns:a="http://schemas.openxmlformats.org/drawingml/2006/main">
            <a:r>
              <a:t>网络证据：</a:t>
            </a:r>
          </a:p>
          <a:p xmlns:a="http://schemas.openxmlformats.org/drawingml/2006/main">
            <a:r>
              <a:t>https://arxiv.org/html/2602.10604v2</a:t>
            </a:r>
          </a:p>
          <a:p xmlns:a="http://schemas.openxmlformats.org/drawingml/2006/main">
            <a:r>
              <a:t>https://huggingface.co/stepfun-ai/Step-3.7-Flash/blob/main/config.json</a:t>
            </a:r>
          </a:p>
          <a:p xmlns:a="http://schemas.openxmlformats.org/drawingml/2006/main">
            <a:r>
              <a:t>https://huggingface.co/stepfun-ai/Step-3.7-Flash/blob/main/modeling_step3p7.py</a:t>
            </a:r>
          </a:p>
          <a:p xmlns:a="http://schemas.openxmlformats.org/drawingml/2006/main">
            <a:r>
              <a:t>https://platform.stepfun.ai/docs/en/guides/models/step-5-preview</a:t>
            </a:r>
          </a:p>
          <a:p xmlns:a="http://schemas.openxmlformats.org/drawingml/2006/main">
            <a:r>
              <a:t>https://github.com/stepfun-ai/Step-Code/blob/main/packages/coding-agent/src/core/skills.ts</a:t>
            </a:r>
          </a:p>
          <a:p xmlns:a="http://schemas.openxmlformats.org/drawingml/2006/main">
            <a:r>
              <a:t>https://github.com/stepfun-ai/Step-Code/blob/main/packages/coding-agent/src/step/plugins.ts</a:t>
            </a:r>
          </a:p>
          <a:p xmlns:a="http://schemas.openxmlformats.org/drawingml/2006/main">
            <a:r>
              <a:t>https://github.com/stepfun-ai/Step-Code/blob/main/docs/goal-lifecycle.md</a:t>
            </a:r>
          </a:p>
          <a:p xmlns:a="http://schemas.openxmlformats.org/drawingml/2006/main">
            <a:r>
              <a:t>https://github.com/stepfun-ai/SteptronOss/blob/dev/steptronoss/core/generators/flow_controller.py</a:t>
            </a:r>
          </a:p>
          <a:p xmlns:a="http://schemas.openxmlformats.org/drawingml/2006/main">
            <a:r>
              <a:t>https://github.com/stepfun-ai/SteptronOss/blob/dev/steptronoss/exp/inference.py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8bd36a8eea44e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c72a43467c4bd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78e793918f4bc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8ada56e8764ef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5de2c637b7442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5f7469a0414d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BDE8D6-DE1B-4F6D-9797-2A7D208A30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F459009-13B1-40B5-A70D-F76E5D964E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7CBB2D0-2D70-4716-B3F7-1FCCFC23D4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9C6B3E-AE7B-4994-9A73-43F897F84A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F83EB0B-4565-4E3C-911A-70DBF81AD2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913BE1C-8F30-44FB-964D-03CDCFFFFC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6BCA255-83EB-4F7D-8F3D-912C3C37AB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B874A7F-F9CA-4B41-B8FF-0DB0CED6F21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213C68-1567-4732-9CD2-1F92625DA8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38262BA-9257-4AA1-A24E-A32790ABC6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9c44506d0d4f3e" /><Relationship Type="http://schemas.openxmlformats.org/officeDocument/2006/relationships/slideLayout" Target="/ppt/slideLayouts/slideLayout1.xml" Id="R377fc0da41fa4c7e" /><Relationship Type="http://schemas.openxmlformats.org/officeDocument/2006/relationships/slideLayout" Target="/ppt/slideLayouts/slideLayout2.xml" Id="R94d89e11b5284255" /><Relationship Type="http://schemas.openxmlformats.org/officeDocument/2006/relationships/slideLayout" Target="/ppt/slideLayouts/slideLayout3.xml" Id="R37938c20b4a04300" /><Relationship Type="http://schemas.openxmlformats.org/officeDocument/2006/relationships/slideLayout" Target="/ppt/slideLayouts/slideLayout4.xml" Id="R2332e1163fed435b" /><Relationship Type="http://schemas.openxmlformats.org/officeDocument/2006/relationships/slideLayout" Target="/ppt/slideLayouts/slideLayout5.xml" Id="R894eaaa357204caf" /><Relationship Type="http://schemas.openxmlformats.org/officeDocument/2006/relationships/slideLayout" Target="/ppt/slideLayouts/slideLayout6.xml" Id="Rbf976bf0b8544c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7fc0da41fa4c7e"/>
    <p:sldLayoutId xmlns:r="http://schemas.openxmlformats.org/officeDocument/2006/relationships" id="2147483650" r:id="R94d89e11b5284255"/>
    <p:sldLayoutId xmlns:r="http://schemas.openxmlformats.org/officeDocument/2006/relationships" id="2147483651" r:id="R37938c20b4a04300"/>
    <p:sldLayoutId xmlns:r="http://schemas.openxmlformats.org/officeDocument/2006/relationships" id="2147483652" r:id="R2332e1163fed435b"/>
    <p:sldLayoutId xmlns:r="http://schemas.openxmlformats.org/officeDocument/2006/relationships" id="2147483653" r:id="R894eaaa357204caf"/>
    <p:sldLayoutId xmlns:r="http://schemas.openxmlformats.org/officeDocument/2006/relationships" id="2147483654" r:id="Rbf976bf0b8544c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2f7ad6f67147ab" /><Relationship Type="http://schemas.openxmlformats.org/officeDocument/2006/relationships/notesSlide" Target="/ppt/notesSlides/notesSlide1.xml" Id="R3dccc54c2d5f45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670FCA-E2BF-432F-A38F-D6DA6492AB8D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11020425" y="55816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665"/>
            </a:solidFill>
            <a:tailEnd type="arrow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33A4E8-248D-419F-A74F-3DA515E91D74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496175" y="55816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665"/>
            </a:solidFill>
            <a:tailEnd type="arrow" w="med" len="me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D2DEE4-C261-4D6F-8220-317CEC1B87FD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3971925" y="55816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665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D18E69-A295-44D4-A120-52234257C7C8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734550" y="26860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67A0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B7DA76-8422-46C4-A6B0-1A974319A29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924425" y="26860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67A0"/>
            </a:solidFill>
            <a:tailEnd type="arrow" w="med" len="med"/>
          </a:ln>
        </p:spPr>
      </p:cxnSp>
      <p:sp>
        <p:nvSpPr>
          <p:cNvPr id="40" name="title">
            <a:extLst xmlns:a="http://schemas.openxmlformats.org/drawingml/2006/main">
              <a:ext uri="{FF2B5EF4-FFF2-40B4-BE49-F238E27FC236}">
                <a16:creationId xmlns:a16="http://schemas.microsoft.com/office/drawing/2014/main" id="{951D6C1B-5C59-4B10-BF2E-7060C627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390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6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Step 系列推理与 Agent 技术总览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0837D41-7B46-42C4-8D98-4DAE7613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6325"/>
            <a:ext cx="1381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推理侧提高计算效率，Agent 侧组织工具执行与产物验收</a:t>
            </a:r>
          </a:p>
        </p:txBody>
      </p:sp>
      <p:sp>
        <p:nvSpPr>
          <p:cNvPr id="3" name="inference-label">
            <a:extLst xmlns:a="http://schemas.openxmlformats.org/drawingml/2006/main">
              <a:ext uri="{FF2B5EF4-FFF2-40B4-BE49-F238E27FC236}">
                <a16:creationId xmlns:a16="http://schemas.microsoft.com/office/drawing/2014/main" id="{8E4F5A28-4E73-4C72-9DA5-121AF7FF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推理架构</a:t>
            </a:r>
          </a:p>
        </p:txBody>
      </p:sp>
      <p:sp>
        <p:nvSpPr>
          <p:cNvPr id="4" name="inference-scope">
            <a:extLst xmlns:a="http://schemas.openxmlformats.org/drawingml/2006/main">
              <a:ext uri="{FF2B5EF4-FFF2-40B4-BE49-F238E27FC236}">
                <a16:creationId xmlns:a16="http://schemas.microsoft.com/office/drawing/2014/main" id="{C8818D63-1BE2-4896-8B16-8A68200C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590675"/>
            <a:ext cx="1162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Step 3.5 / 3.7 已公开实现：45 层主干，前三层 Dense，后 42 层 MoE</a:t>
            </a:r>
          </a:p>
        </p:txBody>
      </p:sp>
      <p:sp>
        <p:nvSpPr>
          <p:cNvPr id="5" name="attention">
            <a:extLst xmlns:a="http://schemas.openxmlformats.org/drawingml/2006/main">
              <a:ext uri="{FF2B5EF4-FFF2-40B4-BE49-F238E27FC236}">
                <a16:creationId xmlns:a16="http://schemas.microsoft.com/office/drawing/2014/main" id="{A28299F7-6C9B-445A-BA19-5808CDA9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238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267A0"/>
            </a:solidFill>
          </a:ln>
        </p:spPr>
      </p:sp>
      <p:sp>
        <p:nvSpPr>
          <p:cNvPr id="6" name="attention-title">
            <a:extLst xmlns:a="http://schemas.openxmlformats.org/drawingml/2006/main">
              <a:ext uri="{FF2B5EF4-FFF2-40B4-BE49-F238E27FC236}">
                <a16:creationId xmlns:a16="http://schemas.microsoft.com/office/drawing/2014/main" id="{7672FDE8-4F50-4C64-9428-5BE310EB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3857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混合注意力 + 输出门控</a:t>
            </a:r>
          </a:p>
        </p:txBody>
      </p:sp>
      <p:sp>
        <p:nvSpPr>
          <p:cNvPr id="7" name="attention-body">
            <a:extLst xmlns:a="http://schemas.openxmlformats.org/drawingml/2006/main">
              <a:ext uri="{FF2B5EF4-FFF2-40B4-BE49-F238E27FC236}">
                <a16:creationId xmlns:a16="http://schemas.microsoft.com/office/drawing/2014/main" id="{B1169769-E691-463A-8262-A90151C5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38425"/>
            <a:ext cx="3857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33 SWA + 12 Full，窗口 512</a:t>
            </a:r>
          </a:p>
          <a:p xmlns:a="http://schemas.openxmlformats.org/drawingml/2006/main">
            <a:pPr>
              <a:def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逐 head sigmoid 门控后再投影</a:t>
            </a:r>
          </a:p>
        </p:txBody>
      </p:sp>
      <p:sp>
        <p:nvSpPr>
          <p:cNvPr id="8" name="moe">
            <a:extLst xmlns:a="http://schemas.openxmlformats.org/drawingml/2006/main">
              <a:ext uri="{FF2B5EF4-FFF2-40B4-BE49-F238E27FC236}">
                <a16:creationId xmlns:a16="http://schemas.microsoft.com/office/drawing/2014/main" id="{4BB056DD-1F87-49E1-870B-95658B84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076450"/>
            <a:ext cx="4238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267A0"/>
            </a:solidFill>
          </a:ln>
        </p:spPr>
      </p:sp>
      <p:sp>
        <p:nvSpPr>
          <p:cNvPr id="9" name="moe-title">
            <a:extLst xmlns:a="http://schemas.openxmlformats.org/drawingml/2006/main">
              <a:ext uri="{FF2B5EF4-FFF2-40B4-BE49-F238E27FC236}">
                <a16:creationId xmlns:a16="http://schemas.microsoft.com/office/drawing/2014/main" id="{C0E401DF-006D-45B5-8886-F0ACB3D7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219325"/>
            <a:ext cx="3857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稀疏 MoE</a:t>
            </a:r>
          </a:p>
        </p:txBody>
      </p:sp>
      <p:sp>
        <p:nvSpPr>
          <p:cNvPr id="10" name="moe-body">
            <a:extLst xmlns:a="http://schemas.openxmlformats.org/drawingml/2006/main">
              <a:ext uri="{FF2B5EF4-FFF2-40B4-BE49-F238E27FC236}">
                <a16:creationId xmlns:a16="http://schemas.microsoft.com/office/drawing/2014/main" id="{CEA2FAE4-60BE-4F11-891E-FA9E8A1C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638425"/>
            <a:ext cx="3857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288 路由专家，top-8 + 1 共享</a:t>
            </a:r>
          </a:p>
          <a:p xmlns:a="http://schemas.openxmlformats.org/drawingml/2006/main">
            <a:pPr>
              <a:def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路由 bias 调整选择，权重再归一</a:t>
            </a:r>
          </a:p>
        </p:txBody>
      </p:sp>
      <p:sp>
        <p:nvSpPr>
          <p:cNvPr id="11" name="mtp">
            <a:extLst xmlns:a="http://schemas.openxmlformats.org/drawingml/2006/main">
              <a:ext uri="{FF2B5EF4-FFF2-40B4-BE49-F238E27FC236}">
                <a16:creationId xmlns:a16="http://schemas.microsoft.com/office/drawing/2014/main" id="{A916E2CD-AC9A-41BF-8279-835C6FA7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076450"/>
            <a:ext cx="4238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267A0"/>
            </a:solidFill>
          </a:ln>
        </p:spPr>
      </p:sp>
      <p:sp>
        <p:nvSpPr>
          <p:cNvPr id="12" name="mtp-title">
            <a:extLst xmlns:a="http://schemas.openxmlformats.org/drawingml/2006/main">
              <a:ext uri="{FF2B5EF4-FFF2-40B4-BE49-F238E27FC236}">
                <a16:creationId xmlns:a16="http://schemas.microsoft.com/office/drawing/2014/main" id="{82937DD4-E136-47FE-999A-19F0426A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219325"/>
            <a:ext cx="3857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MTP 与推理服务</a:t>
            </a:r>
          </a:p>
        </p:txBody>
      </p:sp>
      <p:sp>
        <p:nvSpPr>
          <p:cNvPr id="13" name="mtp-body">
            <a:extLst xmlns:a="http://schemas.openxmlformats.org/drawingml/2006/main">
              <a:ext uri="{FF2B5EF4-FFF2-40B4-BE49-F238E27FC236}">
                <a16:creationId xmlns:a16="http://schemas.microsoft.com/office/drawing/2014/main" id="{144FAEE7-E8B8-4F7F-9288-0348A540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638425"/>
            <a:ext cx="3857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3 个预测层，候选生成与验证</a:t>
            </a:r>
          </a:p>
          <a:p xmlns:a="http://schemas.openxmlformats.org/drawingml/2006/main">
            <a:pPr>
              <a:def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结合批处理、KV 管理和 EP 部署</a:t>
            </a:r>
          </a:p>
        </p:txBody>
      </p:sp>
      <p:sp>
        <p:nvSpPr>
          <p:cNvPr id="16" name="inference-caption">
            <a:extLst xmlns:a="http://schemas.openxmlformats.org/drawingml/2006/main">
              <a:ext uri="{FF2B5EF4-FFF2-40B4-BE49-F238E27FC236}">
                <a16:creationId xmlns:a16="http://schemas.microsoft.com/office/drawing/2014/main" id="{4F6F5013-F63B-46A6-9DB4-B3FA68B9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图示为计算职责简化。注意力与 FFN 在各主干层执行，MTP 属于生成加速机制</a:t>
            </a:r>
          </a:p>
        </p:txBody>
      </p:sp>
      <p:sp>
        <p:nvSpPr>
          <p:cNvPr id="17" name="step5">
            <a:extLst xmlns:a="http://schemas.openxmlformats.org/drawingml/2006/main">
              <a:ext uri="{FF2B5EF4-FFF2-40B4-BE49-F238E27FC236}">
                <a16:creationId xmlns:a16="http://schemas.microsoft.com/office/drawing/2014/main" id="{B44EDBAD-04FE-4F11-8F47-F1E997AA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29050"/>
            <a:ext cx="1381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Step 5 Preview：600B / 27B 稀疏 MoE，1M 上下文，64K 最大输出，支持多模态与工具调用</a:t>
            </a:r>
          </a:p>
        </p:txBody>
      </p:sp>
      <p:sp>
        <p:nvSpPr>
          <p:cNvPr id="18" name="agent-label">
            <a:extLst xmlns:a="http://schemas.openxmlformats.org/drawingml/2006/main">
              <a:ext uri="{FF2B5EF4-FFF2-40B4-BE49-F238E27FC236}">
                <a16:creationId xmlns:a16="http://schemas.microsoft.com/office/drawing/2014/main" id="{AFB7F9A5-2660-41FF-835B-BCEC26F9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1362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rPr>
              <a:t>Agent 执行流程</a:t>
            </a:r>
          </a:p>
        </p:txBody>
      </p:sp>
      <p:sp>
        <p:nvSpPr>
          <p:cNvPr id="19" name="skill">
            <a:extLst xmlns:a="http://schemas.openxmlformats.org/drawingml/2006/main">
              <a:ext uri="{FF2B5EF4-FFF2-40B4-BE49-F238E27FC236}">
                <a16:creationId xmlns:a16="http://schemas.microsoft.com/office/drawing/2014/main" id="{E8642E6C-7F04-419F-BB76-F6D0DA82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32861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87665"/>
            </a:solidFill>
          </a:ln>
        </p:spPr>
      </p:sp>
      <p:sp>
        <p:nvSpPr>
          <p:cNvPr id="20" name="skill-title">
            <a:extLst xmlns:a="http://schemas.openxmlformats.org/drawingml/2006/main">
              <a:ext uri="{FF2B5EF4-FFF2-40B4-BE49-F238E27FC236}">
                <a16:creationId xmlns:a16="http://schemas.microsoft.com/office/drawing/2014/main" id="{17FBC47C-33D9-43BA-813E-6624A41E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76825"/>
            <a:ext cx="2905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rPr>
              <a:t>Skills 与上下文</a:t>
            </a:r>
          </a:p>
        </p:txBody>
      </p:sp>
      <p:sp>
        <p:nvSpPr>
          <p:cNvPr id="21" name="skill-body">
            <a:extLst xmlns:a="http://schemas.openxmlformats.org/drawingml/2006/main">
              <a:ext uri="{FF2B5EF4-FFF2-40B4-BE49-F238E27FC236}">
                <a16:creationId xmlns:a16="http://schemas.microsoft.com/office/drawing/2014/main" id="{592D8DA2-BD74-4537-9936-57BDEADA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95925"/>
            <a:ext cx="29051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按需加载领域指令</a:t>
            </a:r>
          </a:p>
          <a:p xmlns:a="http://schemas.openxmlformats.org/drawingml/2006/main">
            <a:pPr>
              <a:def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关联脚本与模板资源</a:t>
            </a:r>
          </a:p>
        </p:txBody>
      </p:sp>
      <p:sp>
        <p:nvSpPr>
          <p:cNvPr id="22" name="plan">
            <a:extLst xmlns:a="http://schemas.openxmlformats.org/drawingml/2006/main">
              <a:ext uri="{FF2B5EF4-FFF2-40B4-BE49-F238E27FC236}">
                <a16:creationId xmlns:a16="http://schemas.microsoft.com/office/drawing/2014/main" id="{53176F78-6150-47B5-822E-B2B48800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933950"/>
            <a:ext cx="32861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87665"/>
            </a:solidFill>
          </a:ln>
        </p:spPr>
      </p:sp>
      <p:sp>
        <p:nvSpPr>
          <p:cNvPr id="23" name="plan-title">
            <a:extLst xmlns:a="http://schemas.openxmlformats.org/drawingml/2006/main">
              <a:ext uri="{FF2B5EF4-FFF2-40B4-BE49-F238E27FC236}">
                <a16:creationId xmlns:a16="http://schemas.microsoft.com/office/drawing/2014/main" id="{61E1B37E-F0F5-46A5-A6C5-1B4B4EC4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76825"/>
            <a:ext cx="2905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rPr>
              <a:t>模型推理与决策</a:t>
            </a:r>
          </a:p>
        </p:txBody>
      </p:sp>
      <p:sp>
        <p:nvSpPr>
          <p:cNvPr id="24" name="plan-body">
            <a:extLst xmlns:a="http://schemas.openxmlformats.org/drawingml/2006/main">
              <a:ext uri="{FF2B5EF4-FFF2-40B4-BE49-F238E27FC236}">
                <a16:creationId xmlns:a16="http://schemas.microsoft.com/office/drawing/2014/main" id="{77C053C2-2111-4EB4-9E68-C9EEF155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495925"/>
            <a:ext cx="29051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理解目标与工具结果</a:t>
            </a:r>
          </a:p>
          <a:p xmlns:a="http://schemas.openxmlformats.org/drawingml/2006/main">
            <a:pPr>
              <a:def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生成回答或工具调用参数</a:t>
            </a:r>
          </a:p>
        </p:txBody>
      </p:sp>
      <p:sp>
        <p:nvSpPr>
          <p:cNvPr id="25" name="tools">
            <a:extLst xmlns:a="http://schemas.openxmlformats.org/drawingml/2006/main">
              <a:ext uri="{FF2B5EF4-FFF2-40B4-BE49-F238E27FC236}">
                <a16:creationId xmlns:a16="http://schemas.microsoft.com/office/drawing/2014/main" id="{0E30EF73-B042-4B39-A349-1056A416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933950"/>
            <a:ext cx="32861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87665"/>
            </a:solidFill>
          </a:ln>
        </p:spPr>
      </p:sp>
      <p:sp>
        <p:nvSpPr>
          <p:cNvPr id="26" name="tools-title">
            <a:extLst xmlns:a="http://schemas.openxmlformats.org/drawingml/2006/main">
              <a:ext uri="{FF2B5EF4-FFF2-40B4-BE49-F238E27FC236}">
                <a16:creationId xmlns:a16="http://schemas.microsoft.com/office/drawing/2014/main" id="{2EE36386-E965-456E-AEC7-071B0374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76825"/>
            <a:ext cx="2905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rPr>
              <a:t>Plugin / MCP 工具</a:t>
            </a:r>
          </a:p>
        </p:txBody>
      </p:sp>
      <p:sp>
        <p:nvSpPr>
          <p:cNvPr id="27" name="tools-body">
            <a:extLst xmlns:a="http://schemas.openxmlformats.org/drawingml/2006/main">
              <a:ext uri="{FF2B5EF4-FFF2-40B4-BE49-F238E27FC236}">
                <a16:creationId xmlns:a16="http://schemas.microsoft.com/office/drawing/2014/main" id="{D7FCE849-D32E-49EB-9EE4-5183F8AD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495925"/>
            <a:ext cx="29051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接入代码、检索与业务系统</a:t>
            </a:r>
          </a:p>
          <a:p xmlns:a="http://schemas.openxmlformats.org/drawingml/2006/main">
            <a:pPr>
              <a:def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执行操作并返回结构化结果</a:t>
            </a:r>
          </a:p>
        </p:txBody>
      </p:sp>
      <p:sp>
        <p:nvSpPr>
          <p:cNvPr id="28" name="verify">
            <a:extLst xmlns:a="http://schemas.openxmlformats.org/drawingml/2006/main">
              <a:ext uri="{FF2B5EF4-FFF2-40B4-BE49-F238E27FC236}">
                <a16:creationId xmlns:a16="http://schemas.microsoft.com/office/drawing/2014/main" id="{019AF886-E863-4A66-BEA9-358D4603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933950"/>
            <a:ext cx="32861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87665"/>
            </a:solidFill>
          </a:ln>
        </p:spPr>
      </p:sp>
      <p:sp>
        <p:nvSpPr>
          <p:cNvPr id="29" name="verify-title">
            <a:extLst xmlns:a="http://schemas.openxmlformats.org/drawingml/2006/main">
              <a:ext uri="{FF2B5EF4-FFF2-40B4-BE49-F238E27FC236}">
                <a16:creationId xmlns:a16="http://schemas.microsoft.com/office/drawing/2014/main" id="{6EA7576E-CC34-4E27-8840-46A95D3B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5076825"/>
            <a:ext cx="2905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rPr>
              <a:t>验收与交付</a:t>
            </a:r>
          </a:p>
        </p:txBody>
      </p:sp>
      <p:sp>
        <p:nvSpPr>
          <p:cNvPr id="30" name="verify-body">
            <a:extLst xmlns:a="http://schemas.openxmlformats.org/drawingml/2006/main">
              <a:ext uri="{FF2B5EF4-FFF2-40B4-BE49-F238E27FC236}">
                <a16:creationId xmlns:a16="http://schemas.microsoft.com/office/drawing/2014/main" id="{6009C1D8-48D0-4CE2-890E-A229F9A0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5495925"/>
            <a:ext cx="29051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测试、公式与引用核查</a:t>
            </a:r>
          </a:p>
          <a:p xmlns:a="http://schemas.openxmlformats.org/drawingml/2006/main">
            <a:pPr>
              <a:def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失败修复，通过即交付</a:t>
            </a:r>
          </a:p>
        </p:txBody>
      </p:sp>
      <p:cxnSp>
        <p:nvCxnSpPr>
          <p:cNvPr id="34" name="feedback-down">
            <a:extLst xmlns:a="http://schemas.openxmlformats.org/drawingml/2006/main">
              <a:ext uri="{FF2B5EF4-FFF2-40B4-BE49-F238E27FC236}">
                <a16:creationId xmlns:a16="http://schemas.microsoft.com/office/drawing/2014/main" id="{537D715A-0FE0-4994-AC2B-29B609069692}"/>
              </a:ext>
            </a:extLst>
          </p:cNvPr>
          <p:cNvCxnSpPr/>
          <p:nvPr/>
        </p:nvCxnSpPr>
        <p:spPr>
          <a:xfrm xmlns:a="http://schemas.openxmlformats.org/drawingml/2006/main">
            <a:off x="12906375" y="6229350"/>
            <a:ext cx="0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665"/>
            </a:solidFill>
            <a:tailEnd type="none" w="med" len="med"/>
          </a:ln>
        </p:spPr>
      </p:cxnSp>
      <p:cxnSp>
        <p:nvCxnSpPr>
          <p:cNvPr id="35" name="feedback-left">
            <a:extLst xmlns:a="http://schemas.openxmlformats.org/drawingml/2006/main">
              <a:ext uri="{FF2B5EF4-FFF2-40B4-BE49-F238E27FC236}">
                <a16:creationId xmlns:a16="http://schemas.microsoft.com/office/drawing/2014/main" id="{BCF5B676-42EC-4074-81B6-56D4D294ECAD}"/>
              </a:ext>
            </a:extLst>
          </p:cNvPr>
          <p:cNvCxnSpPr/>
          <p:nvPr/>
        </p:nvCxnSpPr>
        <p:spPr>
          <a:xfrm xmlns:a="http://schemas.openxmlformats.org/drawingml/2006/main">
            <a:off x="2324100" y="6581775"/>
            <a:ext cx="10582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665"/>
            </a:solidFill>
            <a:tailEnd type="none" w="med" len="med"/>
          </a:ln>
        </p:spPr>
      </p:cxnSp>
      <p:cxnSp>
        <p:nvCxnSpPr>
          <p:cNvPr id="36" name="feedback-up">
            <a:extLst xmlns:a="http://schemas.openxmlformats.org/drawingml/2006/main">
              <a:ext uri="{FF2B5EF4-FFF2-40B4-BE49-F238E27FC236}">
                <a16:creationId xmlns:a16="http://schemas.microsoft.com/office/drawing/2014/main" id="{9DA13161-6026-43F5-9D36-10BF4A4C1458}"/>
              </a:ext>
            </a:extLst>
          </p:cNvPr>
          <p:cNvCxnSpPr/>
          <p:nvPr/>
        </p:nvCxnSpPr>
        <p:spPr>
          <a:xfrm xmlns:a="http://schemas.openxmlformats.org/drawingml/2006/main">
            <a:off x="2324100" y="6229350"/>
            <a:ext cx="0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665"/>
            </a:solidFill>
            <a:headEnd type="arrow" w="med" len="med"/>
          </a:ln>
        </p:spPr>
      </p:cxnSp>
      <p:sp>
        <p:nvSpPr>
          <p:cNvPr id="37" name="feedback-label">
            <a:extLst xmlns:a="http://schemas.openxmlformats.org/drawingml/2006/main">
              <a:ext uri="{FF2B5EF4-FFF2-40B4-BE49-F238E27FC236}">
                <a16:creationId xmlns:a16="http://schemas.microsoft.com/office/drawing/2014/main" id="{B9061D97-1ED6-4F1F-8AE5-15ADD0A4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677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rPr>
              <a:t>工具结果与验证反馈回到上下文，驱动下一轮推理</a:t>
            </a:r>
          </a:p>
        </p:txBody>
      </p:sp>
      <p:sp>
        <p:nvSpPr>
          <p:cNvPr id="38" name="rl">
            <a:extLst xmlns:a="http://schemas.openxmlformats.org/drawingml/2006/main">
              <a:ext uri="{FF2B5EF4-FFF2-40B4-BE49-F238E27FC236}">
                <a16:creationId xmlns:a16="http://schemas.microsoft.com/office/drawing/2014/main" id="{F93840B6-3065-4261-9507-FC4E8EA3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162800"/>
            <a:ext cx="1381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后训练支撑：MIS-PO 关注概率失配，StepTronOSS 用版本流控、并发限制与背压协调训练和 rollout</a:t>
            </a:r>
          </a:p>
        </p:txBody>
      </p:sp>
      <p:sp>
        <p:nvSpPr>
          <p:cNvPr id="39" name="boundary">
            <a:extLst xmlns:a="http://schemas.openxmlformats.org/drawingml/2006/main">
              <a:ext uri="{FF2B5EF4-FFF2-40B4-BE49-F238E27FC236}">
                <a16:creationId xmlns:a16="http://schemas.microsoft.com/office/drawing/2014/main" id="{C0C28485-81AF-43A1-964A-FD51EE5E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77175"/>
            <a:ext cx="13811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口径：Step 5 的 attention、专家数、MTP 与 RL 配方尚未核实。Agent 验收属于应用设计。资料复核于 2026-10-12</a:t>
            </a:r>
          </a:p>
        </p:txBody>
      </p:sp>
    </p:spTree>
    <p:extLst>
      <p:ext uri="{BB962C8B-B14F-4D97-AF65-F5344CB8AC3E}">
        <p14:creationId xmlns:p14="http://schemas.microsoft.com/office/powerpoint/2010/main" val="20021968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2026-10-11T16:30:24.1870000Z</dcterms:created>
  <dcterms:modified xsi:type="dcterms:W3CDTF">2026-10-11T16:30:24.1880000Z</dcterms:modified>
</coreProperties>
</file>