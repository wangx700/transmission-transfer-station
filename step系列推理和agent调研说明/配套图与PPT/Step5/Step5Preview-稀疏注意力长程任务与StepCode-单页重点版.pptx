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3489638f34f1f" /><Relationship Type="http://schemas.openxmlformats.org/officeDocument/2006/relationships/extended-properties" Target="/docProps/app.xml" Id="R7b02f0596c964978" /><Relationship Type="http://schemas.openxmlformats.org/officeDocument/2006/relationships/officeDocument" Target="/ppt/presentation.xml" Id="Rca45c9a9a98e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b2220a9f204c8c"/>
  </p:sldMasterIdLst>
  <p:notesMasterIdLst>
    <p:notesMasterId xmlns:r="http://schemas.openxmlformats.org/officeDocument/2006/relationships" r:id="Rfda79909bba14b11"/>
  </p:notesMasterIdLst>
  <p:sldIdLst>
    <p:sldId xmlns:r="http://schemas.openxmlformats.org/officeDocument/2006/relationships" id="256" r:id="R532e9da21aae49d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b818592e242aa" /><Relationship Type="http://schemas.openxmlformats.org/officeDocument/2006/relationships/slideMaster" Target="/ppt/slideMasters/slideMaster1.xml" Id="R47b2220a9f204c8c" /><Relationship Type="http://schemas.openxmlformats.org/officeDocument/2006/relationships/notesMaster" Target="/ppt/notesMasters/notesMaster1.xml" Id="Rfda79909bba14b11" /><Relationship Type="http://schemas.openxmlformats.org/officeDocument/2006/relationships/presProps" Target="/ppt/presProps.xml" Id="R0c6bfa9c2caf45ef" /><Relationship Type="http://schemas.openxmlformats.org/officeDocument/2006/relationships/tableStyles" Target="/ppt/tableStyles.xml" Id="R060b966df3a34502" /><Relationship Type="http://schemas.openxmlformats.org/officeDocument/2006/relationships/slide" Target="/ppt/slides/slide1.xml" Id="R532e9da21aae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c19365239d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3dfe3e3e144ba" /><Relationship Type="http://schemas.openxmlformats.org/officeDocument/2006/relationships/notesMaster" Target="/ppt/notesMasters/notesMaster1.xml" Id="R599d8f1bd9de45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5 Preview 单页重点图，2026-10-12 北京时间。图形均为可编辑概念图，不是私有实现复原。三条主线为 Sparse Attention、长程任务与RL、Step-Code。旧代3.5/3.7仅作背景，未在Step5主图沿用45层、288专家、512窗口或Gate。</a:t>
            </a:r>
          </a:p>
          <a:p xmlns:a="http://schemas.openxmlformats.org/drawingml/2006/main">
            <a:r>
              <a:t>官方：600B总参数、27B激活，API1M上下文、最大输入1M、最大输出64K，文本/图像/视频输入，文本输出；两个独立上限不能同时取满。92层窄而深、Sparse GQA、块级合并及RL系统技术来自腾讯科技对团队说明的转述，非正式配置或kernel代码。具体hidden、专家数/topk、attention布局、gate和RL loss未按官方核实。</a:t>
            </a:r>
          </a:p>
          <a:p xmlns:a="http://schemas.openxmlformats.org/drawingml/2006/main">
            <a:r>
              <a:t>Sparse GQA通过索引选择历史KV，块合并减少Indexer/Topk重复开销与碎片。图8历史块与3高亮仅示意，不是实际块大小、k或固定窗口。Indexer/Topk成本降至1/8是局部自述，不是整个模型8倍加速；索引、KV访问、通信、FFN仍有开销。</a:t>
            </a:r>
          </a:p>
          <a:p xmlns:a="http://schemas.openxmlformats.org/drawingml/2006/main">
            <a:r>
              <a:t>长程任务是规划→工具→反馈→上下文更新的概念循环，不代表内部固定图。Kernel条件：单H100，head dim512，batch1，64heads，8192tokens；24h预算，各模型独立4次取最佳，Step约22h前向+反向合计508TFLOPS。它是被优化kernel吞吐，不是Step生成速度。自动后训练案例：24h改进Qwen3-30B-A3B数据流程，AIME24 53.3→60.0%，不是Step自身RL提升。Pokemon超过3000turns、累计近600万tokens，第三徽章约1/3进度，未通关。</a:t>
            </a:r>
          </a:p>
          <a:p xmlns:a="http://schemas.openxmlformats.org/drawingml/2006/main">
            <a:r>
              <a:t>腾讯科技转述：严格on-policy的bit-wise训推对齐用确定性算子/树状归约，开销低于10%；异步复用推理状态、logprob偏差1e-2以内，聚合口径未公开。负载感知调度、跨机EP、MTP3投机、FP8MoE、FP8KV量化感知训练、KV卸载联合长程RL超过3倍加速；不能解释为API每请求除3。样本全生命周期账本丢失率低于1%不是任务失败率。预训练Critic token级信用分配、turn级格式/奖励投机处罚与上下文管理纳入RL。EP减少最忙rank拖尾，但具体线上动态EPLB、副本策略未证实。</a:t>
            </a:r>
          </a:p>
          <a:p xmlns:a="http://schemas.openxmlformats.org/drawingml/2006/main">
            <a:r>
              <a:t>Step-Code官方产品页：同Step5模型接6个Agent，Multi-Frame BMK完成率73.3%、累计5.09Mtokens/任务，官方称两项均最佳。未完整公开配置/置信区间，非独立所有框架排名。CLM默认clm-v1编辑受验证工作视图、保留canonical历史，失败回退摘要；子会话并发与关键结果裁剪；Goal持续推进，测试验收后交付，静态网页可StepPage发布与回滚；不是所有任务必用子Agent或StepPage。分支线是子会话调度示意。</a:t>
            </a:r>
          </a:p>
          <a:p xmlns:a="http://schemas.openxmlformats.org/drawingml/2006/main">
            <a:r>
              <a:t>全球评分：AA当前v4.3.2 Step44、GLM5.3Max45、KimiK3Max44。AA任务费Step1.03美元、GLM2.01、Kimi2.00；输出速度86.9/66.0/40.2token每秒，不同端点非同硬件。Step整套输出160M，比较集合中位82M；低价不等于少token。发布时“全球开源前三”是厂商经媒体转述的历史口径，AA当前proprietary，官方计划10月15开放，不是当前全球总榜第三。摘要40/227是比较集合名次，不作总榜。</a:t>
            </a:r>
          </a:p>
          <a:p xmlns:a="http://schemas.openxmlformats.org/drawingml/2006/main">
            <a:r>
              <a:t>参考网络链接：</a:t>
            </a:r>
          </a:p>
          <a:p xmlns:a="http://schemas.openxmlformats.org/drawingml/2006/main">
            <a:r>
              <a:t>https://www.stepfun.com/step-5-preview</a:t>
            </a:r>
          </a:p>
          <a:p xmlns:a="http://schemas.openxmlformats.org/drawingml/2006/main">
            <a:r>
              <a:t>https://platform.stepfun.ai/docs/en/guides/models/step-5-preview</a:t>
            </a:r>
          </a:p>
          <a:p xmlns:a="http://schemas.openxmlformats.org/drawingml/2006/main">
            <a:r>
              <a:t>https://artificialanalysis.ai/models/step-5</a:t>
            </a:r>
          </a:p>
          <a:p xmlns:a="http://schemas.openxmlformats.org/drawingml/2006/main">
            <a:r>
              <a:t>https://artificialanalysis.ai/models/glm-5-3</a:t>
            </a:r>
          </a:p>
          <a:p xmlns:a="http://schemas.openxmlformats.org/drawingml/2006/main">
            <a:r>
              <a:t>https://artificialanalysis.ai/models/kimi-k3</a:t>
            </a:r>
          </a:p>
          <a:p xmlns:a="http://schemas.openxmlformats.org/drawingml/2006/main">
            <a:r>
              <a:t>https://news.qq.com/rain/a/20260920A06EUP00</a:t>
            </a:r>
          </a:p>
          <a:p xmlns:a="http://schemas.openxmlformats.org/drawingml/2006/main">
            <a:r>
              <a:t>https://zhuanlan.zhihu.com/p/2085010148913845420</a:t>
            </a:r>
          </a:p>
          <a:p xmlns:a="http://schemas.openxmlformats.org/drawingml/2006/main">
            <a:r>
              <a:t>https://platform.stepfun.ai/step-code</a:t>
            </a:r>
          </a:p>
          <a:p xmlns:a="http://schemas.openxmlformats.org/drawingml/2006/main">
            <a:r>
              <a:t>https://github.com/stepfun-ai/Step-Code</a:t>
            </a:r>
          </a:p>
          <a:p xmlns:a="http://schemas.openxmlformats.org/drawingml/2006/main">
            <a:r>
              <a:t>https://github.com/stepfun-ai/Step-Code/blob/main/packages/coding-agent/docs/context-management.md</a:t>
            </a:r>
          </a:p>
          <a:p xmlns:a="http://schemas.openxmlformats.org/drawingml/2006/main">
            <a:r>
              <a:t>https://github.com/stepfun-ai/Step-Code/blob/main/packages/coding-agent/src/core/compaction/compaction.ts</a:t>
            </a:r>
          </a:p>
          <a:p xmlns:a="http://schemas.openxmlformats.org/drawingml/2006/main">
            <a:r>
              <a:t>https://github.com/stepfun-ai/Step-Code/blob/main/docs/compaction-integrity.md</a:t>
            </a:r>
          </a:p>
          <a:p xmlns:a="http://schemas.openxmlformats.org/drawingml/2006/main">
            <a:r>
              <a:t>https://github.com/stepfun-ai/Step-Code/blob/main/packages/coding-agent/src/features/subagent/execute.ts</a:t>
            </a:r>
          </a:p>
          <a:p xmlns:a="http://schemas.openxmlformats.org/drawingml/2006/main">
            <a:r>
              <a:t>https://github.com/stepfun-ai/Step-Code/blob/main/docs/goal-lifecycle.md</a:t>
            </a:r>
          </a:p>
          <a:p xmlns:a="http://schemas.openxmlformats.org/drawingml/2006/main">
            <a:r>
              <a:t>https://github.com/stepfun-ai/Step-Code/blob/main/plugins/steppage/step.plugin.json</a:t>
            </a:r>
          </a:p>
          <a:p xmlns:a="http://schemas.openxmlformats.org/drawingml/2006/main">
            <a:r>
              <a:t>https://ai.rs/ai-for-business/step-5-preview-weights-leak-hugging-face</a:t>
            </a:r>
          </a:p>
          <a:p xmlns:a="http://schemas.openxmlformats.org/drawingml/2006/main">
            <a:r>
              <a:t>https://newuj.com/en/n/stepfun-s-600b-step-5-scores-44-at-1-per-million-tokens-4cb2f7e4</a:t>
            </a:r>
          </a:p>
          <a:p xmlns:a="http://schemas.openxmlformats.org/drawingml/2006/main">
            <a:r>
              <a:t>PaCoRe是其他独立技术，未确认Step5采用，因此本页未画为内部模块。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adb9780cc4e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134bbb30044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35c1a96d742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14e678e8240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d8ed8e28544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3c2c531cc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CC77FC-11D6-4D0B-A8A5-6BD2FA8E0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4D742B-3203-45CE-B465-1A520E861F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FEC859-235B-4247-8B36-22A5F306D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5C16C-0DE7-4F15-BF47-1A5A00856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5B8609-4D87-49F3-BA60-C8C511063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06B421-87B3-48CA-9394-8017E52DC4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491483-1086-42F8-98EA-A5E33C214F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AFE850-126A-4A75-B0C1-7FFCA6B156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EC5E2C-398A-454B-BFDE-3CEC47CEC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D2E579-FE68-4909-AFF9-B9C8FE2FD0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ee35121424ea6" /><Relationship Type="http://schemas.openxmlformats.org/officeDocument/2006/relationships/slideLayout" Target="/ppt/slideLayouts/slideLayout1.xml" Id="Rd49bafeedf1b47dc" /><Relationship Type="http://schemas.openxmlformats.org/officeDocument/2006/relationships/slideLayout" Target="/ppt/slideLayouts/slideLayout2.xml" Id="R9185317195d041af" /><Relationship Type="http://schemas.openxmlformats.org/officeDocument/2006/relationships/slideLayout" Target="/ppt/slideLayouts/slideLayout3.xml" Id="R55afba54a2cb49b3" /><Relationship Type="http://schemas.openxmlformats.org/officeDocument/2006/relationships/slideLayout" Target="/ppt/slideLayouts/slideLayout4.xml" Id="R2ddbfcf411db4b4b" /><Relationship Type="http://schemas.openxmlformats.org/officeDocument/2006/relationships/slideLayout" Target="/ppt/slideLayouts/slideLayout5.xml" Id="R59a25812afbc468f" /><Relationship Type="http://schemas.openxmlformats.org/officeDocument/2006/relationships/slideLayout" Target="/ppt/slideLayouts/slideLayout6.xml" Id="R5ed9bbd24de2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bafeedf1b47dc"/>
    <p:sldLayoutId xmlns:r="http://schemas.openxmlformats.org/officeDocument/2006/relationships" id="2147483650" r:id="R9185317195d041af"/>
    <p:sldLayoutId xmlns:r="http://schemas.openxmlformats.org/officeDocument/2006/relationships" id="2147483651" r:id="R55afba54a2cb49b3"/>
    <p:sldLayoutId xmlns:r="http://schemas.openxmlformats.org/officeDocument/2006/relationships" id="2147483652" r:id="R2ddbfcf411db4b4b"/>
    <p:sldLayoutId xmlns:r="http://schemas.openxmlformats.org/officeDocument/2006/relationships" id="2147483653" r:id="R59a25812afbc468f"/>
    <p:sldLayoutId xmlns:r="http://schemas.openxmlformats.org/officeDocument/2006/relationships" id="2147483654" r:id="R5ed9bbd24de2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aeb5839514e9a" /><Relationship Type="http://schemas.openxmlformats.org/officeDocument/2006/relationships/notesSlide" Target="/ppt/notesSlides/notesSlide1.xml" Id="R7e8a1f967f494d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C415ED6E-384C-40F9-853F-571906B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"/>
            <a:ext cx="1266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5 Preview：推理效率与长程 Agent</a:t>
            </a:r>
          </a:p>
        </p:txBody>
      </p:sp>
      <p:sp>
        <p:nvSpPr>
          <p:cNvPr id="2" name="params">
            <a:extLst xmlns:a="http://schemas.openxmlformats.org/drawingml/2006/main">
              <a:ext uri="{FF2B5EF4-FFF2-40B4-BE49-F238E27FC236}">
                <a16:creationId xmlns:a16="http://schemas.microsoft.com/office/drawing/2014/main" id="{D18B2A1E-23D4-45D2-9F20-D289D661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385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600B 总参数 / 27B 激活 · 1M 上下文 / 最大输出 64K · 文本、图像、视频输入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D5EA6CEA-57B4-4BCF-BF4D-67988A3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384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E5A03831-888B-410A-888F-A5BA6F19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95475"/>
            <a:ext cx="2305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多模态与工具历史</a:t>
            </a:r>
          </a:p>
        </p:txBody>
      </p:sp>
      <p:sp>
        <p:nvSpPr>
          <p:cNvPr id="5" name="core">
            <a:extLst xmlns:a="http://schemas.openxmlformats.org/drawingml/2006/main">
              <a:ext uri="{FF2B5EF4-FFF2-40B4-BE49-F238E27FC236}">
                <a16:creationId xmlns:a16="http://schemas.microsoft.com/office/drawing/2014/main" id="{1C399E0C-F043-4481-BDEF-63C3DBA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6553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8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6" name="core-label">
            <a:extLst xmlns:a="http://schemas.openxmlformats.org/drawingml/2006/main">
              <a:ext uri="{FF2B5EF4-FFF2-40B4-BE49-F238E27FC236}">
                <a16:creationId xmlns:a16="http://schemas.microsoft.com/office/drawing/2014/main" id="{5392AA8B-02B7-4CF2-8A6C-40F755A9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95475"/>
            <a:ext cx="64198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92 层窄而深* · Sparse GQA* + 稀疏 MoE</a:t>
            </a:r>
          </a:p>
        </p:txBody>
      </p:sp>
      <p:sp>
        <p:nvSpPr>
          <p:cNvPr id="7" name="output">
            <a:extLst xmlns:a="http://schemas.openxmlformats.org/drawingml/2006/main">
              <a:ext uri="{FF2B5EF4-FFF2-40B4-BE49-F238E27FC236}">
                <a16:creationId xmlns:a16="http://schemas.microsoft.com/office/drawing/2014/main" id="{43D5CA61-7CEC-4BD9-BB39-6393789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847850"/>
            <a:ext cx="26479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7"/>
          </a:solidFill>
          <a:ln xmlns:a="http://schemas.openxmlformats.org/drawingml/2006/main" w="14288">
            <a:solidFill>
              <a:srgbClr val="137F88"/>
            </a:solidFill>
          </a:ln>
        </p:spPr>
      </p:sp>
      <p:sp>
        <p:nvSpPr>
          <p:cNvPr id="8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0280417-6752-4EF9-B8B7-F6A5008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895475"/>
            <a:ext cx="2514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推理 / 工具调用</a:t>
            </a:r>
          </a:p>
        </p:txBody>
      </p:sp>
      <p:cxnSp>
        <p:nvCxnSpPr>
          <p:cNvPr id="9" name="structure-1">
            <a:extLst xmlns:a="http://schemas.openxmlformats.org/drawingml/2006/main">
              <a:ext uri="{FF2B5EF4-FFF2-40B4-BE49-F238E27FC236}">
                <a16:creationId xmlns:a16="http://schemas.microsoft.com/office/drawing/2014/main" id="{72395F4F-4EC3-419D-A21F-2E01849607E9}"/>
              </a:ext>
            </a:extLst>
          </p:cNvPr>
          <p:cNvCxnSpPr/>
          <p:nvPr/>
        </p:nvCxnSpPr>
        <p:spPr>
          <a:xfrm xmlns:a="http://schemas.openxmlformats.org/drawingml/2006/main">
            <a:off x="3124200" y="22288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10" name="structure-2">
            <a:extLst xmlns:a="http://schemas.openxmlformats.org/drawingml/2006/main">
              <a:ext uri="{FF2B5EF4-FFF2-40B4-BE49-F238E27FC236}">
                <a16:creationId xmlns:a16="http://schemas.microsoft.com/office/drawing/2014/main" id="{12811949-10A0-4504-B0BD-AE1EA4C5439B}"/>
              </a:ext>
            </a:extLst>
          </p:cNvPr>
          <p:cNvCxnSpPr/>
          <p:nvPr/>
        </p:nvCxnSpPr>
        <p:spPr>
          <a:xfrm xmlns:a="http://schemas.openxmlformats.org/drawingml/2006/main">
            <a:off x="10191750" y="22288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53AC"/>
            </a:solidFill>
            <a:tailEnd type="arrow" w="med" len="med"/>
          </a:ln>
        </p:spPr>
      </p:cxnSp>
      <p:sp>
        <p:nvSpPr>
          <p:cNvPr id="11" name="aa">
            <a:extLst xmlns:a="http://schemas.openxmlformats.org/drawingml/2006/main">
              <a:ext uri="{FF2B5EF4-FFF2-40B4-BE49-F238E27FC236}">
                <a16:creationId xmlns:a16="http://schemas.microsoft.com/office/drawing/2014/main" id="{DBFB80D5-91F1-4CA7-8FFA-AD939BB1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847850"/>
            <a:ext cx="119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AA 44</a:t>
            </a:r>
          </a:p>
        </p:txBody>
      </p:sp>
      <p:sp>
        <p:nvSpPr>
          <p:cNvPr id="12" name="aa-label">
            <a:extLst xmlns:a="http://schemas.openxmlformats.org/drawingml/2006/main">
              <a:ext uri="{FF2B5EF4-FFF2-40B4-BE49-F238E27FC236}">
                <a16:creationId xmlns:a16="http://schemas.microsoft.com/office/drawing/2014/main" id="{16A6167C-5C1D-4883-B373-821352C5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3050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独立指数</a:t>
            </a:r>
          </a:p>
        </p:txBody>
      </p:sp>
      <p:sp>
        <p:nvSpPr>
          <p:cNvPr id="13" name="sparse-title">
            <a:extLst xmlns:a="http://schemas.openxmlformats.org/drawingml/2006/main">
              <a:ext uri="{FF2B5EF4-FFF2-40B4-BE49-F238E27FC236}">
                <a16:creationId xmlns:a16="http://schemas.microsoft.com/office/drawing/2014/main" id="{1A373904-406C-471F-9394-8BFEF9F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Sparse Attention</a:t>
            </a:r>
          </a:p>
        </p:txBody>
      </p:sp>
      <p:sp>
        <p:nvSpPr>
          <p:cNvPr id="14" name="long-title">
            <a:extLst xmlns:a="http://schemas.openxmlformats.org/drawingml/2006/main">
              <a:ext uri="{FF2B5EF4-FFF2-40B4-BE49-F238E27FC236}">
                <a16:creationId xmlns:a16="http://schemas.microsoft.com/office/drawing/2014/main" id="{5231943A-D2F9-4450-BC44-51129AF2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9900"/>
            <a:ext cx="414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长程任务与 RL</a:t>
            </a:r>
          </a:p>
        </p:txBody>
      </p:sp>
      <p:sp>
        <p:nvSpPr>
          <p:cNvPr id="15" name="code-title">
            <a:extLst xmlns:a="http://schemas.openxmlformats.org/drawingml/2006/main">
              <a:ext uri="{FF2B5EF4-FFF2-40B4-BE49-F238E27FC236}">
                <a16:creationId xmlns:a16="http://schemas.microsoft.com/office/drawing/2014/main" id="{C187E262-38D9-415C-8F14-7E86E9BB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099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Step-Code</a:t>
            </a:r>
          </a:p>
        </p:txBody>
      </p:sp>
      <p:sp>
        <p:nvSpPr>
          <p:cNvPr id="16" name="sparse-purpose">
            <a:extLst xmlns:a="http://schemas.openxmlformats.org/drawingml/2006/main">
              <a:ext uri="{FF2B5EF4-FFF2-40B4-BE49-F238E27FC236}">
                <a16:creationId xmlns:a16="http://schemas.microsoft.com/office/drawing/2014/main" id="{B3C20633-C44A-4BA7-A3F4-AF421EC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选择相关历史，合并重叠访问</a:t>
            </a:r>
          </a:p>
        </p:txBody>
      </p:sp>
      <p:sp>
        <p:nvSpPr>
          <p:cNvPr id="17" name="long-purpose">
            <a:extLst xmlns:a="http://schemas.openxmlformats.org/drawingml/2006/main">
              <a:ext uri="{FF2B5EF4-FFF2-40B4-BE49-F238E27FC236}">
                <a16:creationId xmlns:a16="http://schemas.microsoft.com/office/drawing/2014/main" id="{B652D66B-5492-4581-BBE6-5FDEF879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工具反馈驱动持续修正</a:t>
            </a:r>
          </a:p>
        </p:txBody>
      </p:sp>
      <p:sp>
        <p:nvSpPr>
          <p:cNvPr id="18" name="code-purpose">
            <a:extLst xmlns:a="http://schemas.openxmlformats.org/drawingml/2006/main">
              <a:ext uri="{FF2B5EF4-FFF2-40B4-BE49-F238E27FC236}">
                <a16:creationId xmlns:a16="http://schemas.microsoft.com/office/drawing/2014/main" id="{9DF64B9E-3706-4B1F-AF0F-4EC129D5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623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73.3% 完成率 / 5.09M tokens†</a:t>
            </a:r>
          </a:p>
        </p:txBody>
      </p:sp>
      <p:sp>
        <p:nvSpPr>
          <p:cNvPr id="19" name="history-label">
            <a:extLst xmlns:a="http://schemas.openxmlformats.org/drawingml/2006/main">
              <a:ext uri="{FF2B5EF4-FFF2-40B4-BE49-F238E27FC236}">
                <a16:creationId xmlns:a16="http://schemas.microsoft.com/office/drawing/2014/main" id="{8E16FA9A-F7CB-4029-8881-8E5AF7A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历史 KV：远近证据都可被选中</a:t>
            </a:r>
          </a:p>
        </p:txBody>
      </p:sp>
      <p:sp>
        <p:nvSpPr>
          <p:cNvPr id="20" name="kv-0">
            <a:extLst xmlns:a="http://schemas.openxmlformats.org/drawingml/2006/main">
              <a:ext uri="{FF2B5EF4-FFF2-40B4-BE49-F238E27FC236}">
                <a16:creationId xmlns:a16="http://schemas.microsoft.com/office/drawing/2014/main" id="{C57DD7A6-87B5-4EFB-A91F-17FB4679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21" name="kv-number-0">
            <a:extLst xmlns:a="http://schemas.openxmlformats.org/drawingml/2006/main">
              <a:ext uri="{FF2B5EF4-FFF2-40B4-BE49-F238E27FC236}">
                <a16:creationId xmlns:a16="http://schemas.microsoft.com/office/drawing/2014/main" id="{30707CA3-CD04-44DE-A51C-3324B5A9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kv-1">
            <a:extLst xmlns:a="http://schemas.openxmlformats.org/drawingml/2006/main">
              <a:ext uri="{FF2B5EF4-FFF2-40B4-BE49-F238E27FC236}">
                <a16:creationId xmlns:a16="http://schemas.microsoft.com/office/drawing/2014/main" id="{C49155AA-F132-4592-9811-8E47372C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23" name="kv-number-1">
            <a:extLst xmlns:a="http://schemas.openxmlformats.org/drawingml/2006/main">
              <a:ext uri="{FF2B5EF4-FFF2-40B4-BE49-F238E27FC236}">
                <a16:creationId xmlns:a16="http://schemas.microsoft.com/office/drawing/2014/main" id="{34EE8A38-4D9A-4712-8867-5EED3324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kv-2">
            <a:extLst xmlns:a="http://schemas.openxmlformats.org/drawingml/2006/main">
              <a:ext uri="{FF2B5EF4-FFF2-40B4-BE49-F238E27FC236}">
                <a16:creationId xmlns:a16="http://schemas.microsoft.com/office/drawing/2014/main" id="{A5A3BE88-0D44-43E1-A2BB-3DC34E22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25" name="kv-number-2">
            <a:extLst xmlns:a="http://schemas.openxmlformats.org/drawingml/2006/main">
              <a:ext uri="{FF2B5EF4-FFF2-40B4-BE49-F238E27FC236}">
                <a16:creationId xmlns:a16="http://schemas.microsoft.com/office/drawing/2014/main" id="{188F17CF-0D70-4831-8B99-AAD84A0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kv-3">
            <a:extLst xmlns:a="http://schemas.openxmlformats.org/drawingml/2006/main">
              <a:ext uri="{FF2B5EF4-FFF2-40B4-BE49-F238E27FC236}">
                <a16:creationId xmlns:a16="http://schemas.microsoft.com/office/drawing/2014/main" id="{BC5C704D-DD5E-444D-90B7-35C93AB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27" name="kv-number-3">
            <a:extLst xmlns:a="http://schemas.openxmlformats.org/drawingml/2006/main">
              <a:ext uri="{FF2B5EF4-FFF2-40B4-BE49-F238E27FC236}">
                <a16:creationId xmlns:a16="http://schemas.microsoft.com/office/drawing/2014/main" id="{5C456EBB-FE94-4D31-A876-1BB7291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kv-4">
            <a:extLst xmlns:a="http://schemas.openxmlformats.org/drawingml/2006/main">
              <a:ext uri="{FF2B5EF4-FFF2-40B4-BE49-F238E27FC236}">
                <a16:creationId xmlns:a16="http://schemas.microsoft.com/office/drawing/2014/main" id="{933FC65A-DEAD-4CCF-BF6E-11DACCDB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29" name="kv-number-4">
            <a:extLst xmlns:a="http://schemas.openxmlformats.org/drawingml/2006/main">
              <a:ext uri="{FF2B5EF4-FFF2-40B4-BE49-F238E27FC236}">
                <a16:creationId xmlns:a16="http://schemas.microsoft.com/office/drawing/2014/main" id="{D42EA065-4EBD-4FE7-9235-0352649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kv-5">
            <a:extLst xmlns:a="http://schemas.openxmlformats.org/drawingml/2006/main">
              <a:ext uri="{FF2B5EF4-FFF2-40B4-BE49-F238E27FC236}">
                <a16:creationId xmlns:a16="http://schemas.microsoft.com/office/drawing/2014/main" id="{B27B2DBB-892F-4B61-83D7-A0BBC1F7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1" name="kv-number-5">
            <a:extLst xmlns:a="http://schemas.openxmlformats.org/drawingml/2006/main">
              <a:ext uri="{FF2B5EF4-FFF2-40B4-BE49-F238E27FC236}">
                <a16:creationId xmlns:a16="http://schemas.microsoft.com/office/drawing/2014/main" id="{83FD0A0A-89F2-48E7-8851-63BAAF7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kv-6">
            <a:extLst xmlns:a="http://schemas.openxmlformats.org/drawingml/2006/main">
              <a:ext uri="{FF2B5EF4-FFF2-40B4-BE49-F238E27FC236}">
                <a16:creationId xmlns:a16="http://schemas.microsoft.com/office/drawing/2014/main" id="{098107FD-59E3-400F-BE97-04E4FEF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5"/>
          </a:solidFill>
          <a:ln xmlns:a="http://schemas.openxmlformats.org/drawingml/2006/main" w="0">
            <a:noFill/>
          </a:ln>
        </p:spPr>
      </p:sp>
      <p:sp>
        <p:nvSpPr>
          <p:cNvPr id="33" name="kv-number-6">
            <a:extLst xmlns:a="http://schemas.openxmlformats.org/drawingml/2006/main">
              <a:ext uri="{FF2B5EF4-FFF2-40B4-BE49-F238E27FC236}">
                <a16:creationId xmlns:a16="http://schemas.microsoft.com/office/drawing/2014/main" id="{A0F32DC5-DB92-4065-B3B6-5087A74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4" name="kv-7">
            <a:extLst xmlns:a="http://schemas.openxmlformats.org/drawingml/2006/main">
              <a:ext uri="{FF2B5EF4-FFF2-40B4-BE49-F238E27FC236}">
                <a16:creationId xmlns:a16="http://schemas.microsoft.com/office/drawing/2014/main" id="{914D661E-F044-4CB4-9941-6865F524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600575"/>
            <a:ext cx="400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noFill/>
          </a:ln>
        </p:spPr>
      </p:sp>
      <p:sp>
        <p:nvSpPr>
          <p:cNvPr id="35" name="kv-number-7">
            <a:extLst xmlns:a="http://schemas.openxmlformats.org/drawingml/2006/main">
              <a:ext uri="{FF2B5EF4-FFF2-40B4-BE49-F238E27FC236}">
                <a16:creationId xmlns:a16="http://schemas.microsoft.com/office/drawing/2014/main" id="{2F6E459A-F099-423F-8F89-377C1B7C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96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cxnSp>
        <p:nvCxnSpPr>
          <p:cNvPr id="36" name="sparse-selection">
            <a:extLst xmlns:a="http://schemas.openxmlformats.org/drawingml/2006/main">
              <a:ext uri="{FF2B5EF4-FFF2-40B4-BE49-F238E27FC236}">
                <a16:creationId xmlns:a16="http://schemas.microsoft.com/office/drawing/2014/main" id="{F0A424DA-A991-4001-BBF7-48F11A829F72}"/>
              </a:ext>
            </a:extLst>
          </p:cNvPr>
          <p:cNvCxnSpPr/>
          <p:nvPr/>
        </p:nvCxnSpPr>
        <p:spPr>
          <a:xfrm xmlns:a="http://schemas.openxmlformats.org/drawingml/2006/main">
            <a:off x="2657475" y="52387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sp>
        <p:nvSpPr>
          <p:cNvPr id="37" name="merge">
            <a:extLst xmlns:a="http://schemas.openxmlformats.org/drawingml/2006/main">
              <a:ext uri="{FF2B5EF4-FFF2-40B4-BE49-F238E27FC236}">
                <a16:creationId xmlns:a16="http://schemas.microsoft.com/office/drawing/2014/main" id="{35FA4F01-4692-4A7F-BF40-53765C6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9909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3"/>
          </a:solidFill>
          <a:ln xmlns:a="http://schemas.openxmlformats.org/drawingml/2006/main" w="14288">
            <a:solidFill>
              <a:srgbClr val="C87817"/>
            </a:solidFill>
          </a:ln>
        </p:spPr>
      </p:sp>
      <p:sp>
        <p:nvSpPr>
          <p:cNvPr id="38" name="merge-label">
            <a:extLst xmlns:a="http://schemas.openxmlformats.org/drawingml/2006/main">
              <a:ext uri="{FF2B5EF4-FFF2-40B4-BE49-F238E27FC236}">
                <a16:creationId xmlns:a16="http://schemas.microsoft.com/office/drawing/2014/main" id="{71D4EF23-01CE-4D03-AB63-05052D03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67375"/>
            <a:ext cx="3857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块级索引 / 重叠选择合并*</a:t>
            </a:r>
          </a:p>
        </p:txBody>
      </p:sp>
      <p:sp>
        <p:nvSpPr>
          <p:cNvPr id="39" name="index-cost">
            <a:extLst xmlns:a="http://schemas.openxmlformats.org/drawingml/2006/main">
              <a:ext uri="{FF2B5EF4-FFF2-40B4-BE49-F238E27FC236}">
                <a16:creationId xmlns:a16="http://schemas.microsoft.com/office/drawing/2014/main" id="{C2D2668E-81DB-4577-B4D8-678FD66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418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Indexer / Top-k 成本 → 1/8*</a:t>
            </a:r>
          </a:p>
        </p:txBody>
      </p:sp>
      <p:sp>
        <p:nvSpPr>
          <p:cNvPr id="40" name="sparse-limit">
            <a:extLst xmlns:a="http://schemas.openxmlformats.org/drawingml/2006/main">
              <a:ext uri="{FF2B5EF4-FFF2-40B4-BE49-F238E27FC236}">
                <a16:creationId xmlns:a16="http://schemas.microsoft.com/office/drawing/2014/main" id="{6BC8EE45-9085-4801-8A36-4273F160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0"/>
            <a:ext cx="418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局部收益，非端到端 8×</a:t>
            </a:r>
          </a:p>
        </p:txBody>
      </p:sp>
      <p:sp>
        <p:nvSpPr>
          <p:cNvPr id="41" name="sparse-extra">
            <a:extLst xmlns:a="http://schemas.openxmlformats.org/drawingml/2006/main">
              <a:ext uri="{FF2B5EF4-FFF2-40B4-BE49-F238E27FC236}">
                <a16:creationId xmlns:a16="http://schemas.microsoft.com/office/drawing/2014/main" id="{7364A466-1B4E-42C8-A6B2-97D381DD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05675"/>
            <a:ext cx="4181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MoE：减少激活的 FFN 计算</a:t>
            </a:r>
          </a:p>
        </p:txBody>
      </p:sp>
      <p:sp>
        <p:nvSpPr>
          <p:cNvPr id="42" name="plan">
            <a:extLst xmlns:a="http://schemas.openxmlformats.org/drawingml/2006/main">
              <a:ext uri="{FF2B5EF4-FFF2-40B4-BE49-F238E27FC236}">
                <a16:creationId xmlns:a16="http://schemas.microsoft.com/office/drawing/2014/main" id="{E84C20D0-FCCD-4065-BDB6-A584D758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767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8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43" name="plan-label">
            <a:extLst xmlns:a="http://schemas.openxmlformats.org/drawingml/2006/main">
              <a:ext uri="{FF2B5EF4-FFF2-40B4-BE49-F238E27FC236}">
                <a16:creationId xmlns:a16="http://schemas.microsoft.com/office/drawing/2014/main" id="{E75556A5-AECA-4907-ABB2-3562DC0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3243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规划 / 修改</a:t>
            </a:r>
          </a:p>
        </p:txBody>
      </p:sp>
      <p:sp>
        <p:nvSpPr>
          <p:cNvPr id="44" name="tools">
            <a:extLst xmlns:a="http://schemas.openxmlformats.org/drawingml/2006/main">
              <a:ext uri="{FF2B5EF4-FFF2-40B4-BE49-F238E27FC236}">
                <a16:creationId xmlns:a16="http://schemas.microsoft.com/office/drawing/2014/main" id="{CEDB5608-084A-45BC-9413-5F0B6AE8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767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45" name="tools-label">
            <a:extLst xmlns:a="http://schemas.openxmlformats.org/drawingml/2006/main">
              <a:ext uri="{FF2B5EF4-FFF2-40B4-BE49-F238E27FC236}">
                <a16:creationId xmlns:a16="http://schemas.microsoft.com/office/drawing/2014/main" id="{987FF08E-AD70-4260-8306-0F87727D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243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执行工具</a:t>
            </a:r>
          </a:p>
        </p:txBody>
      </p:sp>
      <p:sp>
        <p:nvSpPr>
          <p:cNvPr id="46" name="feedback">
            <a:extLst xmlns:a="http://schemas.openxmlformats.org/drawingml/2006/main">
              <a:ext uri="{FF2B5EF4-FFF2-40B4-BE49-F238E27FC236}">
                <a16:creationId xmlns:a16="http://schemas.microsoft.com/office/drawing/2014/main" id="{58666D6C-9981-4A74-AD42-8DF3CCC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054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3"/>
          </a:solidFill>
          <a:ln xmlns:a="http://schemas.openxmlformats.org/drawingml/2006/main" w="14288">
            <a:solidFill>
              <a:srgbClr val="C87817"/>
            </a:solidFill>
          </a:ln>
        </p:spPr>
      </p:sp>
      <p:sp>
        <p:nvSpPr>
          <p:cNvPr id="47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3D8FAC37-66A7-4326-9AC5-031B783F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353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结果 / 反馈</a:t>
            </a:r>
          </a:p>
        </p:txBody>
      </p:sp>
      <p:sp>
        <p:nvSpPr>
          <p:cNvPr id="48" name="context">
            <a:extLst xmlns:a="http://schemas.openxmlformats.org/drawingml/2006/main">
              <a:ext uri="{FF2B5EF4-FFF2-40B4-BE49-F238E27FC236}">
                <a16:creationId xmlns:a16="http://schemas.microsoft.com/office/drawing/2014/main" id="{D14D315E-0EBB-43E1-943E-D66F3659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05425"/>
            <a:ext cx="175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7"/>
          </a:solidFill>
          <a:ln xmlns:a="http://schemas.openxmlformats.org/drawingml/2006/main" w="14288">
            <a:solidFill>
              <a:srgbClr val="137F88"/>
            </a:solidFill>
          </a:ln>
        </p:spPr>
      </p:sp>
      <p:sp>
        <p:nvSpPr>
          <p:cNvPr id="49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673C7AEE-BDE6-4B36-BD14-BE2C695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3530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状态 / 上下文</a:t>
            </a:r>
          </a:p>
        </p:txBody>
      </p:sp>
      <p:cxnSp>
        <p:nvCxnSpPr>
          <p:cNvPr id="50" name="loop-1">
            <a:extLst xmlns:a="http://schemas.openxmlformats.org/drawingml/2006/main">
              <a:ext uri="{FF2B5EF4-FFF2-40B4-BE49-F238E27FC236}">
                <a16:creationId xmlns:a16="http://schemas.microsoft.com/office/drawing/2014/main" id="{EEA5E3A6-BF7B-49F8-B76B-CA84582C6594}"/>
              </a:ext>
            </a:extLst>
          </p:cNvPr>
          <p:cNvCxnSpPr/>
          <p:nvPr/>
        </p:nvCxnSpPr>
        <p:spPr>
          <a:xfrm xmlns:a="http://schemas.openxmlformats.org/drawingml/2006/main">
            <a:off x="7372350" y="45815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53AC"/>
            </a:solidFill>
            <a:tailEnd type="arrow" w="med" len="med"/>
          </a:ln>
        </p:spPr>
      </p:cxnSp>
      <p:cxnSp>
        <p:nvCxnSpPr>
          <p:cNvPr id="51" name="loop-2">
            <a:extLst xmlns:a="http://schemas.openxmlformats.org/drawingml/2006/main">
              <a:ext uri="{FF2B5EF4-FFF2-40B4-BE49-F238E27FC236}">
                <a16:creationId xmlns:a16="http://schemas.microsoft.com/office/drawing/2014/main" id="{12E62FA8-5031-43D0-AED1-EDB410C60C6B}"/>
              </a:ext>
            </a:extLst>
          </p:cNvPr>
          <p:cNvCxnSpPr/>
          <p:nvPr/>
        </p:nvCxnSpPr>
        <p:spPr>
          <a:xfrm xmlns:a="http://schemas.openxmlformats.org/drawingml/2006/main">
            <a:off x="8839200" y="488632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52" name="loop-3">
            <a:extLst xmlns:a="http://schemas.openxmlformats.org/drawingml/2006/main">
              <a:ext uri="{FF2B5EF4-FFF2-40B4-BE49-F238E27FC236}">
                <a16:creationId xmlns:a16="http://schemas.microsoft.com/office/drawing/2014/main" id="{D89ABCD7-F919-4CBB-A08C-3D7645D8ED65}"/>
              </a:ext>
            </a:extLst>
          </p:cNvPr>
          <p:cNvCxnSpPr/>
          <p:nvPr/>
        </p:nvCxnSpPr>
        <p:spPr>
          <a:xfrm xmlns:a="http://schemas.openxmlformats.org/drawingml/2006/main">
            <a:off x="7372350" y="56102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87817"/>
            </a:solidFill>
            <a:headEnd type="arrow" w="med" len="med"/>
          </a:ln>
        </p:spPr>
      </p:cxnSp>
      <p:cxnSp>
        <p:nvCxnSpPr>
          <p:cNvPr id="53" name="loop-4">
            <a:extLst xmlns:a="http://schemas.openxmlformats.org/drawingml/2006/main">
              <a:ext uri="{FF2B5EF4-FFF2-40B4-BE49-F238E27FC236}">
                <a16:creationId xmlns:a16="http://schemas.microsoft.com/office/drawing/2014/main" id="{1AB16CBB-7D7F-41DE-BFFC-9C9D7DD1FF85}"/>
              </a:ext>
            </a:extLst>
          </p:cNvPr>
          <p:cNvCxnSpPr/>
          <p:nvPr/>
        </p:nvCxnSpPr>
        <p:spPr>
          <a:xfrm xmlns:a="http://schemas.openxmlformats.org/drawingml/2006/main">
            <a:off x="6496050" y="488632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88"/>
            </a:solidFill>
            <a:headEnd type="arrow" w="med" len="med"/>
          </a:ln>
        </p:spPr>
      </p:cxnSp>
      <p:sp>
        <p:nvSpPr>
          <p:cNvPr id="54" name="long-case">
            <a:extLst xmlns:a="http://schemas.openxmlformats.org/drawingml/2006/main">
              <a:ext uri="{FF2B5EF4-FFF2-40B4-BE49-F238E27FC236}">
                <a16:creationId xmlns:a16="http://schemas.microsoft.com/office/drawing/2014/main" id="{5878DD62-3B54-42D9-A8F5-04242FA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245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H100 Kernel：508 TFLOPS‡</a:t>
            </a:r>
          </a:p>
        </p:txBody>
      </p:sp>
      <p:sp>
        <p:nvSpPr>
          <p:cNvPr id="55" name="rl-system">
            <a:extLst xmlns:a="http://schemas.openxmlformats.org/drawingml/2006/main">
              <a:ext uri="{FF2B5EF4-FFF2-40B4-BE49-F238E27FC236}">
                <a16:creationId xmlns:a16="http://schemas.microsoft.com/office/drawing/2014/main" id="{1F9E65E7-2D38-4BE1-BBD8-B91B7F8B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341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长程 RL 系统加速 &gt;3×*</a:t>
            </a:r>
          </a:p>
        </p:txBody>
      </p:sp>
      <p:sp>
        <p:nvSpPr>
          <p:cNvPr id="56" name="rl-list">
            <a:extLst xmlns:a="http://schemas.openxmlformats.org/drawingml/2006/main">
              <a:ext uri="{FF2B5EF4-FFF2-40B4-BE49-F238E27FC236}">
                <a16:creationId xmlns:a16="http://schemas.microsoft.com/office/drawing/2014/main" id="{30224272-EA40-4A33-BFBE-7DA7F2D3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95325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训推对齐 · 负载感知 / EP</a:t>
            </a:r>
          </a:p>
        </p:txBody>
      </p:sp>
      <p:sp>
        <p:nvSpPr>
          <p:cNvPr id="57" name="rl-list2">
            <a:extLst xmlns:a="http://schemas.openxmlformats.org/drawingml/2006/main">
              <a:ext uri="{FF2B5EF4-FFF2-40B4-BE49-F238E27FC236}">
                <a16:creationId xmlns:a16="http://schemas.microsoft.com/office/drawing/2014/main" id="{B0DC34C4-BF49-4923-B14A-69B369F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29615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MTP-3 · FP8 · KV 卸载*</a:t>
            </a:r>
          </a:p>
        </p:txBody>
      </p:sp>
      <p:sp>
        <p:nvSpPr>
          <p:cNvPr id="58" name="main-agent">
            <a:extLst xmlns:a="http://schemas.openxmlformats.org/drawingml/2006/main">
              <a:ext uri="{FF2B5EF4-FFF2-40B4-BE49-F238E27FC236}">
                <a16:creationId xmlns:a16="http://schemas.microsoft.com/office/drawing/2014/main" id="{0FD9C65B-26AB-4D82-BFC0-C17E8388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2672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59" name="main-agent-label">
            <a:extLst xmlns:a="http://schemas.openxmlformats.org/drawingml/2006/main">
              <a:ext uri="{FF2B5EF4-FFF2-40B4-BE49-F238E27FC236}">
                <a16:creationId xmlns:a16="http://schemas.microsoft.com/office/drawing/2014/main" id="{52DD0875-F167-4979-A203-90F4E94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4314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主 Agent / Goal</a:t>
            </a:r>
          </a:p>
        </p:txBody>
      </p:sp>
      <p:sp>
        <p:nvSpPr>
          <p:cNvPr id="60" name="child-a">
            <a:extLst xmlns:a="http://schemas.openxmlformats.org/drawingml/2006/main">
              <a:ext uri="{FF2B5EF4-FFF2-40B4-BE49-F238E27FC236}">
                <a16:creationId xmlns:a16="http://schemas.microsoft.com/office/drawing/2014/main" id="{84D6C589-ADB6-41BE-BD5B-BD1B1E39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57800"/>
            <a:ext cx="1733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4288">
            <a:solidFill>
              <a:srgbClr val="2475B5"/>
            </a:solidFill>
          </a:ln>
        </p:spPr>
      </p:sp>
      <p:sp>
        <p:nvSpPr>
          <p:cNvPr id="61" name="child-a-label">
            <a:extLst xmlns:a="http://schemas.openxmlformats.org/drawingml/2006/main">
              <a:ext uri="{FF2B5EF4-FFF2-40B4-BE49-F238E27FC236}">
                <a16:creationId xmlns:a16="http://schemas.microsoft.com/office/drawing/2014/main" id="{91D4E69D-2397-45E0-B146-C677861D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305425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子会话 A</a:t>
            </a:r>
          </a:p>
        </p:txBody>
      </p:sp>
      <p:sp>
        <p:nvSpPr>
          <p:cNvPr id="62" name="child-b">
            <a:extLst xmlns:a="http://schemas.openxmlformats.org/drawingml/2006/main">
              <a:ext uri="{FF2B5EF4-FFF2-40B4-BE49-F238E27FC236}">
                <a16:creationId xmlns:a16="http://schemas.microsoft.com/office/drawing/2014/main" id="{8CC94C96-BEE4-48C8-A5F6-95B26704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5257800"/>
            <a:ext cx="1733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8"/>
          </a:solidFill>
          <a:ln xmlns:a="http://schemas.openxmlformats.org/drawingml/2006/main" w="14288">
            <a:solidFill>
              <a:srgbClr val="7853AC"/>
            </a:solidFill>
          </a:ln>
        </p:spPr>
      </p:sp>
      <p:sp>
        <p:nvSpPr>
          <p:cNvPr id="63" name="child-b-label">
            <a:extLst xmlns:a="http://schemas.openxmlformats.org/drawingml/2006/main">
              <a:ext uri="{FF2B5EF4-FFF2-40B4-BE49-F238E27FC236}">
                <a16:creationId xmlns:a16="http://schemas.microsoft.com/office/drawing/2014/main" id="{3E42A7B1-9275-4E7C-9DAB-00C7225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305425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子会话 B</a:t>
            </a:r>
          </a:p>
        </p:txBody>
      </p:sp>
      <p:cxnSp>
        <p:nvCxnSpPr>
          <p:cNvPr id="64" name="child-a-down">
            <a:extLst xmlns:a="http://schemas.openxmlformats.org/drawingml/2006/main">
              <a:ext uri="{FF2B5EF4-FFF2-40B4-BE49-F238E27FC236}">
                <a16:creationId xmlns:a16="http://schemas.microsoft.com/office/drawing/2014/main" id="{9A24785B-F026-4DBE-87B7-146F4DB7BB15}"/>
              </a:ext>
            </a:extLst>
          </p:cNvPr>
          <p:cNvCxnSpPr/>
          <p:nvPr/>
        </p:nvCxnSpPr>
        <p:spPr>
          <a:xfrm xmlns:a="http://schemas.openxmlformats.org/drawingml/2006/main">
            <a:off x="11420475" y="48196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cxnSp>
        <p:nvCxnSpPr>
          <p:cNvPr id="65" name="child-b-down">
            <a:extLst xmlns:a="http://schemas.openxmlformats.org/drawingml/2006/main">
              <a:ext uri="{FF2B5EF4-FFF2-40B4-BE49-F238E27FC236}">
                <a16:creationId xmlns:a16="http://schemas.microsoft.com/office/drawing/2014/main" id="{BCD4CE9B-31E8-4D32-951D-38ED7844AF82}"/>
              </a:ext>
            </a:extLst>
          </p:cNvPr>
          <p:cNvCxnSpPr/>
          <p:nvPr/>
        </p:nvCxnSpPr>
        <p:spPr>
          <a:xfrm xmlns:a="http://schemas.openxmlformats.org/drawingml/2006/main">
            <a:off x="13773150" y="48196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sp>
        <p:nvSpPr>
          <p:cNvPr id="66" name="branch-line">
            <a:extLst xmlns:a="http://schemas.openxmlformats.org/drawingml/2006/main">
              <a:ext uri="{FF2B5EF4-FFF2-40B4-BE49-F238E27FC236}">
                <a16:creationId xmlns:a16="http://schemas.microsoft.com/office/drawing/2014/main" id="{91554DCA-CDDB-4D27-8DDA-8691FA1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810125"/>
            <a:ext cx="2352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665"/>
          </a:solidFill>
          <a:ln xmlns:a="http://schemas.openxmlformats.org/drawingml/2006/main" w="0">
            <a:noFill/>
          </a:ln>
        </p:spPr>
      </p:sp>
      <p:sp>
        <p:nvSpPr>
          <p:cNvPr id="67" name="working-context">
            <a:extLst xmlns:a="http://schemas.openxmlformats.org/drawingml/2006/main">
              <a:ext uri="{FF2B5EF4-FFF2-40B4-BE49-F238E27FC236}">
                <a16:creationId xmlns:a16="http://schemas.microsoft.com/office/drawing/2014/main" id="{43B06A7B-C3D8-4A61-BDDC-A108D08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19125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7"/>
          </a:solidFill>
          <a:ln xmlns:a="http://schemas.openxmlformats.org/drawingml/2006/main" w="14288">
            <a:solidFill>
              <a:srgbClr val="137F88"/>
            </a:solidFill>
          </a:ln>
        </p:spPr>
      </p:sp>
      <p:sp>
        <p:nvSpPr>
          <p:cNvPr id="68" name="working-context-label">
            <a:extLst xmlns:a="http://schemas.openxmlformats.org/drawingml/2006/main">
              <a:ext uri="{FF2B5EF4-FFF2-40B4-BE49-F238E27FC236}">
                <a16:creationId xmlns:a16="http://schemas.microsoft.com/office/drawing/2014/main" id="{12228B6D-D42A-4254-9C2A-B1660A1D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238875"/>
            <a:ext cx="3695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CLM / 关键结果汇总</a:t>
            </a:r>
          </a:p>
        </p:txBody>
      </p:sp>
      <p:cxnSp>
        <p:nvCxnSpPr>
          <p:cNvPr id="69" name="result-a">
            <a:extLst xmlns:a="http://schemas.openxmlformats.org/drawingml/2006/main">
              <a:ext uri="{FF2B5EF4-FFF2-40B4-BE49-F238E27FC236}">
                <a16:creationId xmlns:a16="http://schemas.microsoft.com/office/drawing/2014/main" id="{ACF87A57-705D-4ADE-98BA-0830150F5F33}"/>
              </a:ext>
            </a:extLst>
          </p:cNvPr>
          <p:cNvCxnSpPr/>
          <p:nvPr/>
        </p:nvCxnSpPr>
        <p:spPr>
          <a:xfrm xmlns:a="http://schemas.openxmlformats.org/drawingml/2006/main">
            <a:off x="11420475" y="58197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70" name="result-b">
            <a:extLst xmlns:a="http://schemas.openxmlformats.org/drawingml/2006/main">
              <a:ext uri="{FF2B5EF4-FFF2-40B4-BE49-F238E27FC236}">
                <a16:creationId xmlns:a16="http://schemas.microsoft.com/office/drawing/2014/main" id="{1F962462-2527-42C8-9CE1-9A814980128D}"/>
              </a:ext>
            </a:extLst>
          </p:cNvPr>
          <p:cNvCxnSpPr/>
          <p:nvPr/>
        </p:nvCxnSpPr>
        <p:spPr>
          <a:xfrm xmlns:a="http://schemas.openxmlformats.org/drawingml/2006/main">
            <a:off x="13773150" y="58197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53AC"/>
            </a:solidFill>
            <a:tailEnd type="arrow" w="med" len="med"/>
          </a:ln>
        </p:spPr>
      </p:cxnSp>
      <p:sp>
        <p:nvSpPr>
          <p:cNvPr id="71" name="delivery">
            <a:extLst xmlns:a="http://schemas.openxmlformats.org/drawingml/2006/main">
              <a:ext uri="{FF2B5EF4-FFF2-40B4-BE49-F238E27FC236}">
                <a16:creationId xmlns:a16="http://schemas.microsoft.com/office/drawing/2014/main" id="{2AA1CF26-F054-4F95-B602-EA9AB15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143750"/>
            <a:ext cx="382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4288">
            <a:solidFill>
              <a:srgbClr val="187665"/>
            </a:solidFill>
          </a:ln>
        </p:spPr>
      </p:sp>
      <p:sp>
        <p:nvSpPr>
          <p:cNvPr id="72" name="delivery-label">
            <a:extLst xmlns:a="http://schemas.openxmlformats.org/drawingml/2006/main">
              <a:ext uri="{FF2B5EF4-FFF2-40B4-BE49-F238E27FC236}">
                <a16:creationId xmlns:a16="http://schemas.microsoft.com/office/drawing/2014/main" id="{9EB6D1AA-65DD-4645-B19A-1B613CCF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7191375"/>
            <a:ext cx="3695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测试验收 → 交付 / StepPage</a:t>
            </a:r>
          </a:p>
        </p:txBody>
      </p:sp>
      <p:cxnSp>
        <p:nvCxnSpPr>
          <p:cNvPr id="73" name="publish">
            <a:extLst xmlns:a="http://schemas.openxmlformats.org/drawingml/2006/main">
              <a:ext uri="{FF2B5EF4-FFF2-40B4-BE49-F238E27FC236}">
                <a16:creationId xmlns:a16="http://schemas.microsoft.com/office/drawing/2014/main" id="{C047E76B-0080-491F-8DF8-E0A3421E6891}"/>
              </a:ext>
            </a:extLst>
          </p:cNvPr>
          <p:cNvCxnSpPr/>
          <p:nvPr/>
        </p:nvCxnSpPr>
        <p:spPr>
          <a:xfrm xmlns:a="http://schemas.openxmlformats.org/drawingml/2006/main">
            <a:off x="12592050" y="673417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665"/>
            </a:solidFill>
            <a:tailEnd type="arrow" w="med" len="med"/>
          </a:ln>
        </p:spPr>
      </p:cxnSp>
      <p:sp>
        <p:nvSpPr>
          <p:cNvPr id="74" name="scope">
            <a:extLst xmlns:a="http://schemas.openxmlformats.org/drawingml/2006/main">
              <a:ext uri="{FF2B5EF4-FFF2-40B4-BE49-F238E27FC236}">
                <a16:creationId xmlns:a16="http://schemas.microsoft.com/office/drawing/2014/main" id="{5518B93E-A393-4325-9231-9A78664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81950"/>
            <a:ext cx="1388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F83"/>
                </a:solidFill>
                <a:latin typeface="Microsoft YaHei"/>
                <a:ea typeface="Microsoft YaHei"/>
                <a:cs typeface="Microsoft YaHei"/>
              </a:rPr>
              <a:t>2026-10-12｜* 媒体转述团队技术；† 官方同模型 6 框架测试、累计每任务 tokens；‡ 24 小时预算、4 次取最佳，非模型吞吐</a:t>
            </a:r>
          </a:p>
        </p:txBody>
      </p:sp>
    </p:spTree>
    <p:extLst>
      <p:ext uri="{BB962C8B-B14F-4D97-AF65-F5344CB8AC3E}">
        <p14:creationId xmlns:p14="http://schemas.microsoft.com/office/powerpoint/2010/main" val="279046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2026-10-11T17:15:21.4970000Z</dcterms:created>
  <dcterms:modified xsi:type="dcterms:W3CDTF">2026-10-11T17:15:21.4970000Z</dcterms:modified>
</coreProperties>
</file>